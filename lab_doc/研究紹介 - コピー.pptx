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41"/>
  </p:notesMasterIdLst>
  <p:handoutMasterIdLst>
    <p:handoutMasterId r:id="rId42"/>
  </p:handoutMasterIdLst>
  <p:sldIdLst>
    <p:sldId id="296" r:id="rId5"/>
    <p:sldId id="595" r:id="rId6"/>
    <p:sldId id="559" r:id="rId7"/>
    <p:sldId id="571" r:id="rId8"/>
    <p:sldId id="591" r:id="rId9"/>
    <p:sldId id="587" r:id="rId10"/>
    <p:sldId id="589" r:id="rId11"/>
    <p:sldId id="593" r:id="rId12"/>
    <p:sldId id="594" r:id="rId13"/>
    <p:sldId id="592" r:id="rId14"/>
    <p:sldId id="590" r:id="rId15"/>
    <p:sldId id="588" r:id="rId16"/>
    <p:sldId id="569" r:id="rId17"/>
    <p:sldId id="570" r:id="rId18"/>
    <p:sldId id="580" r:id="rId19"/>
    <p:sldId id="573" r:id="rId20"/>
    <p:sldId id="576" r:id="rId21"/>
    <p:sldId id="557" r:id="rId22"/>
    <p:sldId id="318" r:id="rId23"/>
    <p:sldId id="401" r:id="rId24"/>
    <p:sldId id="566" r:id="rId25"/>
    <p:sldId id="512" r:id="rId26"/>
    <p:sldId id="572" r:id="rId27"/>
    <p:sldId id="575" r:id="rId28"/>
    <p:sldId id="578" r:id="rId29"/>
    <p:sldId id="537" r:id="rId30"/>
    <p:sldId id="387" r:id="rId31"/>
    <p:sldId id="538" r:id="rId32"/>
    <p:sldId id="400" r:id="rId33"/>
    <p:sldId id="483" r:id="rId34"/>
    <p:sldId id="574" r:id="rId35"/>
    <p:sldId id="583" r:id="rId36"/>
    <p:sldId id="582" r:id="rId37"/>
    <p:sldId id="579" r:id="rId38"/>
    <p:sldId id="584" r:id="rId39"/>
    <p:sldId id="555" r:id="rId4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312"/>
    <a:srgbClr val="FFFFFF"/>
    <a:srgbClr val="2E6D66"/>
    <a:srgbClr val="F5F5F5"/>
    <a:srgbClr val="1F4944"/>
    <a:srgbClr val="EEBB00"/>
    <a:srgbClr val="95B638"/>
    <a:srgbClr val="9CA846"/>
    <a:srgbClr val="9A7D2D"/>
    <a:srgbClr val="3B6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90" autoAdjust="0"/>
  </p:normalViewPr>
  <p:slideViewPr>
    <p:cSldViewPr snapToGrid="0">
      <p:cViewPr varScale="1">
        <p:scale>
          <a:sx n="83" d="100"/>
          <a:sy n="83" d="100"/>
        </p:scale>
        <p:origin x="686" y="77"/>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2026/4/1</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2026/4/1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それでは、研究紹介を始めさせていただきます。</a:t>
            </a:r>
            <a:endParaRPr kumimoji="1" lang="en-US" altLang="ja-JP" dirty="0"/>
          </a:p>
          <a:p>
            <a:r>
              <a:rPr kumimoji="1" lang="ja-JP" altLang="en-US" dirty="0"/>
              <a:t>よろしくお願いいたします。</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0</a:t>
            </a:fld>
            <a:endParaRPr kumimoji="1" lang="ja-JP" altLang="en-US"/>
          </a:p>
        </p:txBody>
      </p:sp>
    </p:spTree>
    <p:extLst>
      <p:ext uri="{BB962C8B-B14F-4D97-AF65-F5344CB8AC3E}">
        <p14:creationId xmlns:p14="http://schemas.microsoft.com/office/powerpoint/2010/main" val="1549545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F36C-B2DE-165D-D30B-35A0D59CB4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DA2DB7-9B61-2B1E-9A77-27F4DA6654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AA68F7-96FC-3B68-4F5D-7F2088D4A9E6}"/>
              </a:ext>
            </a:extLst>
          </p:cNvPr>
          <p:cNvSpPr>
            <a:spLocks noGrp="1"/>
          </p:cNvSpPr>
          <p:nvPr>
            <p:ph type="body" idx="1"/>
          </p:nvPr>
        </p:nvSpPr>
        <p:spPr/>
        <p:txBody>
          <a:bodyPr/>
          <a:lstStyle/>
          <a:p>
            <a:r>
              <a:rPr lang="ja-JP" altLang="en-US" dirty="0"/>
              <a:t>まず、私はホテルの価格設定支援をテーマに長野市内のホテルと共同研究に取り組んでいます。</a:t>
            </a:r>
            <a:endParaRPr lang="en-US" altLang="ja-JP" dirty="0"/>
          </a:p>
          <a:p>
            <a:endParaRPr lang="ja-JP" altLang="en-US" dirty="0"/>
          </a:p>
          <a:p>
            <a:r>
              <a:rPr lang="ja-JP" altLang="en-US" dirty="0"/>
              <a:t>価格設定における市場背景として、</a:t>
            </a:r>
            <a:endParaRPr lang="en-US" altLang="ja-JP" dirty="0"/>
          </a:p>
          <a:p>
            <a:r>
              <a:rPr lang="ja-JP" altLang="en-US" dirty="0"/>
              <a:t>近年はインバウンド需要の回復などで宿泊需要の変動が大きくなっており、需要に応じて価格を変えるダイナミックプライシングの重要性が高まっています。</a:t>
            </a:r>
          </a:p>
          <a:p>
            <a:r>
              <a:rPr lang="ja-JP" altLang="en-US" dirty="0"/>
              <a:t>一方、共同研究先へのヒアリングでは、価格設定を外部コンサルに委託した結果、短期的な利益は増えたものの、稼働率の低下により顧客離れの可能性がある、という課題が分かりました。</a:t>
            </a:r>
          </a:p>
          <a:p>
            <a:r>
              <a:rPr lang="ja-JP" altLang="en-US" dirty="0"/>
              <a:t>つまり、ホテル側には利益を確保したいという思いがあり、宿泊者側には体験価値に見合った価格で泊まりたいという思いがあります。</a:t>
            </a:r>
          </a:p>
          <a:p>
            <a:r>
              <a:rPr lang="ja-JP" altLang="en-US" dirty="0"/>
              <a:t>そこで私の研究では、</a:t>
            </a:r>
            <a:r>
              <a:rPr lang="ja-JP" altLang="en-US" b="1" dirty="0"/>
              <a:t>口コミという顧客の声</a:t>
            </a:r>
            <a:r>
              <a:rPr lang="ja-JP" altLang="en-US" dirty="0"/>
              <a:t>と</a:t>
            </a:r>
            <a:r>
              <a:rPr lang="ja-JP" altLang="en-US" b="1" dirty="0"/>
              <a:t>需要の時系列データ</a:t>
            </a:r>
            <a:r>
              <a:rPr lang="ja-JP" altLang="en-US" dirty="0"/>
              <a:t>を活用し、顧客満足度と利益の両立を支援する価格最適化モデルの開発を目指しています。</a:t>
            </a:r>
          </a:p>
          <a:p>
            <a:endParaRPr lang="ja-JP" altLang="en-US" dirty="0"/>
          </a:p>
        </p:txBody>
      </p:sp>
      <p:sp>
        <p:nvSpPr>
          <p:cNvPr id="4" name="スライド番号プレースホルダー 3">
            <a:extLst>
              <a:ext uri="{FF2B5EF4-FFF2-40B4-BE49-F238E27FC236}">
                <a16:creationId xmlns:a16="http://schemas.microsoft.com/office/drawing/2014/main" id="{E1A44EBE-1FB6-9110-8201-F3A65D146875}"/>
              </a:ext>
            </a:extLst>
          </p:cNvPr>
          <p:cNvSpPr>
            <a:spLocks noGrp="1"/>
          </p:cNvSpPr>
          <p:nvPr>
            <p:ph type="sldNum" sz="quarter" idx="5"/>
          </p:nvPr>
        </p:nvSpPr>
        <p:spPr/>
        <p:txBody>
          <a:bodyPr/>
          <a:lstStyle/>
          <a:p>
            <a:fld id="{059A420A-BDF0-4775-9670-07D3BFB5E94B}" type="slidenum">
              <a:rPr kumimoji="1" lang="ja-JP" altLang="en-US" smtClean="0"/>
              <a:t>2</a:t>
            </a:fld>
            <a:endParaRPr kumimoji="1" lang="ja-JP" altLang="en-US"/>
          </a:p>
        </p:txBody>
      </p:sp>
    </p:spTree>
    <p:extLst>
      <p:ext uri="{BB962C8B-B14F-4D97-AF65-F5344CB8AC3E}">
        <p14:creationId xmlns:p14="http://schemas.microsoft.com/office/powerpoint/2010/main" val="1294591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41462-6D93-2104-8FEF-25FAD20064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4B573D-0205-1BAA-34D9-3B135D03D5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32B944-6F2A-E75F-90F0-897411A97F2D}"/>
              </a:ext>
            </a:extLst>
          </p:cNvPr>
          <p:cNvSpPr>
            <a:spLocks noGrp="1"/>
          </p:cNvSpPr>
          <p:nvPr>
            <p:ph type="body" idx="1"/>
          </p:nvPr>
        </p:nvSpPr>
        <p:spPr/>
        <p:txBody>
          <a:bodyPr/>
          <a:lstStyle/>
          <a:p>
            <a:r>
              <a:rPr lang="ja-JP" altLang="en-US" dirty="0"/>
              <a:t>続いて、今回の研究で開発しているモデルの全体構成を説明させていただきます。</a:t>
            </a:r>
            <a:endParaRPr lang="en-US" altLang="ja-JP" dirty="0"/>
          </a:p>
          <a:p>
            <a:endParaRPr lang="ja-JP" altLang="en-US" dirty="0"/>
          </a:p>
          <a:p>
            <a:r>
              <a:rPr lang="ja-JP" altLang="en-US" dirty="0"/>
              <a:t>本研究は大きく </a:t>
            </a:r>
            <a:r>
              <a:rPr lang="en-US" altLang="ja-JP" b="1" dirty="0"/>
              <a:t>3</a:t>
            </a:r>
            <a:r>
              <a:rPr lang="ja-JP" altLang="en-US" b="1" dirty="0"/>
              <a:t>つのステップ</a:t>
            </a:r>
            <a:r>
              <a:rPr lang="ja-JP" altLang="en-US" dirty="0"/>
              <a:t>で構成されていて、まず</a:t>
            </a:r>
            <a:r>
              <a:rPr lang="en-US" altLang="ja-JP" dirty="0"/>
              <a:t>STEP1</a:t>
            </a:r>
            <a:r>
              <a:rPr lang="ja-JP" altLang="en-US" dirty="0"/>
              <a:t>では、予約サイトの口コミ文を対象に、新規開発を行った感情分析モデルを活用して、「清掃」や「食事」などの観点ごとに口コミの感情を定量化します。</a:t>
            </a:r>
            <a:endParaRPr lang="en-US" altLang="ja-JP" dirty="0"/>
          </a:p>
          <a:p>
            <a:endParaRPr lang="en-US" altLang="ja-JP" dirty="0"/>
          </a:p>
          <a:p>
            <a:r>
              <a:rPr lang="ja-JP" altLang="en-US" dirty="0"/>
              <a:t>この後、</a:t>
            </a:r>
            <a:r>
              <a:rPr lang="en-US" altLang="ja-JP" dirty="0"/>
              <a:t>STEP2</a:t>
            </a:r>
            <a:r>
              <a:rPr lang="ja-JP" altLang="en-US" dirty="0"/>
              <a:t>では、定量化された口コミ感情データに加えて、</a:t>
            </a:r>
            <a:br>
              <a:rPr lang="ja-JP" altLang="en-US" dirty="0"/>
            </a:br>
            <a:r>
              <a:rPr lang="ja-JP" altLang="en-US" dirty="0"/>
              <a:t>過去の顧客の予約情報などが記録されている経営データを活用して、</a:t>
            </a:r>
            <a:r>
              <a:rPr lang="ja-JP" altLang="en-US" b="1" dirty="0"/>
              <a:t>将来のホテル全体の客室稼働率を予測</a:t>
            </a:r>
            <a:r>
              <a:rPr lang="ja-JP" altLang="en-US" dirty="0"/>
              <a:t>していきます。</a:t>
            </a:r>
          </a:p>
          <a:p>
            <a:endParaRPr lang="en-US" altLang="ja-JP" dirty="0"/>
          </a:p>
          <a:p>
            <a:r>
              <a:rPr lang="ja-JP" altLang="en-US" dirty="0"/>
              <a:t>そして</a:t>
            </a:r>
            <a:r>
              <a:rPr lang="en-US" altLang="ja-JP" dirty="0"/>
              <a:t>STEP3</a:t>
            </a:r>
            <a:r>
              <a:rPr lang="ja-JP" altLang="en-US" dirty="0"/>
              <a:t>では、</a:t>
            </a:r>
            <a:br>
              <a:rPr lang="ja-JP" altLang="en-US" dirty="0"/>
            </a:br>
            <a:r>
              <a:rPr lang="ja-JP" altLang="en-US" dirty="0"/>
              <a:t>その稼働率予測結果とこれらのデータを再度活用して、</a:t>
            </a:r>
            <a:r>
              <a:rPr lang="en-US" altLang="ja-JP" dirty="0"/>
              <a:t>LLM</a:t>
            </a:r>
            <a:r>
              <a:rPr lang="ja-JP" altLang="en-US" dirty="0"/>
              <a:t>を使って作成したエージェントが、</a:t>
            </a:r>
            <a:br>
              <a:rPr lang="ja-JP" altLang="en-US" dirty="0"/>
            </a:br>
            <a:r>
              <a:rPr lang="ja-JP" altLang="en-US" dirty="0"/>
              <a:t>適切</a:t>
            </a:r>
            <a:r>
              <a:rPr lang="ja-JP" altLang="en-US" b="1" dirty="0"/>
              <a:t>な宿泊価格を提案する、というのが研究の全体像となっています。</a:t>
            </a:r>
            <a:endParaRPr lang="en-US" altLang="ja-JP" b="1" dirty="0"/>
          </a:p>
          <a:p>
            <a:endParaRPr lang="en-US" altLang="ja-JP" b="1" dirty="0"/>
          </a:p>
          <a:p>
            <a:r>
              <a:rPr lang="ja-JP" altLang="en-US" b="1" dirty="0"/>
              <a:t>ホテル運営者に、口コミと需要を考慮した価格を導き出すことができるのが、本研究の価値であると改めて、お伝えさせていただければと思います。</a:t>
            </a:r>
            <a:br>
              <a:rPr lang="en-US" altLang="ja-JP" b="1" dirty="0"/>
            </a:br>
            <a:endParaRPr lang="en-US" altLang="ja-JP" b="1" dirty="0"/>
          </a:p>
          <a:p>
            <a:r>
              <a:rPr kumimoji="1" lang="ja-JP" altLang="en-US" b="1" dirty="0"/>
              <a:t>続いて実際の研究成果についてお話させていただきます。</a:t>
            </a:r>
            <a:endParaRPr kumimoji="1" lang="en-US" altLang="ja-JP" b="1" dirty="0"/>
          </a:p>
        </p:txBody>
      </p:sp>
      <p:sp>
        <p:nvSpPr>
          <p:cNvPr id="4" name="スライド番号プレースホルダー 3">
            <a:extLst>
              <a:ext uri="{FF2B5EF4-FFF2-40B4-BE49-F238E27FC236}">
                <a16:creationId xmlns:a16="http://schemas.microsoft.com/office/drawing/2014/main" id="{B97F3339-CB56-4A7E-7BFD-56B7EB755CFA}"/>
              </a:ext>
            </a:extLst>
          </p:cNvPr>
          <p:cNvSpPr>
            <a:spLocks noGrp="1"/>
          </p:cNvSpPr>
          <p:nvPr>
            <p:ph type="sldNum" sz="quarter" idx="5"/>
          </p:nvPr>
        </p:nvSpPr>
        <p:spPr/>
        <p:txBody>
          <a:bodyPr/>
          <a:lstStyle/>
          <a:p>
            <a:fld id="{059A420A-BDF0-4775-9670-07D3BFB5E94B}" type="slidenum">
              <a:rPr kumimoji="1" lang="ja-JP" altLang="en-US" smtClean="0"/>
              <a:t>3</a:t>
            </a:fld>
            <a:endParaRPr kumimoji="1" lang="ja-JP" altLang="en-US"/>
          </a:p>
        </p:txBody>
      </p:sp>
    </p:spTree>
    <p:extLst>
      <p:ext uri="{BB962C8B-B14F-4D97-AF65-F5344CB8AC3E}">
        <p14:creationId xmlns:p14="http://schemas.microsoft.com/office/powerpoint/2010/main" val="28037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B2F87-F2FA-543A-4A7E-D414A4D9C1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EE62B59-CF49-3807-D7F3-EDE98DBEE4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3FF58C-4C07-357A-90FF-D0593520F4C3}"/>
              </a:ext>
            </a:extLst>
          </p:cNvPr>
          <p:cNvSpPr>
            <a:spLocks noGrp="1"/>
          </p:cNvSpPr>
          <p:nvPr>
            <p:ph type="body" idx="1"/>
          </p:nvPr>
        </p:nvSpPr>
        <p:spPr/>
        <p:txBody>
          <a:bodyPr/>
          <a:lstStyle/>
          <a:p>
            <a:r>
              <a:rPr kumimoji="1" lang="ja-JP" altLang="en-US" dirty="0"/>
              <a:t>文脈理解が得意なＢＥＲＴを活用することで日本語特有のスラングが解消された。例えば、</a:t>
            </a:r>
            <a:endParaRPr kumimoji="1" lang="en-US" altLang="ja-JP" dirty="0"/>
          </a:p>
          <a:p>
            <a:r>
              <a:rPr kumimoji="1" lang="ja-JP" altLang="en-US" dirty="0"/>
              <a:t>部屋はきれい、とは言えませんでした。とかの場合、きれいといえませんでしたが混ざっていると、本来は</a:t>
            </a:r>
            <a:r>
              <a:rPr kumimoji="1" lang="ja-JP" altLang="en-US"/>
              <a:t>ネガティブなのにポジティブ判定</a:t>
            </a:r>
            <a:r>
              <a:rPr kumimoji="1" lang="ja-JP" altLang="en-US" dirty="0"/>
              <a:t>されてしまうことがある、というように、ＬＬＭが判断しにくい場合がある、そういう時にＬＬＭより文脈理解が得意なＢＥＲＴ</a:t>
            </a:r>
            <a:br>
              <a:rPr kumimoji="1" lang="en-US" altLang="ja-JP" dirty="0"/>
            </a:br>
            <a:r>
              <a:rPr kumimoji="1" lang="ja-JP" altLang="en-US" dirty="0"/>
              <a:t>を活用することで適切な評価が可能となる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E00C0DB2-A031-4962-4B0B-ED2E16F48A92}"/>
              </a:ext>
            </a:extLst>
          </p:cNvPr>
          <p:cNvSpPr>
            <a:spLocks noGrp="1"/>
          </p:cNvSpPr>
          <p:nvPr>
            <p:ph type="sldNum" sz="quarter" idx="5"/>
          </p:nvPr>
        </p:nvSpPr>
        <p:spPr/>
        <p:txBody>
          <a:bodyPr/>
          <a:lstStyle/>
          <a:p>
            <a:fld id="{059A420A-BDF0-4775-9670-07D3BFB5E94B}" type="slidenum">
              <a:rPr kumimoji="1" lang="ja-JP" altLang="en-US" smtClean="0"/>
              <a:t>4</a:t>
            </a:fld>
            <a:endParaRPr kumimoji="1" lang="ja-JP" altLang="en-US"/>
          </a:p>
        </p:txBody>
      </p:sp>
    </p:spTree>
    <p:extLst>
      <p:ext uri="{BB962C8B-B14F-4D97-AF65-F5344CB8AC3E}">
        <p14:creationId xmlns:p14="http://schemas.microsoft.com/office/powerpoint/2010/main" val="1182303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19A50-CCD5-F5AA-F972-E49513EA55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C1C59A-3185-4A44-6C04-8A2BFF3480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17DA50-D7BA-8CCF-4064-27DD44BF3E47}"/>
              </a:ext>
            </a:extLst>
          </p:cNvPr>
          <p:cNvSpPr>
            <a:spLocks noGrp="1"/>
          </p:cNvSpPr>
          <p:nvPr>
            <p:ph type="body" idx="1"/>
          </p:nvPr>
        </p:nvSpPr>
        <p:spPr/>
        <p:txBody>
          <a:bodyPr/>
          <a:lstStyle/>
          <a:p>
            <a:r>
              <a:rPr lang="ja-JP" altLang="en-US" dirty="0"/>
              <a:t>まず、私はホテルの価格設定支援をテーマに長野市内のホテルと共同研究に取り組んでいます。</a:t>
            </a:r>
            <a:endParaRPr lang="en-US" altLang="ja-JP" dirty="0"/>
          </a:p>
          <a:p>
            <a:endParaRPr lang="ja-JP" altLang="en-US" dirty="0"/>
          </a:p>
          <a:p>
            <a:r>
              <a:rPr lang="ja-JP" altLang="en-US" dirty="0"/>
              <a:t>価格設定における市場背景として、</a:t>
            </a:r>
            <a:endParaRPr lang="en-US" altLang="ja-JP" dirty="0"/>
          </a:p>
          <a:p>
            <a:r>
              <a:rPr lang="ja-JP" altLang="en-US" dirty="0"/>
              <a:t>近年はインバウンド需要の回復などで宿泊需要の変動が大きくなっており、需要に応じて価格を変えるダイナミックプライシングの重要性が高まっています。</a:t>
            </a:r>
          </a:p>
          <a:p>
            <a:r>
              <a:rPr lang="ja-JP" altLang="en-US" dirty="0"/>
              <a:t>一方、共同研究先へのヒアリングでは、価格設定を外部コンサルに委託した結果、短期的な利益は増えたものの、稼働率の低下により顧客離れの可能性がある、という課題が分かりました。</a:t>
            </a:r>
          </a:p>
          <a:p>
            <a:r>
              <a:rPr lang="ja-JP" altLang="en-US" dirty="0"/>
              <a:t>つまり、ホテル側には利益を確保したいという思いがあり、宿泊者側には体験価値に見合った価格で泊まりたいという思いがあります。</a:t>
            </a:r>
          </a:p>
          <a:p>
            <a:r>
              <a:rPr lang="ja-JP" altLang="en-US" dirty="0"/>
              <a:t>そこで私の研究では、</a:t>
            </a:r>
            <a:r>
              <a:rPr lang="ja-JP" altLang="en-US" b="1" dirty="0"/>
              <a:t>口コミという顧客の声</a:t>
            </a:r>
            <a:r>
              <a:rPr lang="ja-JP" altLang="en-US" dirty="0"/>
              <a:t>と</a:t>
            </a:r>
            <a:r>
              <a:rPr lang="ja-JP" altLang="en-US" b="1" dirty="0"/>
              <a:t>需要の時系列データ</a:t>
            </a:r>
            <a:r>
              <a:rPr lang="ja-JP" altLang="en-US" dirty="0"/>
              <a:t>を活用し、顧客満足度と利益の両立を支援する価格最適化モデルの開発を目指しています。</a:t>
            </a:r>
          </a:p>
          <a:p>
            <a:endParaRPr lang="ja-JP" altLang="en-US" dirty="0"/>
          </a:p>
        </p:txBody>
      </p:sp>
      <p:sp>
        <p:nvSpPr>
          <p:cNvPr id="4" name="スライド番号プレースホルダー 3">
            <a:extLst>
              <a:ext uri="{FF2B5EF4-FFF2-40B4-BE49-F238E27FC236}">
                <a16:creationId xmlns:a16="http://schemas.microsoft.com/office/drawing/2014/main" id="{DD739488-EFA7-7F4D-22FD-0DF398168524}"/>
              </a:ext>
            </a:extLst>
          </p:cNvPr>
          <p:cNvSpPr>
            <a:spLocks noGrp="1"/>
          </p:cNvSpPr>
          <p:nvPr>
            <p:ph type="sldNum" sz="quarter" idx="5"/>
          </p:nvPr>
        </p:nvSpPr>
        <p:spPr/>
        <p:txBody>
          <a:bodyPr/>
          <a:lstStyle/>
          <a:p>
            <a:fld id="{059A420A-BDF0-4775-9670-07D3BFB5E94B}" type="slidenum">
              <a:rPr kumimoji="1" lang="ja-JP" altLang="en-US" smtClean="0"/>
              <a:t>5</a:t>
            </a:fld>
            <a:endParaRPr kumimoji="1" lang="ja-JP" altLang="en-US"/>
          </a:p>
        </p:txBody>
      </p:sp>
    </p:spTree>
    <p:extLst>
      <p:ext uri="{BB962C8B-B14F-4D97-AF65-F5344CB8AC3E}">
        <p14:creationId xmlns:p14="http://schemas.microsoft.com/office/powerpoint/2010/main" val="2129361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7D7E1-1BCF-97C5-2EF7-48BD0A5528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F1D7FE-528C-4E00-E561-548101F04C4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15BB65-94E5-DF9A-AE43-268861214EA8}"/>
              </a:ext>
            </a:extLst>
          </p:cNvPr>
          <p:cNvSpPr>
            <a:spLocks noGrp="1"/>
          </p:cNvSpPr>
          <p:nvPr>
            <p:ph type="body" idx="1"/>
          </p:nvPr>
        </p:nvSpPr>
        <p:spPr/>
        <p:txBody>
          <a:bodyPr/>
          <a:lstStyle/>
          <a:p>
            <a:r>
              <a:rPr lang="ja-JP" altLang="en-US" dirty="0"/>
              <a:t>続いて、今回の研究で開発しているモデルの全体構成を説明させていただきます。</a:t>
            </a:r>
            <a:endParaRPr lang="en-US" altLang="ja-JP" dirty="0"/>
          </a:p>
          <a:p>
            <a:endParaRPr lang="ja-JP" altLang="en-US" dirty="0"/>
          </a:p>
          <a:p>
            <a:r>
              <a:rPr lang="ja-JP" altLang="en-US" dirty="0"/>
              <a:t>本研究は大きく </a:t>
            </a:r>
            <a:r>
              <a:rPr lang="en-US" altLang="ja-JP" b="1" dirty="0"/>
              <a:t>3</a:t>
            </a:r>
            <a:r>
              <a:rPr lang="ja-JP" altLang="en-US" b="1" dirty="0"/>
              <a:t>つのステップ</a:t>
            </a:r>
            <a:r>
              <a:rPr lang="ja-JP" altLang="en-US" dirty="0"/>
              <a:t>で構成されていて、まず</a:t>
            </a:r>
            <a:r>
              <a:rPr lang="en-US" altLang="ja-JP" dirty="0"/>
              <a:t>STEP1</a:t>
            </a:r>
            <a:r>
              <a:rPr lang="ja-JP" altLang="en-US" dirty="0"/>
              <a:t>では、予約サイトの口コミ文を対象に、新規開発を行った感情分析モデルを活用して、「清掃」や「食事」などの観点ごとに口コミの感情を定量化します。</a:t>
            </a:r>
            <a:endParaRPr lang="en-US" altLang="ja-JP" dirty="0"/>
          </a:p>
          <a:p>
            <a:endParaRPr lang="en-US" altLang="ja-JP" dirty="0"/>
          </a:p>
          <a:p>
            <a:r>
              <a:rPr lang="ja-JP" altLang="en-US" dirty="0"/>
              <a:t>この後、</a:t>
            </a:r>
            <a:r>
              <a:rPr lang="en-US" altLang="ja-JP" dirty="0"/>
              <a:t>STEP2</a:t>
            </a:r>
            <a:r>
              <a:rPr lang="ja-JP" altLang="en-US" dirty="0"/>
              <a:t>では、定量化された口コミ感情データに加えて、</a:t>
            </a:r>
            <a:br>
              <a:rPr lang="ja-JP" altLang="en-US" dirty="0"/>
            </a:br>
            <a:r>
              <a:rPr lang="ja-JP" altLang="en-US" dirty="0"/>
              <a:t>過去の顧客の予約情報などが記録されている経営データを活用して、</a:t>
            </a:r>
            <a:r>
              <a:rPr lang="ja-JP" altLang="en-US" b="1" dirty="0"/>
              <a:t>将来のホテル全体の客室稼働率を予測</a:t>
            </a:r>
            <a:r>
              <a:rPr lang="ja-JP" altLang="en-US" dirty="0"/>
              <a:t>していきます。</a:t>
            </a:r>
          </a:p>
          <a:p>
            <a:endParaRPr lang="en-US" altLang="ja-JP" dirty="0"/>
          </a:p>
          <a:p>
            <a:r>
              <a:rPr lang="ja-JP" altLang="en-US" dirty="0"/>
              <a:t>そして</a:t>
            </a:r>
            <a:r>
              <a:rPr lang="en-US" altLang="ja-JP" dirty="0"/>
              <a:t>STEP3</a:t>
            </a:r>
            <a:r>
              <a:rPr lang="ja-JP" altLang="en-US" dirty="0"/>
              <a:t>では、</a:t>
            </a:r>
            <a:br>
              <a:rPr lang="ja-JP" altLang="en-US" dirty="0"/>
            </a:br>
            <a:r>
              <a:rPr lang="ja-JP" altLang="en-US" dirty="0"/>
              <a:t>その稼働率予測結果とこれらのデータを再度活用して、</a:t>
            </a:r>
            <a:r>
              <a:rPr lang="en-US" altLang="ja-JP" dirty="0"/>
              <a:t>LLM</a:t>
            </a:r>
            <a:r>
              <a:rPr lang="ja-JP" altLang="en-US" dirty="0"/>
              <a:t>を使って作成したエージェントが、</a:t>
            </a:r>
            <a:br>
              <a:rPr lang="ja-JP" altLang="en-US" dirty="0"/>
            </a:br>
            <a:r>
              <a:rPr lang="ja-JP" altLang="en-US" dirty="0"/>
              <a:t>適切</a:t>
            </a:r>
            <a:r>
              <a:rPr lang="ja-JP" altLang="en-US" b="1" dirty="0"/>
              <a:t>な宿泊価格を提案する、というのが研究の全体像となっています。</a:t>
            </a:r>
            <a:endParaRPr lang="en-US" altLang="ja-JP" b="1" dirty="0"/>
          </a:p>
          <a:p>
            <a:endParaRPr lang="en-US" altLang="ja-JP" b="1" dirty="0"/>
          </a:p>
          <a:p>
            <a:r>
              <a:rPr lang="ja-JP" altLang="en-US" b="1" dirty="0"/>
              <a:t>ホテル運営者に、口コミと需要を考慮した価格を導き出すことができるのが、本研究の価値であると改めて、お伝えさせていただければと思います。</a:t>
            </a:r>
            <a:br>
              <a:rPr lang="en-US" altLang="ja-JP" b="1" dirty="0"/>
            </a:br>
            <a:endParaRPr lang="en-US" altLang="ja-JP" b="1" dirty="0"/>
          </a:p>
          <a:p>
            <a:r>
              <a:rPr kumimoji="1" lang="ja-JP" altLang="en-US" b="1" dirty="0"/>
              <a:t>続いて実際の研究成果についてお話させていただきます。</a:t>
            </a:r>
            <a:endParaRPr kumimoji="1" lang="en-US" altLang="ja-JP" b="1" dirty="0"/>
          </a:p>
        </p:txBody>
      </p:sp>
      <p:sp>
        <p:nvSpPr>
          <p:cNvPr id="4" name="スライド番号プレースホルダー 3">
            <a:extLst>
              <a:ext uri="{FF2B5EF4-FFF2-40B4-BE49-F238E27FC236}">
                <a16:creationId xmlns:a16="http://schemas.microsoft.com/office/drawing/2014/main" id="{0ECEB36D-9E24-26AF-742A-E8AB84617CD1}"/>
              </a:ext>
            </a:extLst>
          </p:cNvPr>
          <p:cNvSpPr>
            <a:spLocks noGrp="1"/>
          </p:cNvSpPr>
          <p:nvPr>
            <p:ph type="sldNum" sz="quarter" idx="5"/>
          </p:nvPr>
        </p:nvSpPr>
        <p:spPr/>
        <p:txBody>
          <a:bodyPr/>
          <a:lstStyle/>
          <a:p>
            <a:fld id="{059A420A-BDF0-4775-9670-07D3BFB5E94B}" type="slidenum">
              <a:rPr kumimoji="1" lang="ja-JP" altLang="en-US" smtClean="0"/>
              <a:t>9</a:t>
            </a:fld>
            <a:endParaRPr kumimoji="1" lang="ja-JP" altLang="en-US"/>
          </a:p>
        </p:txBody>
      </p:sp>
    </p:spTree>
    <p:extLst>
      <p:ext uri="{BB962C8B-B14F-4D97-AF65-F5344CB8AC3E}">
        <p14:creationId xmlns:p14="http://schemas.microsoft.com/office/powerpoint/2010/main" val="3573986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2DF78-F16C-4DD2-B419-DD46EDE3E6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3CC799-0263-A19E-F2EB-44C6A4EA9F4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0302430-84D6-06FF-CCE1-3F91310AE43B}"/>
              </a:ext>
            </a:extLst>
          </p:cNvPr>
          <p:cNvSpPr>
            <a:spLocks noGrp="1"/>
          </p:cNvSpPr>
          <p:nvPr>
            <p:ph type="body" idx="1"/>
          </p:nvPr>
        </p:nvSpPr>
        <p:spPr/>
        <p:txBody>
          <a:bodyPr/>
          <a:lstStyle/>
          <a:p>
            <a:r>
              <a:rPr lang="ja-JP" altLang="en-US" dirty="0"/>
              <a:t>続いて、今回の研究で開発しているモデルの全体構成を説明させていただきます。</a:t>
            </a:r>
            <a:endParaRPr lang="en-US" altLang="ja-JP" dirty="0"/>
          </a:p>
          <a:p>
            <a:endParaRPr lang="ja-JP" altLang="en-US" dirty="0"/>
          </a:p>
          <a:p>
            <a:r>
              <a:rPr lang="ja-JP" altLang="en-US" dirty="0"/>
              <a:t>本研究は大きく </a:t>
            </a:r>
            <a:r>
              <a:rPr lang="en-US" altLang="ja-JP" b="1" dirty="0"/>
              <a:t>3</a:t>
            </a:r>
            <a:r>
              <a:rPr lang="ja-JP" altLang="en-US" b="1" dirty="0"/>
              <a:t>つのステップ</a:t>
            </a:r>
            <a:r>
              <a:rPr lang="ja-JP" altLang="en-US" dirty="0"/>
              <a:t>で構成されていて、まず</a:t>
            </a:r>
            <a:r>
              <a:rPr lang="en-US" altLang="ja-JP" dirty="0"/>
              <a:t>STEP1</a:t>
            </a:r>
            <a:r>
              <a:rPr lang="ja-JP" altLang="en-US" dirty="0"/>
              <a:t>では、予約サイトの口コミ文を対象に、新規開発を行った感情分析モデルを活用して、「清掃」や「食事」などの観点ごとに口コミの感情を定量化します。</a:t>
            </a:r>
            <a:endParaRPr lang="en-US" altLang="ja-JP" dirty="0"/>
          </a:p>
          <a:p>
            <a:endParaRPr lang="en-US" altLang="ja-JP" dirty="0"/>
          </a:p>
          <a:p>
            <a:r>
              <a:rPr lang="ja-JP" altLang="en-US" dirty="0"/>
              <a:t>この後、</a:t>
            </a:r>
            <a:r>
              <a:rPr lang="en-US" altLang="ja-JP" dirty="0"/>
              <a:t>STEP2</a:t>
            </a:r>
            <a:r>
              <a:rPr lang="ja-JP" altLang="en-US" dirty="0"/>
              <a:t>では、定量化された口コミ感情データに加えて、</a:t>
            </a:r>
            <a:br>
              <a:rPr lang="ja-JP" altLang="en-US" dirty="0"/>
            </a:br>
            <a:r>
              <a:rPr lang="ja-JP" altLang="en-US" dirty="0"/>
              <a:t>過去の顧客の予約情報などが記録されている経営データを活用して、</a:t>
            </a:r>
            <a:r>
              <a:rPr lang="ja-JP" altLang="en-US" b="1" dirty="0"/>
              <a:t>将来のホテル全体の客室稼働率を予測</a:t>
            </a:r>
            <a:r>
              <a:rPr lang="ja-JP" altLang="en-US" dirty="0"/>
              <a:t>していきます。</a:t>
            </a:r>
          </a:p>
          <a:p>
            <a:endParaRPr lang="en-US" altLang="ja-JP" dirty="0"/>
          </a:p>
          <a:p>
            <a:r>
              <a:rPr lang="ja-JP" altLang="en-US" dirty="0"/>
              <a:t>そして</a:t>
            </a:r>
            <a:r>
              <a:rPr lang="en-US" altLang="ja-JP" dirty="0"/>
              <a:t>STEP3</a:t>
            </a:r>
            <a:r>
              <a:rPr lang="ja-JP" altLang="en-US" dirty="0"/>
              <a:t>では、</a:t>
            </a:r>
            <a:br>
              <a:rPr lang="ja-JP" altLang="en-US" dirty="0"/>
            </a:br>
            <a:r>
              <a:rPr lang="ja-JP" altLang="en-US" dirty="0"/>
              <a:t>その稼働率予測結果とこれらのデータを再度活用して、</a:t>
            </a:r>
            <a:r>
              <a:rPr lang="en-US" altLang="ja-JP" dirty="0"/>
              <a:t>LLM</a:t>
            </a:r>
            <a:r>
              <a:rPr lang="ja-JP" altLang="en-US" dirty="0"/>
              <a:t>を使って作成したエージェントが、</a:t>
            </a:r>
            <a:br>
              <a:rPr lang="ja-JP" altLang="en-US" dirty="0"/>
            </a:br>
            <a:r>
              <a:rPr lang="ja-JP" altLang="en-US" dirty="0"/>
              <a:t>適切</a:t>
            </a:r>
            <a:r>
              <a:rPr lang="ja-JP" altLang="en-US" b="1" dirty="0"/>
              <a:t>な宿泊価格を提案する、というのが研究の全体像となっています。</a:t>
            </a:r>
            <a:endParaRPr lang="en-US" altLang="ja-JP" b="1" dirty="0"/>
          </a:p>
          <a:p>
            <a:endParaRPr lang="en-US" altLang="ja-JP" b="1" dirty="0"/>
          </a:p>
          <a:p>
            <a:r>
              <a:rPr lang="ja-JP" altLang="en-US" b="1" dirty="0"/>
              <a:t>ホテル運営者に、口コミと需要を考慮した価格を導き出すことができるのが、本研究の価値であると改めて、お伝えさせていただければと思います。</a:t>
            </a:r>
            <a:br>
              <a:rPr lang="en-US" altLang="ja-JP" b="1" dirty="0"/>
            </a:br>
            <a:endParaRPr lang="en-US" altLang="ja-JP" b="1" dirty="0"/>
          </a:p>
          <a:p>
            <a:r>
              <a:rPr kumimoji="1" lang="ja-JP" altLang="en-US" b="1" dirty="0"/>
              <a:t>続いて実際の研究成果についてお話させていただきます。</a:t>
            </a:r>
            <a:endParaRPr kumimoji="1" lang="en-US" altLang="ja-JP" b="1" dirty="0"/>
          </a:p>
        </p:txBody>
      </p:sp>
      <p:sp>
        <p:nvSpPr>
          <p:cNvPr id="4" name="スライド番号プレースホルダー 3">
            <a:extLst>
              <a:ext uri="{FF2B5EF4-FFF2-40B4-BE49-F238E27FC236}">
                <a16:creationId xmlns:a16="http://schemas.microsoft.com/office/drawing/2014/main" id="{3058169B-8122-7C6E-ADB6-08073316CD14}"/>
              </a:ext>
            </a:extLst>
          </p:cNvPr>
          <p:cNvSpPr>
            <a:spLocks noGrp="1"/>
          </p:cNvSpPr>
          <p:nvPr>
            <p:ph type="sldNum" sz="quarter" idx="5"/>
          </p:nvPr>
        </p:nvSpPr>
        <p:spPr/>
        <p:txBody>
          <a:bodyPr/>
          <a:lstStyle/>
          <a:p>
            <a:fld id="{059A420A-BDF0-4775-9670-07D3BFB5E94B}" type="slidenum">
              <a:rPr kumimoji="1" lang="ja-JP" altLang="en-US" smtClean="0"/>
              <a:t>11</a:t>
            </a:fld>
            <a:endParaRPr kumimoji="1" lang="ja-JP" altLang="en-US"/>
          </a:p>
        </p:txBody>
      </p:sp>
    </p:spTree>
    <p:extLst>
      <p:ext uri="{BB962C8B-B14F-4D97-AF65-F5344CB8AC3E}">
        <p14:creationId xmlns:p14="http://schemas.microsoft.com/office/powerpoint/2010/main" val="4018660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F641D-E818-FEC0-8940-47CD96B6D4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1EA8970-2C9B-3BE0-C25F-88BCD424F74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4FD587-3BF1-9CC8-EF84-1356034D7F32}"/>
              </a:ext>
            </a:extLst>
          </p:cNvPr>
          <p:cNvSpPr>
            <a:spLocks noGrp="1"/>
          </p:cNvSpPr>
          <p:nvPr>
            <p:ph type="body" idx="1"/>
          </p:nvPr>
        </p:nvSpPr>
        <p:spPr/>
        <p:txBody>
          <a:bodyPr/>
          <a:lstStyle/>
          <a:p>
            <a:r>
              <a:rPr kumimoji="1" lang="ja-JP" altLang="en-US" dirty="0"/>
              <a:t>まず、</a:t>
            </a:r>
            <a:r>
              <a:rPr kumimoji="1" lang="en-US" altLang="ja-JP" dirty="0"/>
              <a:t>STEP1</a:t>
            </a:r>
            <a:r>
              <a:rPr kumimoji="1" lang="ja-JP" altLang="en-US" dirty="0"/>
              <a:t>、２の感情分析、需要予測についての成果をお話させていただきます。</a:t>
            </a:r>
            <a:endParaRPr kumimoji="1" lang="en-US" altLang="ja-JP" dirty="0"/>
          </a:p>
          <a:p>
            <a:endParaRPr kumimoji="1" lang="en-US" altLang="ja-JP" dirty="0"/>
          </a:p>
          <a:p>
            <a:r>
              <a:rPr kumimoji="1" lang="ja-JP" altLang="en-US" dirty="0"/>
              <a:t>感情分析の成果としては、従来は、複数の観点における感情分析が困難であったところが、提案手法で高い精度で分析可能になりました。　</a:t>
            </a:r>
            <a:endParaRPr kumimoji="1" lang="en-US" altLang="ja-JP" dirty="0"/>
          </a:p>
          <a:p>
            <a:endParaRPr kumimoji="1" lang="en-US" altLang="ja-JP" dirty="0"/>
          </a:p>
          <a:p>
            <a:r>
              <a:rPr kumimoji="1" lang="ja-JP" altLang="en-US" dirty="0"/>
              <a:t>構築した感情分析モデルでは、</a:t>
            </a:r>
            <a:r>
              <a:rPr kumimoji="1" lang="en-US" altLang="ja-JP" dirty="0"/>
              <a:t>LLM</a:t>
            </a:r>
            <a:r>
              <a:rPr kumimoji="1" lang="ja-JP" altLang="en-US" dirty="0"/>
              <a:t>が複数観点ごとの文の抽出、</a:t>
            </a:r>
            <a:r>
              <a:rPr kumimoji="1" lang="en-US" altLang="ja-JP" dirty="0"/>
              <a:t>BERT</a:t>
            </a:r>
            <a:r>
              <a:rPr kumimoji="1" lang="ja-JP" altLang="en-US" dirty="0"/>
              <a:t>がそれらを感情評価する、という </a:t>
            </a:r>
            <a:r>
              <a:rPr kumimoji="1" lang="en-US" altLang="ja-JP" dirty="0"/>
              <a:t>LLM</a:t>
            </a:r>
            <a:r>
              <a:rPr kumimoji="1" lang="ja-JP" altLang="en-US" dirty="0"/>
              <a:t>の抽出能力と</a:t>
            </a:r>
            <a:r>
              <a:rPr kumimoji="1" lang="en-US" altLang="ja-JP" dirty="0"/>
              <a:t>BERT</a:t>
            </a:r>
            <a:r>
              <a:rPr kumimoji="1" lang="ja-JP" altLang="en-US" dirty="0"/>
              <a:t>の日本語理解の高さを生かすことで、高精度かつ低コストの感情分析モデルの構築を実現できたと考えています。</a:t>
            </a:r>
            <a:endParaRPr kumimoji="1" lang="en-US" altLang="ja-JP" dirty="0"/>
          </a:p>
          <a:p>
            <a:endParaRPr kumimoji="1" lang="en-US" altLang="ja-JP" dirty="0"/>
          </a:p>
          <a:p>
            <a:r>
              <a:rPr kumimoji="1" lang="ja-JP" altLang="en-US" dirty="0"/>
              <a:t>続いて、この手法で解析した感情分析は果たして需要に影響があったのかという有用性の検証では、結論として、口コミ感情の中でも「清掃感情」の評価が高いほど将来の稼働率は高くなる、という正の相関があることが確認され、</a:t>
            </a:r>
            <a:endParaRPr kumimoji="1" lang="en-US" altLang="ja-JP" dirty="0"/>
          </a:p>
          <a:p>
            <a:r>
              <a:rPr kumimoji="1" lang="ja-JP" altLang="en-US" dirty="0"/>
              <a:t>実際の予測においても、口コミがある場合のほうが精度が向上したことが示されました。</a:t>
            </a:r>
            <a:endParaRPr kumimoji="1" lang="en-US" altLang="ja-JP" dirty="0"/>
          </a:p>
          <a:p>
            <a:r>
              <a:rPr kumimoji="1" lang="ja-JP" altLang="en-US" dirty="0"/>
              <a:t>以上から、口コミ感情の需要への有用性を確認することができた、というのが成果になっております。</a:t>
            </a:r>
          </a:p>
          <a:p>
            <a:endParaRPr kumimoji="1" lang="en-US" altLang="ja-JP" dirty="0"/>
          </a:p>
          <a:p>
            <a:r>
              <a:rPr kumimoji="1" lang="ja-JP" altLang="en-US" dirty="0"/>
              <a:t>最後に、現在行っている価格変動システムの開発についてもご紹介させていただきます。</a:t>
            </a:r>
            <a:endParaRPr kumimoji="1" lang="en-US" altLang="ja-JP" dirty="0"/>
          </a:p>
          <a:p>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43B0FC92-DB84-39D1-8E60-DCB9F32757AB}"/>
              </a:ext>
            </a:extLst>
          </p:cNvPr>
          <p:cNvSpPr>
            <a:spLocks noGrp="1"/>
          </p:cNvSpPr>
          <p:nvPr>
            <p:ph type="sldNum" sz="quarter" idx="5"/>
          </p:nvPr>
        </p:nvSpPr>
        <p:spPr/>
        <p:txBody>
          <a:bodyPr/>
          <a:lstStyle/>
          <a:p>
            <a:fld id="{059A420A-BDF0-4775-9670-07D3BFB5E94B}" type="slidenum">
              <a:rPr kumimoji="1" lang="ja-JP" altLang="en-US" smtClean="0"/>
              <a:t>12</a:t>
            </a:fld>
            <a:endParaRPr kumimoji="1" lang="ja-JP" altLang="en-US"/>
          </a:p>
        </p:txBody>
      </p:sp>
    </p:spTree>
    <p:extLst>
      <p:ext uri="{BB962C8B-B14F-4D97-AF65-F5344CB8AC3E}">
        <p14:creationId xmlns:p14="http://schemas.microsoft.com/office/powerpoint/2010/main" val="2545506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D19B-E675-D281-01AF-1A6C112DFC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76D2A8-059A-8D88-A2F4-5A14E7672F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BAD9E9-3C34-8764-029F-33BE7F0EE05E}"/>
              </a:ext>
            </a:extLst>
          </p:cNvPr>
          <p:cNvSpPr>
            <a:spLocks noGrp="1"/>
          </p:cNvSpPr>
          <p:nvPr>
            <p:ph type="body" idx="1"/>
          </p:nvPr>
        </p:nvSpPr>
        <p:spPr/>
        <p:txBody>
          <a:bodyPr/>
          <a:lstStyle/>
          <a:p>
            <a:r>
              <a:rPr lang="ja-JP" altLang="en-US" dirty="0"/>
              <a:t>現在は、先ほどの成果の稼働率の予測結果、そしてこれらのデータを活用して</a:t>
            </a:r>
            <a:r>
              <a:rPr lang="en-US" altLang="ja-JP" dirty="0"/>
              <a:t>LLM</a:t>
            </a:r>
            <a:r>
              <a:rPr lang="ja-JP" altLang="en-US" dirty="0"/>
              <a:t>が価格の提案を行うエージェントの開発を行っています。</a:t>
            </a:r>
            <a:endParaRPr lang="en-US" altLang="ja-JP" dirty="0"/>
          </a:p>
          <a:p>
            <a:endParaRPr lang="en-US" altLang="ja-JP" dirty="0"/>
          </a:p>
          <a:p>
            <a:r>
              <a:rPr lang="ja-JP" altLang="en-US" dirty="0"/>
              <a:t>具体的には、ホテル運営者が上限価格と下限価格を入力すると、その範囲内で各価格候補を</a:t>
            </a:r>
            <a:r>
              <a:rPr lang="en-US" altLang="ja-JP" dirty="0"/>
              <a:t>LLM</a:t>
            </a:r>
            <a:r>
              <a:rPr lang="ja-JP" altLang="en-US" dirty="0"/>
              <a:t>が評価し、最適な価格を提案する仕組みです。</a:t>
            </a:r>
            <a:br>
              <a:rPr lang="ja-JP" altLang="en-US" dirty="0"/>
            </a:br>
            <a:r>
              <a:rPr lang="ja-JP" altLang="en-US" dirty="0"/>
              <a:t>また、その際、単に価格を出すだけでなく、</a:t>
            </a:r>
            <a:r>
              <a:rPr lang="ja-JP" altLang="en-US" b="1" dirty="0"/>
              <a:t>なぜその価格なのか</a:t>
            </a:r>
            <a:r>
              <a:rPr lang="ja-JP" altLang="en-US" dirty="0"/>
              <a:t>という根拠も併せて提示できるようになっていることがポイントで、この点に対して、共同研究先からも、実際に試してみたいという声をいただいています。</a:t>
            </a:r>
            <a:endParaRPr lang="en-US" altLang="ja-JP" dirty="0"/>
          </a:p>
          <a:p>
            <a:br>
              <a:rPr lang="ja-JP" altLang="en-US" dirty="0"/>
            </a:br>
            <a:r>
              <a:rPr lang="ja-JP" altLang="en-US" dirty="0"/>
              <a:t>今後は、想定シナリオに対して適切な価格提案ができるかを完遂率で評価したうえで、</a:t>
            </a:r>
            <a:r>
              <a:rPr lang="en-US" altLang="ja-JP" dirty="0"/>
              <a:t>PoC</a:t>
            </a:r>
            <a:r>
              <a:rPr lang="ja-JP" altLang="en-US" dirty="0"/>
              <a:t>として実運用につなげていくことを展望に活動していきたいと考えています。</a:t>
            </a:r>
            <a:endParaRPr lang="en-US" altLang="ja-JP" dirty="0"/>
          </a:p>
          <a:p>
            <a:endParaRPr lang="en-US" altLang="ja-JP" dirty="0"/>
          </a:p>
          <a:p>
            <a:r>
              <a:rPr lang="ja-JP" altLang="en-US" dirty="0"/>
              <a:t>というところで、研究紹介を終了させていただきます。　ご清聴頂きありがとうございました！</a:t>
            </a:r>
            <a:endParaRPr lang="en-US" altLang="ja-JP" dirty="0"/>
          </a:p>
          <a:p>
            <a:endParaRPr lang="en-US" altLang="ja-JP" dirty="0"/>
          </a:p>
          <a:p>
            <a:r>
              <a:rPr lang="ja-JP" altLang="en-US" dirty="0"/>
              <a:t>パーソナライズ</a:t>
            </a:r>
            <a:endParaRPr lang="en-US" altLang="ja-JP" dirty="0"/>
          </a:p>
          <a:p>
            <a:r>
              <a:rPr lang="ja-JP" altLang="en-US" dirty="0"/>
              <a:t>現場しか知りえないナレッジがある、こういう条件の時は価格を跳ね上げなければならないとき</a:t>
            </a:r>
            <a:endParaRPr lang="en-US" altLang="ja-JP" dirty="0"/>
          </a:p>
          <a:p>
            <a:endParaRPr lang="en-US" altLang="ja-JP" dirty="0"/>
          </a:p>
          <a:p>
            <a:r>
              <a:rPr lang="ja-JP" altLang="en-US" dirty="0"/>
              <a:t>信用できない</a:t>
            </a:r>
            <a:endParaRPr lang="en-US" altLang="ja-JP" dirty="0"/>
          </a:p>
          <a:p>
            <a:endParaRPr lang="en-US" altLang="ja-JP" dirty="0"/>
          </a:p>
          <a:p>
            <a:endParaRPr lang="en-US" altLang="ja-JP" dirty="0"/>
          </a:p>
          <a:p>
            <a:r>
              <a:rPr lang="ja-JP" altLang="en-US" dirty="0"/>
              <a:t>長期的には、価格決定に関わるドメイン知識（競合関係や季節性など）を知識グラフとして整理し、</a:t>
            </a:r>
            <a:r>
              <a:rPr lang="en-US" altLang="ja-JP" dirty="0"/>
              <a:t>LLM</a:t>
            </a:r>
            <a:r>
              <a:rPr lang="ja-JP" altLang="en-US" dirty="0"/>
              <a:t>と組み合わせることで、説明可能性や一貫性を高める余地はあると考えています。</a:t>
            </a:r>
            <a:endParaRPr lang="en-US" altLang="ja-JP" dirty="0"/>
          </a:p>
        </p:txBody>
      </p:sp>
      <p:sp>
        <p:nvSpPr>
          <p:cNvPr id="4" name="スライド番号プレースホルダー 3">
            <a:extLst>
              <a:ext uri="{FF2B5EF4-FFF2-40B4-BE49-F238E27FC236}">
                <a16:creationId xmlns:a16="http://schemas.microsoft.com/office/drawing/2014/main" id="{5B354B60-B9F2-C21F-512E-679EA7684C16}"/>
              </a:ext>
            </a:extLst>
          </p:cNvPr>
          <p:cNvSpPr>
            <a:spLocks noGrp="1"/>
          </p:cNvSpPr>
          <p:nvPr>
            <p:ph type="sldNum" sz="quarter" idx="5"/>
          </p:nvPr>
        </p:nvSpPr>
        <p:spPr/>
        <p:txBody>
          <a:bodyPr/>
          <a:lstStyle/>
          <a:p>
            <a:fld id="{059A420A-BDF0-4775-9670-07D3BFB5E94B}" type="slidenum">
              <a:rPr kumimoji="1" lang="ja-JP" altLang="en-US" smtClean="0"/>
              <a:t>13</a:t>
            </a:fld>
            <a:endParaRPr kumimoji="1" lang="ja-JP" altLang="en-US"/>
          </a:p>
        </p:txBody>
      </p:sp>
    </p:spTree>
    <p:extLst>
      <p:ext uri="{BB962C8B-B14F-4D97-AF65-F5344CB8AC3E}">
        <p14:creationId xmlns:p14="http://schemas.microsoft.com/office/powerpoint/2010/main" val="3137918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D20F8-CE81-7905-AA75-C99E3499FD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E49F826-7277-2047-B88C-7D74226270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D7C72E-24D7-36CE-92A2-7F801A07616E}"/>
              </a:ext>
            </a:extLst>
          </p:cNvPr>
          <p:cNvSpPr>
            <a:spLocks noGrp="1"/>
          </p:cNvSpPr>
          <p:nvPr>
            <p:ph type="body" idx="1"/>
          </p:nvPr>
        </p:nvSpPr>
        <p:spPr/>
        <p:txBody>
          <a:bodyPr/>
          <a:lstStyle/>
          <a:p>
            <a:r>
              <a:rPr lang="ja-JP" altLang="en-US" dirty="0"/>
              <a:t>次に、提案しているモデルの全体構成です。</a:t>
            </a:r>
          </a:p>
          <a:p>
            <a:r>
              <a:rPr lang="ja-JP" altLang="en-US" dirty="0"/>
              <a:t>この研究は大きく </a:t>
            </a:r>
            <a:r>
              <a:rPr lang="en-US" altLang="ja-JP" b="1" dirty="0"/>
              <a:t>3</a:t>
            </a:r>
            <a:r>
              <a:rPr lang="ja-JP" altLang="en-US" b="1" dirty="0"/>
              <a:t>つのステップ</a:t>
            </a:r>
            <a:r>
              <a:rPr lang="ja-JP" altLang="en-US" dirty="0"/>
              <a:t>で構成されています。</a:t>
            </a:r>
          </a:p>
          <a:p>
            <a:r>
              <a:rPr lang="ja-JP" altLang="en-US" dirty="0"/>
              <a:t>まず</a:t>
            </a:r>
            <a:r>
              <a:rPr lang="en-US" altLang="ja-JP" dirty="0"/>
              <a:t>STEP1</a:t>
            </a:r>
            <a:r>
              <a:rPr lang="ja-JP" altLang="en-US" dirty="0"/>
              <a:t>では、予約サイトの口コミ文を対象に、</a:t>
            </a:r>
            <a:br>
              <a:rPr lang="ja-JP" altLang="en-US" dirty="0"/>
            </a:br>
            <a:r>
              <a:rPr lang="en-US" altLang="ja-JP" dirty="0"/>
              <a:t>LLM</a:t>
            </a:r>
            <a:r>
              <a:rPr lang="ja-JP" altLang="en-US" dirty="0"/>
              <a:t>と</a:t>
            </a:r>
            <a:r>
              <a:rPr lang="en-US" altLang="ja-JP" dirty="0"/>
              <a:t>BERT</a:t>
            </a:r>
            <a:r>
              <a:rPr lang="ja-JP" altLang="en-US" dirty="0"/>
              <a:t>を組み合わせた感情分析モデルを用いて、</a:t>
            </a:r>
            <a:br>
              <a:rPr lang="ja-JP" altLang="en-US" dirty="0"/>
            </a:br>
            <a:r>
              <a:rPr lang="ja-JP" altLang="en-US" dirty="0"/>
              <a:t>「清掃」や「食事」などの観点ごとに口コミの感情を定量化します。</a:t>
            </a:r>
          </a:p>
          <a:p>
            <a:r>
              <a:rPr lang="ja-JP" altLang="en-US" dirty="0"/>
              <a:t>次に</a:t>
            </a:r>
            <a:r>
              <a:rPr lang="en-US" altLang="ja-JP" dirty="0"/>
              <a:t>STEP2</a:t>
            </a:r>
            <a:r>
              <a:rPr lang="ja-JP" altLang="en-US" dirty="0"/>
              <a:t>では、その口コミ感情データに加えて、</a:t>
            </a:r>
            <a:br>
              <a:rPr lang="ja-JP" altLang="en-US" dirty="0"/>
            </a:br>
            <a:r>
              <a:rPr lang="ja-JP" altLang="en-US" dirty="0"/>
              <a:t>曜日やイベント情報などを特徴量として機械学習モデルに入力し、</a:t>
            </a:r>
            <a:br>
              <a:rPr lang="ja-JP" altLang="en-US" dirty="0"/>
            </a:br>
            <a:r>
              <a:rPr lang="ja-JP" altLang="en-US" b="1" dirty="0"/>
              <a:t>将来の客室稼働率を予測</a:t>
            </a:r>
            <a:r>
              <a:rPr lang="ja-JP" altLang="en-US" dirty="0"/>
              <a:t>します。</a:t>
            </a:r>
          </a:p>
          <a:p>
            <a:r>
              <a:rPr lang="ja-JP" altLang="en-US" dirty="0"/>
              <a:t>そして</a:t>
            </a:r>
            <a:r>
              <a:rPr lang="en-US" altLang="ja-JP" dirty="0"/>
              <a:t>STEP3</a:t>
            </a:r>
            <a:r>
              <a:rPr lang="ja-JP" altLang="en-US" dirty="0"/>
              <a:t>では、</a:t>
            </a:r>
            <a:br>
              <a:rPr lang="ja-JP" altLang="en-US" dirty="0"/>
            </a:br>
            <a:r>
              <a:rPr lang="ja-JP" altLang="en-US" dirty="0"/>
              <a:t>その稼働率予測結果とホテルの経営データを基に、</a:t>
            </a:r>
            <a:br>
              <a:rPr lang="ja-JP" altLang="en-US" dirty="0"/>
            </a:br>
            <a:r>
              <a:rPr lang="en-US" altLang="ja-JP" dirty="0"/>
              <a:t>LLM</a:t>
            </a:r>
            <a:r>
              <a:rPr lang="ja-JP" altLang="en-US" dirty="0"/>
              <a:t>を用いた価格提案</a:t>
            </a:r>
            <a:r>
              <a:rPr lang="en-US" altLang="ja-JP" dirty="0"/>
              <a:t>AI</a:t>
            </a:r>
            <a:r>
              <a:rPr lang="ja-JP" altLang="en-US" dirty="0"/>
              <a:t>が</a:t>
            </a:r>
            <a:br>
              <a:rPr lang="ja-JP" altLang="en-US" dirty="0"/>
            </a:br>
            <a:r>
              <a:rPr lang="ja-JP" altLang="en-US" b="1" dirty="0"/>
              <a:t>適切な宿泊価格を提案する仕組み</a:t>
            </a:r>
            <a:r>
              <a:rPr lang="ja-JP" altLang="en-US" dirty="0"/>
              <a:t>を開発しています。</a:t>
            </a:r>
          </a:p>
          <a:p>
            <a:endParaRPr kumimoji="1" lang="ja-JP" altLang="en-US" dirty="0"/>
          </a:p>
        </p:txBody>
      </p:sp>
      <p:sp>
        <p:nvSpPr>
          <p:cNvPr id="4" name="スライド番号プレースホルダー 3">
            <a:extLst>
              <a:ext uri="{FF2B5EF4-FFF2-40B4-BE49-F238E27FC236}">
                <a16:creationId xmlns:a16="http://schemas.microsoft.com/office/drawing/2014/main" id="{877F2E2F-7FC5-2619-675D-1022A69A6BF1}"/>
              </a:ext>
            </a:extLst>
          </p:cNvPr>
          <p:cNvSpPr>
            <a:spLocks noGrp="1"/>
          </p:cNvSpPr>
          <p:nvPr>
            <p:ph type="sldNum" sz="quarter" idx="5"/>
          </p:nvPr>
        </p:nvSpPr>
        <p:spPr/>
        <p:txBody>
          <a:bodyPr/>
          <a:lstStyle/>
          <a:p>
            <a:fld id="{059A420A-BDF0-4775-9670-07D3BFB5E94B}" type="slidenum">
              <a:rPr kumimoji="1" lang="ja-JP" altLang="en-US" smtClean="0"/>
              <a:t>14</a:t>
            </a:fld>
            <a:endParaRPr kumimoji="1" lang="ja-JP" altLang="en-US"/>
          </a:p>
        </p:txBody>
      </p:sp>
    </p:spTree>
    <p:extLst>
      <p:ext uri="{BB962C8B-B14F-4D97-AF65-F5344CB8AC3E}">
        <p14:creationId xmlns:p14="http://schemas.microsoft.com/office/powerpoint/2010/main" val="1713779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66A8-176F-BBDF-3E81-61E284107C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293BFC-463F-BF6A-0789-987966192A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6458F50-E0B1-2276-BD9F-A01730712B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D29E0D-5AE2-23F4-5458-084C02EE9EC9}"/>
              </a:ext>
            </a:extLst>
          </p:cNvPr>
          <p:cNvSpPr>
            <a:spLocks noGrp="1"/>
          </p:cNvSpPr>
          <p:nvPr>
            <p:ph type="sldNum" sz="quarter" idx="5"/>
          </p:nvPr>
        </p:nvSpPr>
        <p:spPr/>
        <p:txBody>
          <a:bodyPr/>
          <a:lstStyle/>
          <a:p>
            <a:fld id="{059A420A-BDF0-4775-9670-07D3BFB5E94B}" type="slidenum">
              <a:rPr kumimoji="1" lang="ja-JP" altLang="en-US" smtClean="0"/>
              <a:t>16</a:t>
            </a:fld>
            <a:endParaRPr kumimoji="1" lang="ja-JP" altLang="en-US"/>
          </a:p>
        </p:txBody>
      </p:sp>
    </p:spTree>
    <p:extLst>
      <p:ext uri="{BB962C8B-B14F-4D97-AF65-F5344CB8AC3E}">
        <p14:creationId xmlns:p14="http://schemas.microsoft.com/office/powerpoint/2010/main" val="3106852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17</a:t>
            </a:fld>
            <a:endParaRPr kumimoji="1" lang="ja-JP" altLang="en-US"/>
          </a:p>
        </p:txBody>
      </p:sp>
    </p:spTree>
    <p:extLst>
      <p:ext uri="{BB962C8B-B14F-4D97-AF65-F5344CB8AC3E}">
        <p14:creationId xmlns:p14="http://schemas.microsoft.com/office/powerpoint/2010/main" val="1144619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ja-JP" dirty="0" err="1"/>
              <a:t>LightGBM</a:t>
            </a:r>
            <a:r>
              <a:rPr lang="ja-JP" altLang="en-US"/>
              <a:t>で構築したモデルは、多数の決定木を組み合わせて稼働率を予測しており、</a:t>
            </a:r>
            <a:br>
              <a:rPr lang="ja-JP" altLang="en-US"/>
            </a:br>
            <a:r>
              <a:rPr lang="ja-JP" altLang="en-US"/>
              <a:t>各木の分岐ごとに「特徴量が予測に与える小さな影響」が積み重なって最終予測が形成される。</a:t>
            </a:r>
            <a:br>
              <a:rPr lang="en-US" altLang="ja-JP" dirty="0"/>
            </a:br>
            <a:br>
              <a:rPr lang="en-US" altLang="ja-JP" dirty="0"/>
            </a:br>
            <a:r>
              <a:rPr lang="ja-JP" altLang="en-US"/>
              <a:t>ノード数によって解釈できる可能性がある。</a:t>
            </a:r>
            <a:br>
              <a:rPr lang="en-US" altLang="ja-JP" dirty="0"/>
            </a:br>
            <a:r>
              <a:rPr lang="ja-JP" altLang="en-US"/>
              <a:t>ノード数からどれくらい解釈できるからも見た方がいい。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言語モデルを使っているので　他の入力も使ってみよう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長野県のツイッターも見て特徴量として使えるかを見てみよう。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他のとこからもやった方がいいと思います。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18</a:t>
            </a:fld>
            <a:endParaRPr kumimoji="1" lang="ja-JP" altLang="en-US"/>
          </a:p>
        </p:txBody>
      </p:sp>
    </p:spTree>
    <p:extLst>
      <p:ext uri="{BB962C8B-B14F-4D97-AF65-F5344CB8AC3E}">
        <p14:creationId xmlns:p14="http://schemas.microsoft.com/office/powerpoint/2010/main" val="827627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19</a:t>
            </a:fld>
            <a:endParaRPr kumimoji="1" lang="ja-JP" altLang="en-US"/>
          </a:p>
        </p:txBody>
      </p:sp>
    </p:spTree>
    <p:extLst>
      <p:ext uri="{BB962C8B-B14F-4D97-AF65-F5344CB8AC3E}">
        <p14:creationId xmlns:p14="http://schemas.microsoft.com/office/powerpoint/2010/main" val="2279399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8F82-AF6B-910B-E92F-0E5FFE0AF7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04C699-0FEC-D1EB-1404-CAD03BB18E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DA160D-A8FC-7F5B-DC81-E45B359FED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a:extLst>
              <a:ext uri="{FF2B5EF4-FFF2-40B4-BE49-F238E27FC236}">
                <a16:creationId xmlns:a16="http://schemas.microsoft.com/office/drawing/2014/main" id="{71F2EB6F-259A-FB53-5487-8D42A52328F6}"/>
              </a:ext>
            </a:extLst>
          </p:cNvPr>
          <p:cNvSpPr>
            <a:spLocks noGrp="1"/>
          </p:cNvSpPr>
          <p:nvPr>
            <p:ph type="sldNum" sz="quarter" idx="5"/>
          </p:nvPr>
        </p:nvSpPr>
        <p:spPr/>
        <p:txBody>
          <a:bodyPr/>
          <a:lstStyle/>
          <a:p>
            <a:fld id="{059A420A-BDF0-4775-9670-07D3BFB5E94B}" type="slidenum">
              <a:rPr kumimoji="1" lang="ja-JP" altLang="en-US" smtClean="0"/>
              <a:t>20</a:t>
            </a:fld>
            <a:endParaRPr kumimoji="1" lang="ja-JP" altLang="en-US"/>
          </a:p>
        </p:txBody>
      </p:sp>
    </p:spTree>
    <p:extLst>
      <p:ext uri="{BB962C8B-B14F-4D97-AF65-F5344CB8AC3E}">
        <p14:creationId xmlns:p14="http://schemas.microsoft.com/office/powerpoint/2010/main" val="1259309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BF546-1743-135A-95CD-3C90E28B03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E39B67-E330-04A1-DA65-F20824AC5D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08D0F7-38CF-051D-61EC-92192315B2F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4E8CA0-1D10-EAD6-2338-949CDE702303}"/>
              </a:ext>
            </a:extLst>
          </p:cNvPr>
          <p:cNvSpPr>
            <a:spLocks noGrp="1"/>
          </p:cNvSpPr>
          <p:nvPr>
            <p:ph type="sldNum" sz="quarter" idx="5"/>
          </p:nvPr>
        </p:nvSpPr>
        <p:spPr/>
        <p:txBody>
          <a:bodyPr/>
          <a:lstStyle/>
          <a:p>
            <a:fld id="{059A420A-BDF0-4775-9670-07D3BFB5E94B}" type="slidenum">
              <a:rPr kumimoji="1" lang="ja-JP" altLang="en-US" smtClean="0"/>
              <a:t>21</a:t>
            </a:fld>
            <a:endParaRPr kumimoji="1" lang="ja-JP" altLang="en-US"/>
          </a:p>
        </p:txBody>
      </p:sp>
    </p:spTree>
    <p:extLst>
      <p:ext uri="{BB962C8B-B14F-4D97-AF65-F5344CB8AC3E}">
        <p14:creationId xmlns:p14="http://schemas.microsoft.com/office/powerpoint/2010/main" val="3220339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70789-5015-3075-8620-5090EE7453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DCAD96-1B74-E386-84B3-1FBEDEB4E5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B0BCA7-8E84-5078-FB15-4FF030FC82F3}"/>
              </a:ext>
            </a:extLst>
          </p:cNvPr>
          <p:cNvSpPr>
            <a:spLocks noGrp="1"/>
          </p:cNvSpPr>
          <p:nvPr>
            <p:ph type="body" idx="1"/>
          </p:nvPr>
        </p:nvSpPr>
        <p:spPr/>
        <p:txBody>
          <a:bodyPr/>
          <a:lstStyle/>
          <a:p>
            <a:r>
              <a:rPr kumimoji="1" lang="ja-JP" altLang="en-US" dirty="0"/>
              <a:t>文脈理解が得意なＢＥＲＴを活用することで日本語特有のスラングが解消された。例えば、</a:t>
            </a:r>
            <a:endParaRPr kumimoji="1" lang="en-US" altLang="ja-JP" dirty="0"/>
          </a:p>
          <a:p>
            <a:r>
              <a:rPr kumimoji="1" lang="ja-JP" altLang="en-US" dirty="0"/>
              <a:t>部屋はきれい、とは言えませんでした。とかの場合、きれいといえませんでしたが混ざっていると、本来は</a:t>
            </a:r>
            <a:r>
              <a:rPr kumimoji="1" lang="ja-JP" altLang="en-US"/>
              <a:t>ネガティブなのにポジティブ判定</a:t>
            </a:r>
            <a:r>
              <a:rPr kumimoji="1" lang="ja-JP" altLang="en-US" dirty="0"/>
              <a:t>されてしまうことがある、というように、ＬＬＭが判断しにくい場合がある、そういう時にＬＬＭより文脈理解が得意なＢＥＲＴ</a:t>
            </a:r>
            <a:br>
              <a:rPr kumimoji="1" lang="en-US" altLang="ja-JP" dirty="0"/>
            </a:br>
            <a:r>
              <a:rPr kumimoji="1" lang="ja-JP" altLang="en-US" dirty="0"/>
              <a:t>を活用することで適切な評価が可能となる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B522412C-4F85-7FCE-993C-0613CCD2FDF4}"/>
              </a:ext>
            </a:extLst>
          </p:cNvPr>
          <p:cNvSpPr>
            <a:spLocks noGrp="1"/>
          </p:cNvSpPr>
          <p:nvPr>
            <p:ph type="sldNum" sz="quarter" idx="5"/>
          </p:nvPr>
        </p:nvSpPr>
        <p:spPr/>
        <p:txBody>
          <a:bodyPr/>
          <a:lstStyle/>
          <a:p>
            <a:fld id="{059A420A-BDF0-4775-9670-07D3BFB5E94B}" type="slidenum">
              <a:rPr kumimoji="1" lang="ja-JP" altLang="en-US" smtClean="0"/>
              <a:t>23</a:t>
            </a:fld>
            <a:endParaRPr kumimoji="1" lang="ja-JP" altLang="en-US"/>
          </a:p>
        </p:txBody>
      </p:sp>
    </p:spTree>
    <p:extLst>
      <p:ext uri="{BB962C8B-B14F-4D97-AF65-F5344CB8AC3E}">
        <p14:creationId xmlns:p14="http://schemas.microsoft.com/office/powerpoint/2010/main" val="754801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結果として、提案手法のほうが既存手法より一定精度の向上しました。</a:t>
            </a:r>
            <a:br>
              <a:rPr kumimoji="1" lang="en-US" altLang="ja-JP" dirty="0"/>
            </a:br>
            <a:r>
              <a:rPr kumimoji="1" lang="ja-JP" altLang="en-US" dirty="0"/>
              <a:t>理由として、ホテルの口コミという表現が多く、評価すべき観点が多い領域に対して、</a:t>
            </a:r>
            <a:endParaRPr kumimoji="1" lang="en-US" altLang="ja-JP" dirty="0"/>
          </a:p>
          <a:p>
            <a:r>
              <a:rPr kumimoji="1" lang="ja-JP" altLang="en-US" dirty="0"/>
              <a:t>各観点の文抽出を</a:t>
            </a:r>
            <a:r>
              <a:rPr kumimoji="1" lang="en-US" altLang="ja-JP" dirty="0"/>
              <a:t>LLM</a:t>
            </a:r>
            <a:r>
              <a:rPr kumimoji="1" lang="ja-JP" altLang="en-US" dirty="0"/>
              <a:t>で、判定を</a:t>
            </a:r>
            <a:r>
              <a:rPr kumimoji="1" lang="en-US" altLang="ja-JP" dirty="0"/>
              <a:t>BERT</a:t>
            </a:r>
            <a:r>
              <a:rPr kumimoji="1" lang="ja-JP" altLang="en-US" dirty="0"/>
              <a:t>で行って細分化して判定させることで精度の向上が起こったと考察しています。</a:t>
            </a:r>
            <a:br>
              <a:rPr kumimoji="1" lang="en-US" altLang="ja-JP" dirty="0"/>
            </a:br>
            <a:br>
              <a:rPr kumimoji="1" lang="en-US" altLang="ja-JP" dirty="0"/>
            </a:br>
            <a:br>
              <a:rPr kumimoji="1" lang="en-US" altLang="ja-JP" dirty="0"/>
            </a:br>
            <a:r>
              <a:rPr lang="en-US" altLang="ja-JP" b="1" dirty="0"/>
              <a:t>Q. </a:t>
            </a:r>
            <a:r>
              <a:rPr lang="ja-JP" altLang="en-US" b="1" dirty="0"/>
              <a:t>清掃のネガティブを見逃すのは問題では？</a:t>
            </a:r>
            <a:endParaRPr lang="ja-JP" altLang="en-US" dirty="0"/>
          </a:p>
          <a:p>
            <a:r>
              <a:rPr lang="en-US" altLang="ja-JP" dirty="0"/>
              <a:t>A.</a:t>
            </a:r>
          </a:p>
          <a:p>
            <a:r>
              <a:rPr lang="ja-JP" altLang="en-US" dirty="0"/>
              <a:t>本研究では個々のレビューへの対応ではなく</a:t>
            </a:r>
          </a:p>
          <a:p>
            <a:r>
              <a:rPr lang="ja-JP" altLang="en-US" dirty="0"/>
              <a:t>集約された感情傾向を需要予測に利用する</a:t>
            </a:r>
          </a:p>
          <a:p>
            <a:r>
              <a:rPr lang="ja-JP" altLang="en-US" dirty="0"/>
              <a:t>ため、</a:t>
            </a:r>
            <a:br>
              <a:rPr lang="ja-JP" altLang="en-US" dirty="0"/>
            </a:br>
            <a:r>
              <a:rPr lang="ja-JP" altLang="en-US" b="1" dirty="0"/>
              <a:t>特定クラスの取りこぼしよりも全体傾向の安定性を重視</a:t>
            </a:r>
            <a:r>
              <a:rPr lang="ja-JP" altLang="en-US" dirty="0"/>
              <a:t>した。</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28</a:t>
            </a:fld>
            <a:endParaRPr kumimoji="1" lang="ja-JP" altLang="en-US"/>
          </a:p>
        </p:txBody>
      </p:sp>
    </p:spTree>
    <p:extLst>
      <p:ext uri="{BB962C8B-B14F-4D97-AF65-F5344CB8AC3E}">
        <p14:creationId xmlns:p14="http://schemas.microsoft.com/office/powerpoint/2010/main" val="2514757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110D2-0811-9F38-559A-905BD4E9A9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D3C804-5A12-4A65-2A52-AEA6B5D08B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0979DA4-9520-7BF0-57E8-1095459C38FF}"/>
              </a:ext>
            </a:extLst>
          </p:cNvPr>
          <p:cNvSpPr>
            <a:spLocks noGrp="1"/>
          </p:cNvSpPr>
          <p:nvPr>
            <p:ph type="body" idx="1"/>
          </p:nvPr>
        </p:nvSpPr>
        <p:spPr/>
        <p:txBody>
          <a:bodyPr/>
          <a:lstStyle/>
          <a:p>
            <a:r>
              <a:rPr lang="ja-JP" altLang="en-US" dirty="0"/>
              <a:t>現在は、先ほどの成果の稼働率の予測結果、そしてこれらのデータを活用して</a:t>
            </a:r>
            <a:r>
              <a:rPr lang="en-US" altLang="ja-JP" dirty="0"/>
              <a:t>LLM</a:t>
            </a:r>
            <a:r>
              <a:rPr lang="ja-JP" altLang="en-US" dirty="0"/>
              <a:t>が価格の提案を行うエージェントの開発を行っています。</a:t>
            </a:r>
            <a:endParaRPr lang="en-US" altLang="ja-JP" dirty="0"/>
          </a:p>
          <a:p>
            <a:endParaRPr lang="en-US" altLang="ja-JP" dirty="0"/>
          </a:p>
          <a:p>
            <a:r>
              <a:rPr lang="ja-JP" altLang="en-US" dirty="0"/>
              <a:t>具体的には、ホテル運営者が上限価格と下限価格を入力すると、その範囲内で各価格候補を</a:t>
            </a:r>
            <a:r>
              <a:rPr lang="en-US" altLang="ja-JP" dirty="0"/>
              <a:t>LLM</a:t>
            </a:r>
            <a:r>
              <a:rPr lang="ja-JP" altLang="en-US" dirty="0"/>
              <a:t>が評価し、最適な価格を提案する仕組みです。</a:t>
            </a:r>
            <a:br>
              <a:rPr lang="ja-JP" altLang="en-US" dirty="0"/>
            </a:br>
            <a:r>
              <a:rPr lang="ja-JP" altLang="en-US" dirty="0"/>
              <a:t>また、その際、単に価格を出すだけでなく、</a:t>
            </a:r>
            <a:r>
              <a:rPr lang="ja-JP" altLang="en-US" b="1" dirty="0"/>
              <a:t>なぜその価格なのか</a:t>
            </a:r>
            <a:r>
              <a:rPr lang="ja-JP" altLang="en-US" dirty="0"/>
              <a:t>という根拠も併せて提示できるようになっていることがポイントで、この点に対して、共同研究先からも、実際に試してみたいという声をいただいています。</a:t>
            </a:r>
            <a:endParaRPr lang="en-US" altLang="ja-JP" dirty="0"/>
          </a:p>
          <a:p>
            <a:br>
              <a:rPr lang="ja-JP" altLang="en-US" dirty="0"/>
            </a:br>
            <a:r>
              <a:rPr lang="ja-JP" altLang="en-US" dirty="0"/>
              <a:t>今後は、想定シナリオに対して適切な価格提案ができるかを完遂率で評価したうえで、</a:t>
            </a:r>
            <a:r>
              <a:rPr lang="en-US" altLang="ja-JP" dirty="0"/>
              <a:t>PoC</a:t>
            </a:r>
            <a:r>
              <a:rPr lang="ja-JP" altLang="en-US" dirty="0"/>
              <a:t>として実運用につなげていくことを展望に活動していきたいと考えています。</a:t>
            </a:r>
            <a:endParaRPr lang="en-US" altLang="ja-JP" dirty="0"/>
          </a:p>
          <a:p>
            <a:endParaRPr lang="en-US" altLang="ja-JP" dirty="0"/>
          </a:p>
          <a:p>
            <a:r>
              <a:rPr lang="ja-JP" altLang="en-US" dirty="0"/>
              <a:t>というところで、研究紹介を終了させていただきます。　ご清聴頂きありがとうございました！</a:t>
            </a:r>
            <a:endParaRPr lang="en-US" altLang="ja-JP" dirty="0"/>
          </a:p>
        </p:txBody>
      </p:sp>
      <p:sp>
        <p:nvSpPr>
          <p:cNvPr id="4" name="スライド番号プレースホルダー 3">
            <a:extLst>
              <a:ext uri="{FF2B5EF4-FFF2-40B4-BE49-F238E27FC236}">
                <a16:creationId xmlns:a16="http://schemas.microsoft.com/office/drawing/2014/main" id="{A55FB6A2-E2D0-7D41-DC5E-51087FEE47BB}"/>
              </a:ext>
            </a:extLst>
          </p:cNvPr>
          <p:cNvSpPr>
            <a:spLocks noGrp="1"/>
          </p:cNvSpPr>
          <p:nvPr>
            <p:ph type="sldNum" sz="quarter" idx="5"/>
          </p:nvPr>
        </p:nvSpPr>
        <p:spPr/>
        <p:txBody>
          <a:bodyPr/>
          <a:lstStyle/>
          <a:p>
            <a:fld id="{059A420A-BDF0-4775-9670-07D3BFB5E94B}" type="slidenum">
              <a:rPr kumimoji="1" lang="ja-JP" altLang="en-US" smtClean="0"/>
              <a:t>31</a:t>
            </a:fld>
            <a:endParaRPr kumimoji="1" lang="ja-JP" altLang="en-US"/>
          </a:p>
        </p:txBody>
      </p:sp>
    </p:spTree>
    <p:extLst>
      <p:ext uri="{BB962C8B-B14F-4D97-AF65-F5344CB8AC3E}">
        <p14:creationId xmlns:p14="http://schemas.microsoft.com/office/powerpoint/2010/main" val="1889891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D7678-0012-423E-661A-775DC8B478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792008-EB89-82E7-38E3-D1FDCCC0B5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D7E25E-B9ED-2FC3-92F8-11F900DA18B6}"/>
              </a:ext>
            </a:extLst>
          </p:cNvPr>
          <p:cNvSpPr>
            <a:spLocks noGrp="1"/>
          </p:cNvSpPr>
          <p:nvPr>
            <p:ph type="body" idx="1"/>
          </p:nvPr>
        </p:nvSpPr>
        <p:spPr/>
        <p:txBody>
          <a:bodyPr/>
          <a:lstStyle/>
          <a:p>
            <a:r>
              <a:rPr lang="ja-JP" altLang="en-US" dirty="0"/>
              <a:t>最後に、現在取り組んでいる価格提案の部分です。</a:t>
            </a:r>
          </a:p>
          <a:p>
            <a:r>
              <a:rPr lang="ja-JP" altLang="en-US" dirty="0"/>
              <a:t>現在、口コミ感情データと需要予測結果、</a:t>
            </a:r>
            <a:br>
              <a:rPr lang="ja-JP" altLang="en-US" dirty="0"/>
            </a:br>
            <a:r>
              <a:rPr lang="ja-JP" altLang="en-US" dirty="0"/>
              <a:t>さらにホテルの経営データを統合し、</a:t>
            </a:r>
            <a:br>
              <a:rPr lang="ja-JP" altLang="en-US" dirty="0"/>
            </a:br>
            <a:r>
              <a:rPr lang="en-US" altLang="ja-JP" b="1" dirty="0"/>
              <a:t>LLM</a:t>
            </a:r>
            <a:r>
              <a:rPr lang="ja-JP" altLang="en-US" b="1" dirty="0"/>
              <a:t>による価格設定支援エージェント</a:t>
            </a:r>
            <a:r>
              <a:rPr lang="ja-JP" altLang="en-US" dirty="0"/>
              <a:t>の開発を進めています。</a:t>
            </a:r>
          </a:p>
          <a:p>
            <a:r>
              <a:rPr lang="ja-JP" altLang="en-US" dirty="0"/>
              <a:t>例えば、ある日の価格を設定する際には、</a:t>
            </a:r>
            <a:br>
              <a:rPr lang="ja-JP" altLang="en-US" dirty="0"/>
            </a:br>
            <a:r>
              <a:rPr lang="ja-JP" altLang="en-US" dirty="0"/>
              <a:t>需要予測で高い稼働率が見込まれるかどうかや、</a:t>
            </a:r>
            <a:br>
              <a:rPr lang="ja-JP" altLang="en-US" dirty="0"/>
            </a:br>
            <a:r>
              <a:rPr lang="ja-JP" altLang="en-US" dirty="0"/>
              <a:t>競合ホテルの価格、口コミ評価などを参照しながら、</a:t>
            </a:r>
            <a:br>
              <a:rPr lang="ja-JP" altLang="en-US" dirty="0"/>
            </a:br>
            <a:r>
              <a:rPr lang="ja-JP" altLang="en-US" dirty="0"/>
              <a:t>適切な価格を提案します。</a:t>
            </a:r>
          </a:p>
          <a:p>
            <a:r>
              <a:rPr lang="ja-JP" altLang="en-US" dirty="0"/>
              <a:t>また、その価格提案の根拠も同時に提示することで、</a:t>
            </a:r>
            <a:br>
              <a:rPr lang="ja-JP" altLang="en-US" dirty="0"/>
            </a:br>
            <a:r>
              <a:rPr lang="ja-JP" altLang="en-US" dirty="0"/>
              <a:t>ホテル運営者が納得して価格判断を行える仕組みを目指しています。</a:t>
            </a:r>
          </a:p>
          <a:p>
            <a:r>
              <a:rPr lang="ja-JP" altLang="en-US" dirty="0"/>
              <a:t>今後は、この研究成果を</a:t>
            </a:r>
            <a:r>
              <a:rPr lang="en-US" altLang="ja-JP" dirty="0"/>
              <a:t>PoC</a:t>
            </a:r>
            <a:r>
              <a:rPr lang="ja-JP" altLang="en-US" dirty="0"/>
              <a:t>として実際のホテル運用で検証し、</a:t>
            </a:r>
            <a:br>
              <a:rPr lang="ja-JP" altLang="en-US" dirty="0"/>
            </a:br>
            <a:r>
              <a:rPr lang="ja-JP" altLang="en-US" b="1" dirty="0"/>
              <a:t>利益と顧客評価を両立する価格最適化モデルとして実用化すること</a:t>
            </a:r>
            <a:r>
              <a:rPr lang="ja-JP" altLang="en-US" dirty="0"/>
              <a:t>を目指しています。</a:t>
            </a:r>
          </a:p>
        </p:txBody>
      </p:sp>
      <p:sp>
        <p:nvSpPr>
          <p:cNvPr id="4" name="スライド番号プレースホルダー 3">
            <a:extLst>
              <a:ext uri="{FF2B5EF4-FFF2-40B4-BE49-F238E27FC236}">
                <a16:creationId xmlns:a16="http://schemas.microsoft.com/office/drawing/2014/main" id="{DE77090E-7201-F49C-BE1A-7D9841B8EE83}"/>
              </a:ext>
            </a:extLst>
          </p:cNvPr>
          <p:cNvSpPr>
            <a:spLocks noGrp="1"/>
          </p:cNvSpPr>
          <p:nvPr>
            <p:ph type="sldNum" sz="quarter" idx="5"/>
          </p:nvPr>
        </p:nvSpPr>
        <p:spPr/>
        <p:txBody>
          <a:bodyPr/>
          <a:lstStyle/>
          <a:p>
            <a:fld id="{059A420A-BDF0-4775-9670-07D3BFB5E94B}" type="slidenum">
              <a:rPr kumimoji="1" lang="ja-JP" altLang="en-US" smtClean="0"/>
              <a:t>32</a:t>
            </a:fld>
            <a:endParaRPr kumimoji="1" lang="ja-JP" altLang="en-US"/>
          </a:p>
        </p:txBody>
      </p:sp>
    </p:spTree>
    <p:extLst>
      <p:ext uri="{BB962C8B-B14F-4D97-AF65-F5344CB8AC3E}">
        <p14:creationId xmlns:p14="http://schemas.microsoft.com/office/powerpoint/2010/main" val="17936351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34</a:t>
            </a:fld>
            <a:endParaRPr kumimoji="1" lang="ja-JP" altLang="en-US"/>
          </a:p>
        </p:txBody>
      </p:sp>
    </p:spTree>
    <p:extLst>
      <p:ext uri="{BB962C8B-B14F-4D97-AF65-F5344CB8AC3E}">
        <p14:creationId xmlns:p14="http://schemas.microsoft.com/office/powerpoint/2010/main" val="273085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a:prstGeom prst="rect">
            <a:avLst/>
          </a:prstGeo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3" name="コンテンツ プレースホルダー 2"/>
          <p:cNvSpPr>
            <a:spLocks noGrp="1"/>
          </p:cNvSpPr>
          <p:nvPr>
            <p:ph idx="1" hasCustomPrompt="1"/>
          </p:nvPr>
        </p:nvSpPr>
        <p:spPr>
          <a:xfrm>
            <a:off x="309282" y="742950"/>
            <a:ext cx="11349318" cy="5657849"/>
          </a:xfrm>
        </p:spPr>
        <p:txBody>
          <a:bodyPr/>
          <a:lstStyle>
            <a:lvl1pPr marL="457200" indent="-457200">
              <a:lnSpc>
                <a:spcPct val="150000"/>
              </a:lnSpc>
              <a:buClr>
                <a:srgbClr val="C00000"/>
              </a:buClr>
              <a:buFont typeface="Wingdings" panose="05000000000000000000" pitchFamily="2" charset="2"/>
              <a:buChar char="n"/>
              <a:defRPr>
                <a:solidFill>
                  <a:schemeClr val="tx1"/>
                </a:solidFill>
                <a:latin typeface="Yu Gothic UI" panose="020B0500000000000000" pitchFamily="50" charset="-128"/>
                <a:ea typeface="Yu Gothic UI" panose="020B0500000000000000" pitchFamily="50" charset="-128"/>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a:latin typeface="Yu Gothic UI" panose="020B0500000000000000" pitchFamily="50" charset="-128"/>
                <a:ea typeface="Yu Gothic UI" panose="020B0500000000000000" pitchFamily="50" charset="-128"/>
              </a:defRPr>
            </a:lvl2pPr>
            <a:lvl3pPr marL="1252538" indent="-338138">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3pPr>
            <a:lvl4pPr marL="1706563" indent="-3349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4pPr>
            <a:lvl5pPr marL="2151063" indent="-3222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309282" y="95251"/>
            <a:ext cx="11473143" cy="419100"/>
          </a:xfrm>
        </p:spPr>
        <p:txBody>
          <a:bodyPr>
            <a:normAutofit/>
          </a:bodyPr>
          <a:lstStyle>
            <a:lvl1pPr marL="0" indent="0">
              <a:buNone/>
              <a:defRPr sz="2400" b="0">
                <a:solidFill>
                  <a:srgbClr val="FFFFFF"/>
                </a:solidFill>
                <a:latin typeface="Yu Gothic UI" panose="020B0500000000000000" pitchFamily="50" charset="-128"/>
                <a:ea typeface="Yu Gothic UI"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研究概要</a:t>
            </a:r>
            <a:endParaRPr kumimoji="1" lang="en-US" altLang="ja-JP" dirty="0"/>
          </a:p>
        </p:txBody>
      </p:sp>
    </p:spTree>
    <p:extLst>
      <p:ext uri="{BB962C8B-B14F-4D97-AF65-F5344CB8AC3E}">
        <p14:creationId xmlns:p14="http://schemas.microsoft.com/office/powerpoint/2010/main" val="16229840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35029" y="623121"/>
            <a:ext cx="11775971" cy="5483306"/>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2" name="テキスト ボックス 1">
            <a:extLst>
              <a:ext uri="{FF2B5EF4-FFF2-40B4-BE49-F238E27FC236}">
                <a16:creationId xmlns:a16="http://schemas.microsoft.com/office/drawing/2014/main" id="{87C07A5E-272E-1F67-D0F7-A0EEE1A0E315}"/>
              </a:ext>
            </a:extLst>
          </p:cNvPr>
          <p:cNvSpPr txBox="1"/>
          <p:nvPr userDrawn="1"/>
        </p:nvSpPr>
        <p:spPr>
          <a:xfrm>
            <a:off x="11249628" y="6259810"/>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B77219BD-58DF-F70A-31BE-B566B55D4DB7}"/>
              </a:ext>
            </a:extLst>
          </p:cNvPr>
          <p:cNvSpPr/>
          <p:nvPr userDrawn="1"/>
        </p:nvSpPr>
        <p:spPr>
          <a:xfrm>
            <a:off x="0" y="-26893"/>
            <a:ext cx="12192000" cy="625083"/>
          </a:xfrm>
          <a:prstGeom prst="rect">
            <a:avLst/>
          </a:prstGeom>
          <a:solidFill>
            <a:srgbClr val="1F49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lumMod val="25000"/>
                </a:schemeClr>
              </a:solidFill>
            </a:endParaRPr>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00000"/>
        </a:lnSpc>
        <a:spcBef>
          <a:spcPts val="1800"/>
        </a:spcBef>
        <a:buClr>
          <a:srgbClr val="C00000"/>
        </a:buClr>
        <a:buFont typeface="Wingdings" pitchFamily="2" charset="2"/>
        <a:buChar char="n"/>
        <a:defRPr kumimoji="1" sz="2800" b="1" kern="1200">
          <a:solidFill>
            <a:schemeClr val="bg1">
              <a:lumMod val="25000"/>
            </a:schemeClr>
          </a:solidFill>
          <a:latin typeface="MS PGothic" panose="020B0600070205080204" pitchFamily="34" charset="-128"/>
          <a:ea typeface="MS PGothic" panose="020B0600070205080204" pitchFamily="34" charset="-128"/>
          <a:cs typeface="+mn-cs"/>
        </a:defRPr>
      </a:lvl1pPr>
      <a:lvl2pPr marL="898525" indent="-441325" algn="l" defTabSz="914400" rtl="0" eaLnBrk="1" latinLnBrk="0" hangingPunct="1">
        <a:lnSpc>
          <a:spcPct val="100000"/>
        </a:lnSpc>
        <a:spcBef>
          <a:spcPts val="0"/>
        </a:spcBef>
        <a:buClr>
          <a:srgbClr val="C00000"/>
        </a:buClr>
        <a:buFont typeface="Wingdings" pitchFamily="2" charset="2"/>
        <a:buChar char="n"/>
        <a:defRPr kumimoji="1" sz="2400" kern="1200">
          <a:solidFill>
            <a:schemeClr val="bg1">
              <a:lumMod val="25000"/>
            </a:schemeClr>
          </a:solidFill>
          <a:latin typeface="MS PGothic" panose="020B0600070205080204" pitchFamily="34" charset="-128"/>
          <a:ea typeface="MS PGothic" panose="020B0600070205080204" pitchFamily="34" charset="-128"/>
          <a:cs typeface="+mn-cs"/>
        </a:defRPr>
      </a:lvl2pPr>
      <a:lvl3pPr marL="1252538" indent="-338138" algn="l" defTabSz="914400" rtl="0" eaLnBrk="1" latinLnBrk="0" hangingPunct="1">
        <a:lnSpc>
          <a:spcPct val="100000"/>
        </a:lnSpc>
        <a:spcBef>
          <a:spcPts val="0"/>
        </a:spcBef>
        <a:buClr>
          <a:srgbClr val="C00000"/>
        </a:buClr>
        <a:buFont typeface="Wingdings" pitchFamily="2" charset="2"/>
        <a:buChar char="n"/>
        <a:defRPr kumimoji="1" sz="2000" kern="1200">
          <a:solidFill>
            <a:schemeClr val="bg1">
              <a:lumMod val="25000"/>
            </a:schemeClr>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4.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1F08FD74-8A95-4CC4-8A3E-A416E77C6F43}"/>
              </a:ext>
            </a:extLst>
          </p:cNvPr>
          <p:cNvSpPr>
            <a:spLocks noGrp="1"/>
          </p:cNvSpPr>
          <p:nvPr>
            <p:ph type="body" sz="quarter" idx="4294967295"/>
          </p:nvPr>
        </p:nvSpPr>
        <p:spPr>
          <a:xfrm>
            <a:off x="8420098" y="152399"/>
            <a:ext cx="3594101" cy="378541"/>
          </a:xfrm>
        </p:spPr>
        <p:txBody>
          <a:bodyPr>
            <a:normAutofit fontScale="77500" lnSpcReduction="20000"/>
          </a:bodyPr>
          <a:lstStyle/>
          <a:p>
            <a:endParaRPr kumimoji="1" lang="ja-JP" altLang="en-US" dirty="0"/>
          </a:p>
        </p:txBody>
      </p:sp>
      <p:sp>
        <p:nvSpPr>
          <p:cNvPr id="6" name="図プレースホルダー 5">
            <a:extLst>
              <a:ext uri="{FF2B5EF4-FFF2-40B4-BE49-F238E27FC236}">
                <a16:creationId xmlns:a16="http://schemas.microsoft.com/office/drawing/2014/main" id="{0AFE5A35-E172-4CE5-9706-822A8837189E}"/>
              </a:ext>
            </a:extLst>
          </p:cNvPr>
          <p:cNvSpPr>
            <a:spLocks noGrp="1"/>
          </p:cNvSpPr>
          <p:nvPr>
            <p:ph type="pic" sz="quarter" idx="13"/>
          </p:nvPr>
        </p:nvSpPr>
        <p:spPr>
          <a:xfrm>
            <a:off x="2007214" y="1901985"/>
            <a:ext cx="12121662" cy="1648069"/>
          </a:xfrm>
        </p:spPr>
        <p:txBody>
          <a:bodyPr>
            <a:normAutofit fontScale="92500" lnSpcReduction="10000"/>
          </a:bodyPr>
          <a:lstStyle/>
          <a:p>
            <a:r>
              <a:rPr lang="ja-JP" altLang="en-US" sz="4800" dirty="0">
                <a:solidFill>
                  <a:schemeClr val="tx1">
                    <a:lumMod val="75000"/>
                  </a:schemeClr>
                </a:solidFill>
                <a:latin typeface="+mn-ea"/>
                <a:ea typeface="+mn-ea"/>
              </a:rPr>
              <a:t>口コミに基づく感情情報を用いた</a:t>
            </a:r>
            <a:endParaRPr lang="en-US" altLang="ja-JP" sz="4800" dirty="0">
              <a:solidFill>
                <a:schemeClr val="tx1">
                  <a:lumMod val="75000"/>
                </a:schemeClr>
              </a:solidFill>
              <a:latin typeface="+mn-ea"/>
              <a:ea typeface="+mn-ea"/>
            </a:endParaRPr>
          </a:p>
          <a:p>
            <a:r>
              <a:rPr lang="ja-JP" altLang="en-US" sz="4800" dirty="0">
                <a:solidFill>
                  <a:schemeClr val="tx1">
                    <a:lumMod val="75000"/>
                  </a:schemeClr>
                </a:solidFill>
                <a:latin typeface="+mn-ea"/>
                <a:ea typeface="+mn-ea"/>
              </a:rPr>
              <a:t>ホテル価格最適化モデルの検討　</a:t>
            </a:r>
            <a:endParaRPr lang="en-US" altLang="ja-JP" sz="4800" dirty="0">
              <a:solidFill>
                <a:schemeClr val="tx1">
                  <a:lumMod val="75000"/>
                </a:schemeClr>
              </a:solidFill>
              <a:latin typeface="+mn-ea"/>
              <a:ea typeface="+mn-ea"/>
            </a:endParaRPr>
          </a:p>
          <a:p>
            <a:endParaRPr lang="ja-JP" altLang="en-US" dirty="0"/>
          </a:p>
        </p:txBody>
      </p:sp>
      <p:sp>
        <p:nvSpPr>
          <p:cNvPr id="13" name="正方形/長方形 12">
            <a:extLst>
              <a:ext uri="{FF2B5EF4-FFF2-40B4-BE49-F238E27FC236}">
                <a16:creationId xmlns:a16="http://schemas.microsoft.com/office/drawing/2014/main" id="{6D753D6A-A826-05CF-5564-71C573E29AF0}"/>
              </a:ext>
            </a:extLst>
          </p:cNvPr>
          <p:cNvSpPr/>
          <p:nvPr/>
        </p:nvSpPr>
        <p:spPr>
          <a:xfrm>
            <a:off x="0" y="-20103"/>
            <a:ext cx="12192000" cy="14329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0BED77F-9C6C-404C-DF01-0598632F656C}"/>
              </a:ext>
            </a:extLst>
          </p:cNvPr>
          <p:cNvSpPr/>
          <p:nvPr/>
        </p:nvSpPr>
        <p:spPr>
          <a:xfrm>
            <a:off x="10501624" y="5625017"/>
            <a:ext cx="1690376" cy="1200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2BA9CF32-4207-A306-88E5-56A948556B77}"/>
              </a:ext>
            </a:extLst>
          </p:cNvPr>
          <p:cNvSpPr txBox="1"/>
          <p:nvPr/>
        </p:nvSpPr>
        <p:spPr>
          <a:xfrm>
            <a:off x="3013551" y="5472142"/>
            <a:ext cx="4136069" cy="923330"/>
          </a:xfrm>
          <a:prstGeom prst="rect">
            <a:avLst/>
          </a:prstGeom>
          <a:noFill/>
        </p:spPr>
        <p:txBody>
          <a:bodyPr wrap="none" rtlCol="0">
            <a:spAutoFit/>
          </a:bodyPr>
          <a:lstStyle/>
          <a:p>
            <a:pPr algn="ctr"/>
            <a:r>
              <a:rPr lang="ja-JP" altLang="en-US" dirty="0">
                <a:solidFill>
                  <a:schemeClr val="tx1">
                    <a:lumMod val="50000"/>
                  </a:schemeClr>
                </a:solidFill>
                <a:effectLst/>
                <a:latin typeface="+mn-ea"/>
              </a:rPr>
              <a:t>信州大学大学院</a:t>
            </a:r>
            <a:r>
              <a:rPr lang="en-US" altLang="ja-JP" dirty="0">
                <a:solidFill>
                  <a:schemeClr val="tx1">
                    <a:lumMod val="50000"/>
                  </a:schemeClr>
                </a:solidFill>
                <a:effectLst/>
                <a:latin typeface="+mn-ea"/>
              </a:rPr>
              <a:t> </a:t>
            </a:r>
            <a:r>
              <a:rPr lang="ja-JP" altLang="en-US" dirty="0">
                <a:solidFill>
                  <a:schemeClr val="tx1">
                    <a:lumMod val="50000"/>
                  </a:schemeClr>
                </a:solidFill>
                <a:effectLst/>
                <a:latin typeface="+mn-ea"/>
              </a:rPr>
              <a:t>総合理工学研究科 </a:t>
            </a:r>
            <a:endParaRPr lang="ja-JP" altLang="en-US" dirty="0">
              <a:solidFill>
                <a:schemeClr val="tx1">
                  <a:lumMod val="50000"/>
                </a:schemeClr>
              </a:solidFill>
              <a:latin typeface="+mn-ea"/>
            </a:endParaRPr>
          </a:p>
          <a:p>
            <a:pPr algn="ctr"/>
            <a:endParaRPr kumimoji="1" lang="en-US" altLang="ja-JP" dirty="0">
              <a:solidFill>
                <a:schemeClr val="tx1">
                  <a:lumMod val="50000"/>
                </a:schemeClr>
              </a:solidFill>
              <a:latin typeface="+mn-ea"/>
            </a:endParaRPr>
          </a:p>
          <a:p>
            <a:pPr algn="ctr"/>
            <a:r>
              <a:rPr lang="ja-JP" altLang="en-US">
                <a:solidFill>
                  <a:schemeClr val="tx1">
                    <a:lumMod val="50000"/>
                  </a:schemeClr>
                </a:solidFill>
                <a:latin typeface="+mn-ea"/>
              </a:rPr>
              <a:t>　田中</a:t>
            </a:r>
            <a:r>
              <a:rPr lang="ja-JP" altLang="en-US" dirty="0">
                <a:solidFill>
                  <a:schemeClr val="tx1">
                    <a:lumMod val="50000"/>
                  </a:schemeClr>
                </a:solidFill>
                <a:latin typeface="+mn-ea"/>
              </a:rPr>
              <a:t>・エルナン研究室　</a:t>
            </a:r>
            <a:r>
              <a:rPr lang="en-US" altLang="ja-JP" dirty="0">
                <a:solidFill>
                  <a:schemeClr val="tx1">
                    <a:lumMod val="50000"/>
                  </a:schemeClr>
                </a:solidFill>
                <a:latin typeface="+mn-ea"/>
              </a:rPr>
              <a:t> </a:t>
            </a:r>
            <a:r>
              <a:rPr lang="ja-JP" altLang="en-US" dirty="0">
                <a:solidFill>
                  <a:schemeClr val="tx1">
                    <a:lumMod val="50000"/>
                  </a:schemeClr>
                </a:solidFill>
                <a:latin typeface="+mn-ea"/>
              </a:rPr>
              <a:t>石渡</a:t>
            </a:r>
            <a:r>
              <a:rPr lang="en-US" altLang="ja-JP" dirty="0">
                <a:solidFill>
                  <a:schemeClr val="tx1">
                    <a:lumMod val="50000"/>
                  </a:schemeClr>
                </a:solidFill>
                <a:latin typeface="+mn-ea"/>
              </a:rPr>
              <a:t> </a:t>
            </a:r>
            <a:r>
              <a:rPr lang="ja-JP" altLang="en-US" dirty="0">
                <a:solidFill>
                  <a:schemeClr val="tx1">
                    <a:lumMod val="50000"/>
                  </a:schemeClr>
                </a:solidFill>
                <a:latin typeface="+mn-ea"/>
              </a:rPr>
              <a:t>将伍</a:t>
            </a:r>
            <a:r>
              <a:rPr kumimoji="1" lang="ja-JP" altLang="en-US" dirty="0">
                <a:solidFill>
                  <a:schemeClr val="tx1">
                    <a:lumMod val="50000"/>
                  </a:schemeClr>
                </a:solidFill>
                <a:latin typeface="+mn-ea"/>
              </a:rPr>
              <a:t>　　</a:t>
            </a:r>
          </a:p>
        </p:txBody>
      </p:sp>
      <p:pic>
        <p:nvPicPr>
          <p:cNvPr id="7" name="図 6" descr="テキスト, ロゴ&#10;&#10;自動的に生成された説明">
            <a:extLst>
              <a:ext uri="{FF2B5EF4-FFF2-40B4-BE49-F238E27FC236}">
                <a16:creationId xmlns:a16="http://schemas.microsoft.com/office/drawing/2014/main" id="{7D46D3E3-0BA8-A127-32F2-FF62E42E66D7}"/>
              </a:ext>
            </a:extLst>
          </p:cNvPr>
          <p:cNvPicPr>
            <a:picLocks noChangeAspect="1"/>
          </p:cNvPicPr>
          <p:nvPr/>
        </p:nvPicPr>
        <p:blipFill>
          <a:blip r:embed="rId3"/>
          <a:stretch>
            <a:fillRect/>
          </a:stretch>
        </p:blipFill>
        <p:spPr>
          <a:xfrm>
            <a:off x="8068045" y="5472142"/>
            <a:ext cx="2374900" cy="850900"/>
          </a:xfrm>
          <a:prstGeom prst="rect">
            <a:avLst/>
          </a:prstGeom>
        </p:spPr>
      </p:pic>
    </p:spTree>
    <p:extLst>
      <p:ext uri="{BB962C8B-B14F-4D97-AF65-F5344CB8AC3E}">
        <p14:creationId xmlns:p14="http://schemas.microsoft.com/office/powerpoint/2010/main" val="146210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1E4A3CE-BCE9-2AF8-CAA4-CBFF6ABE1C2C}"/>
              </a:ext>
            </a:extLst>
          </p:cNvPr>
          <p:cNvSpPr>
            <a:spLocks noGrp="1"/>
          </p:cNvSpPr>
          <p:nvPr>
            <p:ph idx="1"/>
          </p:nvPr>
        </p:nvSpPr>
        <p:spPr/>
        <p:txBody>
          <a:bodyPr/>
          <a:lstStyle/>
          <a:p>
            <a:r>
              <a:rPr lang="ja-JP" altLang="en-US" dirty="0"/>
              <a:t>これまでの研究の振り返り</a:t>
            </a:r>
            <a:endParaRPr lang="en-US" altLang="ja-JP" dirty="0"/>
          </a:p>
          <a:p>
            <a:r>
              <a:rPr kumimoji="1" lang="ja-JP" altLang="en-US" dirty="0"/>
              <a:t>新しいテーマの提案</a:t>
            </a:r>
            <a:endParaRPr kumimoji="1" lang="en-US" altLang="ja-JP" dirty="0"/>
          </a:p>
          <a:p>
            <a:pPr>
              <a:buFont typeface="Wingdings" panose="05000000000000000000" pitchFamily="2" charset="2"/>
              <a:buChar char="Ø"/>
            </a:pPr>
            <a:r>
              <a:rPr lang="ja-JP" altLang="en-US" dirty="0"/>
              <a:t>既存研究</a:t>
            </a:r>
            <a:endParaRPr lang="en-US" altLang="ja-JP" dirty="0"/>
          </a:p>
          <a:p>
            <a:pPr>
              <a:buFont typeface="Wingdings" panose="05000000000000000000" pitchFamily="2" charset="2"/>
              <a:buChar char="Ø"/>
            </a:pPr>
            <a:r>
              <a:rPr kumimoji="1" lang="ja-JP" altLang="en-US" dirty="0"/>
              <a:t>研究手法の提案</a:t>
            </a:r>
            <a:endParaRPr kumimoji="1" lang="en-US" altLang="ja-JP" dirty="0"/>
          </a:p>
          <a:p>
            <a:pPr>
              <a:buFont typeface="Wingdings" panose="05000000000000000000" pitchFamily="2" charset="2"/>
              <a:buChar char="Ø"/>
            </a:pPr>
            <a:r>
              <a:rPr kumimoji="1" lang="ja-JP" altLang="en-US" dirty="0"/>
              <a:t>今後のタスク</a:t>
            </a:r>
            <a:endParaRPr kumimoji="1" lang="en-US" altLang="ja-JP" dirty="0"/>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BB13FFF1-DF2F-84E0-B82F-C9A61A42365A}"/>
              </a:ext>
            </a:extLst>
          </p:cNvPr>
          <p:cNvSpPr>
            <a:spLocks noGrp="1"/>
          </p:cNvSpPr>
          <p:nvPr>
            <p:ph type="body" sz="quarter" idx="11"/>
          </p:nvPr>
        </p:nvSpPr>
        <p:spPr/>
        <p:txBody>
          <a:bodyPr>
            <a:normAutofit fontScale="92500" lnSpcReduction="10000"/>
          </a:bodyPr>
          <a:lstStyle/>
          <a:p>
            <a:r>
              <a:rPr kumimoji="1" lang="en-US" altLang="ja-JP" b="1" dirty="0"/>
              <a:t>Agenda</a:t>
            </a:r>
            <a:endParaRPr kumimoji="1" lang="ja-JP" altLang="en-US" b="1" dirty="0"/>
          </a:p>
        </p:txBody>
      </p:sp>
    </p:spTree>
    <p:extLst>
      <p:ext uri="{BB962C8B-B14F-4D97-AF65-F5344CB8AC3E}">
        <p14:creationId xmlns:p14="http://schemas.microsoft.com/office/powerpoint/2010/main" val="301280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9EC7-E0CD-0402-C301-6EA516793CA9}"/>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BBD0F5D4-4C4E-97E3-4B20-2041946C1018}"/>
              </a:ext>
            </a:extLst>
          </p:cNvPr>
          <p:cNvSpPr/>
          <p:nvPr/>
        </p:nvSpPr>
        <p:spPr>
          <a:xfrm>
            <a:off x="11830" y="617578"/>
            <a:ext cx="12180170" cy="2054956"/>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四角形: 角を丸くする 35">
            <a:extLst>
              <a:ext uri="{FF2B5EF4-FFF2-40B4-BE49-F238E27FC236}">
                <a16:creationId xmlns:a16="http://schemas.microsoft.com/office/drawing/2014/main" id="{1734DFD4-580D-CF8F-548F-CF039D55EB82}"/>
              </a:ext>
            </a:extLst>
          </p:cNvPr>
          <p:cNvSpPr/>
          <p:nvPr/>
        </p:nvSpPr>
        <p:spPr>
          <a:xfrm>
            <a:off x="1085675" y="5722817"/>
            <a:ext cx="10020650" cy="992856"/>
          </a:xfrm>
          <a:prstGeom prst="roundRect">
            <a:avLst/>
          </a:prstGeom>
          <a:solidFill>
            <a:schemeClr val="accent4">
              <a:lumMod val="5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 name="テキスト プレースホルダー 2">
            <a:extLst>
              <a:ext uri="{FF2B5EF4-FFF2-40B4-BE49-F238E27FC236}">
                <a16:creationId xmlns:a16="http://schemas.microsoft.com/office/drawing/2014/main" id="{FC8C45D2-3A0E-36F4-5F4D-5644DBFD76CC}"/>
              </a:ext>
            </a:extLst>
          </p:cNvPr>
          <p:cNvSpPr>
            <a:spLocks noGrp="1"/>
          </p:cNvSpPr>
          <p:nvPr>
            <p:ph type="body" sz="quarter" idx="11"/>
          </p:nvPr>
        </p:nvSpPr>
        <p:spPr>
          <a:xfrm>
            <a:off x="289826" y="85437"/>
            <a:ext cx="12271604" cy="1084204"/>
          </a:xfrm>
        </p:spPr>
        <p:txBody>
          <a:bodyPr>
            <a:normAutofit/>
          </a:bodyPr>
          <a:lstStyle/>
          <a:p>
            <a:r>
              <a:rPr lang="ja-JP" altLang="en-US" sz="2300" b="1" u="sng" dirty="0">
                <a:solidFill>
                  <a:schemeClr val="bg1">
                    <a:lumMod val="90000"/>
                  </a:schemeClr>
                </a:solidFill>
              </a:rPr>
              <a:t>旧テーマ</a:t>
            </a:r>
            <a:r>
              <a:rPr lang="ja-JP" altLang="en-US" sz="2300" b="1" dirty="0"/>
              <a:t>：「価格設定支援」をテーマに長野市内のホテルと共同研究に取り組んでいる</a:t>
            </a:r>
            <a:endParaRPr kumimoji="1" lang="ja-JP" altLang="en-US" sz="2300" b="1" dirty="0"/>
          </a:p>
        </p:txBody>
      </p:sp>
      <p:sp>
        <p:nvSpPr>
          <p:cNvPr id="14" name="コンテンツ プレースホルダー 1">
            <a:extLst>
              <a:ext uri="{FF2B5EF4-FFF2-40B4-BE49-F238E27FC236}">
                <a16:creationId xmlns:a16="http://schemas.microsoft.com/office/drawing/2014/main" id="{9E0F4898-57E1-DF3D-3C7F-D313BCB9E7A3}"/>
              </a:ext>
            </a:extLst>
          </p:cNvPr>
          <p:cNvSpPr txBox="1">
            <a:spLocks/>
          </p:cNvSpPr>
          <p:nvPr/>
        </p:nvSpPr>
        <p:spPr>
          <a:xfrm>
            <a:off x="-279426" y="639123"/>
            <a:ext cx="13410108" cy="2326759"/>
          </a:xfrm>
          <a:prstGeom prst="rect">
            <a:avLst/>
          </a:prstGeom>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lnSpc>
                <a:spcPct val="150000"/>
              </a:lnSpc>
              <a:buNone/>
            </a:pPr>
            <a:r>
              <a:rPr lang="ja-JP" altLang="en-US" sz="2000" b="1" dirty="0">
                <a:latin typeface="+mn-ea"/>
                <a:ea typeface="+mn-ea"/>
              </a:rPr>
              <a:t>市場背景</a:t>
            </a:r>
            <a:endParaRPr lang="en-US" altLang="ja-JP" sz="2000" b="1" dirty="0">
              <a:latin typeface="+mn-ea"/>
              <a:ea typeface="+mn-ea"/>
            </a:endParaRPr>
          </a:p>
          <a:p>
            <a:pPr lvl="1">
              <a:lnSpc>
                <a:spcPct val="150000"/>
              </a:lnSpc>
              <a:buFont typeface="Wingdings" panose="05000000000000000000" pitchFamily="2" charset="2"/>
              <a:buChar char="n"/>
            </a:pPr>
            <a:r>
              <a:rPr lang="ja-JP" altLang="en-US" sz="1900" dirty="0">
                <a:latin typeface="+mn-ea"/>
                <a:ea typeface="+mn-ea"/>
              </a:rPr>
              <a:t>近年、インバウンド回復により需要変動が激化する中、</a:t>
            </a:r>
            <a:r>
              <a:rPr lang="ja-JP" altLang="en-US" sz="1900" b="1" u="sng" dirty="0">
                <a:latin typeface="+mn-ea"/>
                <a:ea typeface="+mn-ea"/>
              </a:rPr>
              <a:t>動的価格設定</a:t>
            </a:r>
            <a:r>
              <a:rPr lang="ja-JP" altLang="en-US" sz="1900" b="1" dirty="0">
                <a:latin typeface="+mn-ea"/>
                <a:ea typeface="+mn-ea"/>
              </a:rPr>
              <a:t>の重要性が高まっている。</a:t>
            </a:r>
            <a:endParaRPr lang="en-US" altLang="ja-JP" sz="1900" b="1" dirty="0">
              <a:latin typeface="+mn-ea"/>
              <a:ea typeface="+mn-ea"/>
            </a:endParaRPr>
          </a:p>
          <a:p>
            <a:pPr marL="457200" lvl="1" indent="0">
              <a:lnSpc>
                <a:spcPct val="150000"/>
              </a:lnSpc>
              <a:buNone/>
            </a:pPr>
            <a:r>
              <a:rPr lang="ja-JP" altLang="en-US" sz="2000" b="1" dirty="0">
                <a:solidFill>
                  <a:srgbClr val="C00000"/>
                </a:solidFill>
                <a:latin typeface="+mn-ea"/>
                <a:ea typeface="+mn-ea"/>
              </a:rPr>
              <a:t>ヒアリングで得られた課題</a:t>
            </a:r>
          </a:p>
          <a:p>
            <a:pPr lvl="1">
              <a:lnSpc>
                <a:spcPct val="150000"/>
              </a:lnSpc>
              <a:buFont typeface="Wingdings" panose="05000000000000000000" pitchFamily="2" charset="2"/>
              <a:buChar char="n"/>
            </a:pPr>
            <a:r>
              <a:rPr lang="ja-JP" altLang="en-US" sz="2000" dirty="0">
                <a:latin typeface="Yu Gothic UI" panose="020B0500000000000000" pitchFamily="50" charset="-128"/>
                <a:ea typeface="Yu Gothic UI" panose="020B0500000000000000" pitchFamily="50" charset="-128"/>
              </a:rPr>
              <a:t>価格設定は外部のコンサルに委託しており、短期的には利益は増加したが、顧客離れを招いている可能性</a:t>
            </a:r>
            <a:endParaRPr lang="en-US" altLang="ja-JP" sz="2000" b="1" dirty="0">
              <a:latin typeface="Yu Gothic UI" panose="020B0500000000000000" pitchFamily="50" charset="-128"/>
              <a:ea typeface="Yu Gothic UI" panose="020B0500000000000000" pitchFamily="50" charset="-128"/>
            </a:endParaRPr>
          </a:p>
        </p:txBody>
      </p:sp>
      <p:grpSp>
        <p:nvGrpSpPr>
          <p:cNvPr id="2" name="グループ化 1">
            <a:extLst>
              <a:ext uri="{FF2B5EF4-FFF2-40B4-BE49-F238E27FC236}">
                <a16:creationId xmlns:a16="http://schemas.microsoft.com/office/drawing/2014/main" id="{1F7A54C8-F262-DB5E-AE5A-1FE9AFCC7470}"/>
              </a:ext>
            </a:extLst>
          </p:cNvPr>
          <p:cNvGrpSpPr/>
          <p:nvPr/>
        </p:nvGrpSpPr>
        <p:grpSpPr>
          <a:xfrm>
            <a:off x="1154957" y="2864619"/>
            <a:ext cx="10056703" cy="2641696"/>
            <a:chOff x="850456" y="2878022"/>
            <a:chExt cx="10056703" cy="2641696"/>
          </a:xfrm>
        </p:grpSpPr>
        <p:sp>
          <p:nvSpPr>
            <p:cNvPr id="28" name="テキスト ボックス 27">
              <a:extLst>
                <a:ext uri="{FF2B5EF4-FFF2-40B4-BE49-F238E27FC236}">
                  <a16:creationId xmlns:a16="http://schemas.microsoft.com/office/drawing/2014/main" id="{A27B849A-7540-DCBD-AD13-62BEF2BD3B59}"/>
                </a:ext>
              </a:extLst>
            </p:cNvPr>
            <p:cNvSpPr txBox="1"/>
            <p:nvPr/>
          </p:nvSpPr>
          <p:spPr>
            <a:xfrm>
              <a:off x="2778191" y="3891194"/>
              <a:ext cx="2011280"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観光需要が</a:t>
              </a:r>
              <a:endParaRPr lang="en-US" altLang="ja-JP" b="1" dirty="0"/>
            </a:p>
            <a:p>
              <a:r>
                <a:rPr lang="ja-JP" altLang="en-US" b="1" dirty="0"/>
                <a:t>高まっているため</a:t>
              </a:r>
              <a:endParaRPr lang="en-US" altLang="ja-JP" b="1" dirty="0"/>
            </a:p>
            <a:p>
              <a:r>
                <a:rPr lang="ja-JP" altLang="en-US" b="1" dirty="0"/>
                <a:t>利益を確保したい</a:t>
              </a:r>
              <a:r>
                <a:rPr kumimoji="1" lang="en-US" altLang="ja-JP" b="1" dirty="0"/>
                <a:t>…</a:t>
              </a:r>
              <a:endParaRPr kumimoji="1" lang="ja-JP" altLang="en-US" b="1" dirty="0"/>
            </a:p>
          </p:txBody>
        </p:sp>
        <p:sp>
          <p:nvSpPr>
            <p:cNvPr id="30" name="テキスト ボックス 29">
              <a:extLst>
                <a:ext uri="{FF2B5EF4-FFF2-40B4-BE49-F238E27FC236}">
                  <a16:creationId xmlns:a16="http://schemas.microsoft.com/office/drawing/2014/main" id="{4A743F33-C1C5-926A-1BFA-4C6E3FD6A4CB}"/>
                </a:ext>
              </a:extLst>
            </p:cNvPr>
            <p:cNvSpPr txBox="1"/>
            <p:nvPr/>
          </p:nvSpPr>
          <p:spPr>
            <a:xfrm>
              <a:off x="8688675" y="3891194"/>
              <a:ext cx="2218484"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本当は</a:t>
              </a:r>
              <a:br>
                <a:rPr lang="ja-JP" altLang="en-US" b="1" dirty="0"/>
              </a:br>
              <a:r>
                <a:rPr lang="ja-JP" altLang="en-US" b="1" dirty="0"/>
                <a:t>体験価値に見合った</a:t>
              </a:r>
              <a:endParaRPr lang="en-US" altLang="ja-JP" b="1" dirty="0"/>
            </a:p>
            <a:p>
              <a:r>
                <a:rPr lang="ja-JP" altLang="en-US" b="1" dirty="0"/>
                <a:t>価格で宿泊したい</a:t>
              </a:r>
              <a:r>
                <a:rPr lang="en-US" altLang="ja-JP" b="1" dirty="0"/>
                <a:t>…</a:t>
              </a:r>
              <a:endParaRPr kumimoji="1" lang="ja-JP" altLang="en-US" b="1" dirty="0"/>
            </a:p>
          </p:txBody>
        </p:sp>
        <p:grpSp>
          <p:nvGrpSpPr>
            <p:cNvPr id="35" name="グループ化 34">
              <a:extLst>
                <a:ext uri="{FF2B5EF4-FFF2-40B4-BE49-F238E27FC236}">
                  <a16:creationId xmlns:a16="http://schemas.microsoft.com/office/drawing/2014/main" id="{A68F3015-1D59-4531-C1DC-965D39E81DF7}"/>
                </a:ext>
              </a:extLst>
            </p:cNvPr>
            <p:cNvGrpSpPr/>
            <p:nvPr/>
          </p:nvGrpSpPr>
          <p:grpSpPr>
            <a:xfrm>
              <a:off x="850456" y="2878022"/>
              <a:ext cx="7559658" cy="2641696"/>
              <a:chOff x="785953" y="2839111"/>
              <a:chExt cx="7559658" cy="2641696"/>
            </a:xfrm>
          </p:grpSpPr>
          <p:pic>
            <p:nvPicPr>
              <p:cNvPr id="26" name="図 25" descr="アイコン&#10;&#10;AI 生成コンテンツは誤りを含む可能性があります。">
                <a:extLst>
                  <a:ext uri="{FF2B5EF4-FFF2-40B4-BE49-F238E27FC236}">
                    <a16:creationId xmlns:a16="http://schemas.microsoft.com/office/drawing/2014/main" id="{16ED7D81-ED3C-CB4F-DCE9-DB09663B51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614" y="3283779"/>
                <a:ext cx="1499558" cy="2197028"/>
              </a:xfrm>
              <a:prstGeom prst="rect">
                <a:avLst/>
              </a:prstGeom>
            </p:spPr>
          </p:pic>
          <p:sp>
            <p:nvSpPr>
              <p:cNvPr id="31" name="テキスト ボックス 30">
                <a:extLst>
                  <a:ext uri="{FF2B5EF4-FFF2-40B4-BE49-F238E27FC236}">
                    <a16:creationId xmlns:a16="http://schemas.microsoft.com/office/drawing/2014/main" id="{E8069932-52E3-6C07-E2E7-6BF7700D8BED}"/>
                  </a:ext>
                </a:extLst>
              </p:cNvPr>
              <p:cNvSpPr txBox="1"/>
              <p:nvPr/>
            </p:nvSpPr>
            <p:spPr>
              <a:xfrm>
                <a:off x="785953" y="2876095"/>
                <a:ext cx="2011280" cy="369332"/>
              </a:xfrm>
              <a:prstGeom prst="rect">
                <a:avLst/>
              </a:prstGeom>
              <a:noFill/>
            </p:spPr>
            <p:txBody>
              <a:bodyPr wrap="square" rtlCol="0">
                <a:spAutoFit/>
              </a:bodyPr>
              <a:lstStyle/>
              <a:p>
                <a:r>
                  <a:rPr lang="ja-JP" altLang="en-US" b="1" dirty="0"/>
                  <a:t>共同研究先ホテル</a:t>
                </a:r>
                <a:endParaRPr kumimoji="1" lang="ja-JP" altLang="en-US" b="1" dirty="0"/>
              </a:p>
            </p:txBody>
          </p:sp>
          <p:grpSp>
            <p:nvGrpSpPr>
              <p:cNvPr id="34" name="グループ化 33">
                <a:extLst>
                  <a:ext uri="{FF2B5EF4-FFF2-40B4-BE49-F238E27FC236}">
                    <a16:creationId xmlns:a16="http://schemas.microsoft.com/office/drawing/2014/main" id="{E07E4E7A-D1CA-16A2-D3AC-DC13250721E6}"/>
                  </a:ext>
                </a:extLst>
              </p:cNvPr>
              <p:cNvGrpSpPr/>
              <p:nvPr/>
            </p:nvGrpSpPr>
            <p:grpSpPr>
              <a:xfrm>
                <a:off x="6870823" y="2839111"/>
                <a:ext cx="1474788" cy="2641696"/>
                <a:chOff x="6870823" y="2839111"/>
                <a:chExt cx="1474788" cy="2641696"/>
              </a:xfrm>
            </p:grpSpPr>
            <p:pic>
              <p:nvPicPr>
                <p:cNvPr id="24" name="図 23" descr="挿絵, 光 が含まれている画像&#10;&#10;AI 生成コンテンツは誤りを含む可能性があります。">
                  <a:extLst>
                    <a:ext uri="{FF2B5EF4-FFF2-40B4-BE49-F238E27FC236}">
                      <a16:creationId xmlns:a16="http://schemas.microsoft.com/office/drawing/2014/main" id="{F7FDEC2E-933B-B75F-A2FD-B18EFE3997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70823" y="3236251"/>
                  <a:ext cx="1474788" cy="2244556"/>
                </a:xfrm>
                <a:prstGeom prst="rect">
                  <a:avLst/>
                </a:prstGeom>
              </p:spPr>
            </p:pic>
            <p:sp>
              <p:nvSpPr>
                <p:cNvPr id="32" name="テキスト ボックス 31">
                  <a:extLst>
                    <a:ext uri="{FF2B5EF4-FFF2-40B4-BE49-F238E27FC236}">
                      <a16:creationId xmlns:a16="http://schemas.microsoft.com/office/drawing/2014/main" id="{3A81473B-4E80-8F95-212E-D860E03E4B8B}"/>
                    </a:ext>
                  </a:extLst>
                </p:cNvPr>
                <p:cNvSpPr txBox="1"/>
                <p:nvPr/>
              </p:nvSpPr>
              <p:spPr>
                <a:xfrm>
                  <a:off x="7134768" y="2839111"/>
                  <a:ext cx="1012967" cy="369332"/>
                </a:xfrm>
                <a:prstGeom prst="rect">
                  <a:avLst/>
                </a:prstGeom>
                <a:noFill/>
              </p:spPr>
              <p:txBody>
                <a:bodyPr wrap="square" rtlCol="0">
                  <a:spAutoFit/>
                </a:bodyPr>
                <a:lstStyle/>
                <a:p>
                  <a:r>
                    <a:rPr kumimoji="1" lang="ja-JP" altLang="en-US" b="1" dirty="0"/>
                    <a:t>宿泊者</a:t>
                  </a:r>
                </a:p>
              </p:txBody>
            </p:sp>
          </p:grpSp>
        </p:grpSp>
      </p:grpSp>
      <p:sp>
        <p:nvSpPr>
          <p:cNvPr id="33" name="テキスト ボックス 32">
            <a:extLst>
              <a:ext uri="{FF2B5EF4-FFF2-40B4-BE49-F238E27FC236}">
                <a16:creationId xmlns:a16="http://schemas.microsoft.com/office/drawing/2014/main" id="{7B34B09B-0E27-BE6D-528C-AF3CC74109EC}"/>
              </a:ext>
            </a:extLst>
          </p:cNvPr>
          <p:cNvSpPr txBox="1"/>
          <p:nvPr/>
        </p:nvSpPr>
        <p:spPr>
          <a:xfrm>
            <a:off x="1154957" y="5799522"/>
            <a:ext cx="10336656" cy="830997"/>
          </a:xfrm>
          <a:prstGeom prst="rect">
            <a:avLst/>
          </a:prstGeom>
          <a:noFill/>
        </p:spPr>
        <p:txBody>
          <a:bodyPr wrap="square" rtlCol="0">
            <a:spAutoFit/>
          </a:bodyPr>
          <a:lstStyle/>
          <a:p>
            <a:r>
              <a:rPr lang="ja-JP" altLang="en-US" sz="2400" b="1" dirty="0">
                <a:solidFill>
                  <a:schemeClr val="bg1"/>
                </a:solidFill>
              </a:rPr>
              <a:t>本研究では、</a:t>
            </a:r>
            <a:r>
              <a:rPr lang="ja-JP" altLang="en-US" sz="2400" b="1" u="sng" dirty="0">
                <a:solidFill>
                  <a:schemeClr val="bg1"/>
                </a:solidFill>
              </a:rPr>
              <a:t>口コミデータ</a:t>
            </a:r>
            <a:r>
              <a:rPr lang="en-US" altLang="ja-JP" sz="2400" b="1" u="sng" dirty="0">
                <a:solidFill>
                  <a:schemeClr val="bg1"/>
                </a:solidFill>
              </a:rPr>
              <a:t>(</a:t>
            </a:r>
            <a:r>
              <a:rPr lang="ja-JP" altLang="en-US" sz="2400" b="1" u="sng" dirty="0">
                <a:solidFill>
                  <a:schemeClr val="bg1"/>
                </a:solidFill>
              </a:rPr>
              <a:t>顧客の声</a:t>
            </a:r>
            <a:r>
              <a:rPr lang="en-US" altLang="ja-JP" sz="2400" b="1" u="sng" dirty="0">
                <a:solidFill>
                  <a:schemeClr val="bg1"/>
                </a:solidFill>
              </a:rPr>
              <a:t>)</a:t>
            </a:r>
            <a:r>
              <a:rPr lang="ja-JP" altLang="en-US" sz="2400" b="1" dirty="0">
                <a:solidFill>
                  <a:schemeClr val="bg1"/>
                </a:solidFill>
              </a:rPr>
              <a:t>と</a:t>
            </a:r>
            <a:r>
              <a:rPr lang="ja-JP" altLang="en-US" sz="2400" b="1" u="sng" dirty="0">
                <a:solidFill>
                  <a:schemeClr val="bg1"/>
                </a:solidFill>
              </a:rPr>
              <a:t>需要データ</a:t>
            </a:r>
            <a:r>
              <a:rPr lang="ja-JP" altLang="en-US" sz="2400" b="1" dirty="0">
                <a:solidFill>
                  <a:schemeClr val="bg1"/>
                </a:solidFill>
              </a:rPr>
              <a:t>を活用し</a:t>
            </a:r>
            <a:br>
              <a:rPr lang="ja-JP" altLang="en-US" sz="2400" dirty="0">
                <a:solidFill>
                  <a:schemeClr val="bg1"/>
                </a:solidFill>
              </a:rPr>
            </a:br>
            <a:r>
              <a:rPr lang="ja-JP" altLang="en-US" sz="2400" b="1" dirty="0">
                <a:solidFill>
                  <a:schemeClr val="bg1"/>
                </a:solidFill>
              </a:rPr>
              <a:t>顧客満足度と利益の両立を可能にした</a:t>
            </a:r>
            <a:r>
              <a:rPr lang="ja-JP" altLang="en-US" sz="2400" b="1" u="sng" dirty="0">
                <a:solidFill>
                  <a:schemeClr val="bg1"/>
                </a:solidFill>
              </a:rPr>
              <a:t>価格最適化モデルの開発</a:t>
            </a:r>
            <a:r>
              <a:rPr lang="ja-JP" altLang="en-US" sz="2400" b="1" dirty="0">
                <a:solidFill>
                  <a:schemeClr val="bg1"/>
                </a:solidFill>
              </a:rPr>
              <a:t>を目指している</a:t>
            </a:r>
            <a:endParaRPr kumimoji="1" lang="ja-JP" altLang="en-US" sz="2400" b="1" dirty="0">
              <a:solidFill>
                <a:schemeClr val="bg1"/>
              </a:solidFill>
            </a:endParaRPr>
          </a:p>
        </p:txBody>
      </p:sp>
      <p:sp>
        <p:nvSpPr>
          <p:cNvPr id="4" name="テキスト ボックス 3">
            <a:extLst>
              <a:ext uri="{FF2B5EF4-FFF2-40B4-BE49-F238E27FC236}">
                <a16:creationId xmlns:a16="http://schemas.microsoft.com/office/drawing/2014/main" id="{D0F55D37-95D3-F30D-6706-0557EFF76CA8}"/>
              </a:ext>
            </a:extLst>
          </p:cNvPr>
          <p:cNvSpPr txBox="1"/>
          <p:nvPr/>
        </p:nvSpPr>
        <p:spPr>
          <a:xfrm>
            <a:off x="8010255" y="2376557"/>
            <a:ext cx="3203643" cy="338554"/>
          </a:xfrm>
          <a:prstGeom prst="rect">
            <a:avLst/>
          </a:prstGeom>
          <a:noFill/>
        </p:spPr>
        <p:txBody>
          <a:bodyPr wrap="square" rtlCol="0">
            <a:spAutoFit/>
          </a:bodyPr>
          <a:lstStyle/>
          <a:p>
            <a:r>
              <a:rPr lang="en-US" altLang="ja-JP" sz="1600" dirty="0"/>
              <a:t>(</a:t>
            </a:r>
            <a:r>
              <a:rPr lang="ja-JP" altLang="en-US" sz="1600" dirty="0"/>
              <a:t>価格の急変動により</a:t>
            </a:r>
            <a:r>
              <a:rPr kumimoji="1" lang="en-US" altLang="ja-JP" sz="1600" dirty="0"/>
              <a:t>)</a:t>
            </a:r>
            <a:endParaRPr kumimoji="1" lang="ja-JP" altLang="en-US" sz="1600" dirty="0"/>
          </a:p>
        </p:txBody>
      </p:sp>
      <p:sp>
        <p:nvSpPr>
          <p:cNvPr id="5" name="テキスト ボックス 4">
            <a:extLst>
              <a:ext uri="{FF2B5EF4-FFF2-40B4-BE49-F238E27FC236}">
                <a16:creationId xmlns:a16="http://schemas.microsoft.com/office/drawing/2014/main" id="{351E532A-3111-0551-89FB-91E13193724B}"/>
              </a:ext>
            </a:extLst>
          </p:cNvPr>
          <p:cNvSpPr txBox="1"/>
          <p:nvPr/>
        </p:nvSpPr>
        <p:spPr>
          <a:xfrm>
            <a:off x="5638005" y="1484974"/>
            <a:ext cx="3203643" cy="338554"/>
          </a:xfrm>
          <a:prstGeom prst="rect">
            <a:avLst/>
          </a:prstGeom>
          <a:noFill/>
        </p:spPr>
        <p:txBody>
          <a:bodyPr wrap="square" rtlCol="0">
            <a:spAutoFit/>
          </a:bodyPr>
          <a:lstStyle/>
          <a:p>
            <a:r>
              <a:rPr lang="en-US" altLang="ja-JP" sz="1600" dirty="0"/>
              <a:t>(</a:t>
            </a:r>
            <a:r>
              <a:rPr kumimoji="1" lang="en-US" altLang="ja-JP" sz="1600" dirty="0"/>
              <a:t>Dynamic Pricing)</a:t>
            </a:r>
            <a:endParaRPr kumimoji="1" lang="ja-JP" altLang="en-US" sz="1600" dirty="0"/>
          </a:p>
        </p:txBody>
      </p:sp>
    </p:spTree>
    <p:extLst>
      <p:ext uri="{BB962C8B-B14F-4D97-AF65-F5344CB8AC3E}">
        <p14:creationId xmlns:p14="http://schemas.microsoft.com/office/powerpoint/2010/main" val="897988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C227-0761-153C-2021-B01A5B4E17C2}"/>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1AB10B89-A982-683C-CF97-170C3BA0213E}"/>
              </a:ext>
            </a:extLst>
          </p:cNvPr>
          <p:cNvSpPr/>
          <p:nvPr/>
        </p:nvSpPr>
        <p:spPr>
          <a:xfrm>
            <a:off x="97849" y="1428288"/>
            <a:ext cx="11964449" cy="4842945"/>
          </a:xfrm>
          <a:prstGeom prst="rect">
            <a:avLst/>
          </a:prstGeom>
          <a:noFill/>
          <a:ln w="12700">
            <a:solidFill>
              <a:srgbClr val="1F494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40688C88-9230-D87D-1393-4E34E7666A97}"/>
              </a:ext>
            </a:extLst>
          </p:cNvPr>
          <p:cNvSpPr>
            <a:spLocks noGrp="1"/>
          </p:cNvSpPr>
          <p:nvPr>
            <p:ph idx="1"/>
          </p:nvPr>
        </p:nvSpPr>
        <p:spPr>
          <a:xfrm>
            <a:off x="260834" y="606223"/>
            <a:ext cx="11349318" cy="618573"/>
          </a:xfrm>
        </p:spPr>
        <p:txBody>
          <a:bodyPr>
            <a:normAutofit lnSpcReduction="10000"/>
          </a:bodyPr>
          <a:lstStyle/>
          <a:p>
            <a:r>
              <a:rPr lang="ja-JP" altLang="en-US" sz="2400" dirty="0"/>
              <a:t>口コミからホテルの評価を測定し、価格設定に活用するモデルを開発している。</a:t>
            </a:r>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2FBDF211-7828-2AB6-E85D-40DB9E295564}"/>
              </a:ext>
            </a:extLst>
          </p:cNvPr>
          <p:cNvSpPr>
            <a:spLocks noGrp="1"/>
          </p:cNvSpPr>
          <p:nvPr>
            <p:ph type="body" sz="quarter" idx="11"/>
          </p:nvPr>
        </p:nvSpPr>
        <p:spPr/>
        <p:txBody>
          <a:bodyPr>
            <a:normAutofit fontScale="92500" lnSpcReduction="10000"/>
          </a:bodyPr>
          <a:lstStyle/>
          <a:p>
            <a:r>
              <a:rPr lang="ja-JP" altLang="en-US" b="1" dirty="0"/>
              <a:t>価格最適化モデルの全体構成</a:t>
            </a:r>
            <a:endParaRPr kumimoji="1" lang="ja-JP" altLang="en-US" b="1" dirty="0"/>
          </a:p>
        </p:txBody>
      </p:sp>
      <p:sp>
        <p:nvSpPr>
          <p:cNvPr id="14" name="矢印: 右 13">
            <a:extLst>
              <a:ext uri="{FF2B5EF4-FFF2-40B4-BE49-F238E27FC236}">
                <a16:creationId xmlns:a16="http://schemas.microsoft.com/office/drawing/2014/main" id="{07DF3B51-2522-6FF3-B5BA-D6A27E84122C}"/>
              </a:ext>
            </a:extLst>
          </p:cNvPr>
          <p:cNvSpPr/>
          <p:nvPr/>
        </p:nvSpPr>
        <p:spPr>
          <a:xfrm>
            <a:off x="2445752" y="2485732"/>
            <a:ext cx="1817336" cy="338554"/>
          </a:xfrm>
          <a:prstGeom prst="rightArrow">
            <a:avLst/>
          </a:prstGeom>
          <a:solidFill>
            <a:schemeClr val="accent4">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A9F8806-3EAC-05A1-2447-A273AE605CBF}"/>
              </a:ext>
            </a:extLst>
          </p:cNvPr>
          <p:cNvSpPr txBox="1"/>
          <p:nvPr/>
        </p:nvSpPr>
        <p:spPr>
          <a:xfrm>
            <a:off x="2712855" y="3294344"/>
            <a:ext cx="1817336" cy="523220"/>
          </a:xfrm>
          <a:prstGeom prst="rect">
            <a:avLst/>
          </a:prstGeom>
          <a:noFill/>
        </p:spPr>
        <p:txBody>
          <a:bodyPr wrap="square" rtlCol="0">
            <a:spAutoFit/>
          </a:bodyPr>
          <a:lstStyle/>
          <a:p>
            <a:r>
              <a:rPr kumimoji="1" lang="ja-JP" altLang="en-US" sz="1400" b="1" dirty="0">
                <a:solidFill>
                  <a:srgbClr val="1F4944"/>
                </a:solidFill>
              </a:rPr>
              <a:t>感情分析モデル </a:t>
            </a:r>
            <a:endParaRPr lang="en-US" altLang="ja-JP" sz="1400" b="1" dirty="0">
              <a:solidFill>
                <a:srgbClr val="1F4944"/>
              </a:solidFill>
            </a:endParaRPr>
          </a:p>
          <a:p>
            <a:r>
              <a:rPr kumimoji="1" lang="ja-JP" altLang="en-US" sz="1400" b="1" dirty="0">
                <a:solidFill>
                  <a:srgbClr val="1F4944"/>
                </a:solidFill>
              </a:rPr>
              <a:t>  </a:t>
            </a:r>
            <a:r>
              <a:rPr kumimoji="1" lang="en-US" altLang="ja-JP" sz="1400" dirty="0">
                <a:solidFill>
                  <a:srgbClr val="1F4944"/>
                </a:solidFill>
              </a:rPr>
              <a:t>LLM</a:t>
            </a:r>
            <a:r>
              <a:rPr kumimoji="1" lang="ja-JP" altLang="en-US" sz="1400" dirty="0">
                <a:solidFill>
                  <a:srgbClr val="1F4944"/>
                </a:solidFill>
              </a:rPr>
              <a:t>・</a:t>
            </a:r>
            <a:r>
              <a:rPr kumimoji="1" lang="en-US" altLang="ja-JP" sz="1400" dirty="0">
                <a:solidFill>
                  <a:srgbClr val="1F4944"/>
                </a:solidFill>
              </a:rPr>
              <a:t>BERT</a:t>
            </a:r>
            <a:endParaRPr kumimoji="1" lang="ja-JP" altLang="en-US" sz="1400" dirty="0">
              <a:solidFill>
                <a:srgbClr val="1F4944"/>
              </a:solidFill>
            </a:endParaRPr>
          </a:p>
        </p:txBody>
      </p:sp>
      <p:grpSp>
        <p:nvGrpSpPr>
          <p:cNvPr id="94" name="グループ化 93">
            <a:extLst>
              <a:ext uri="{FF2B5EF4-FFF2-40B4-BE49-F238E27FC236}">
                <a16:creationId xmlns:a16="http://schemas.microsoft.com/office/drawing/2014/main" id="{60FE9BEE-8706-261F-31FB-11DFABD617CB}"/>
              </a:ext>
            </a:extLst>
          </p:cNvPr>
          <p:cNvGrpSpPr/>
          <p:nvPr/>
        </p:nvGrpSpPr>
        <p:grpSpPr>
          <a:xfrm>
            <a:off x="198905" y="1762540"/>
            <a:ext cx="2258055" cy="1192890"/>
            <a:chOff x="198905" y="1762540"/>
            <a:chExt cx="2258055" cy="1192890"/>
          </a:xfrm>
        </p:grpSpPr>
        <p:sp>
          <p:nvSpPr>
            <p:cNvPr id="8" name="テキスト ボックス 7">
              <a:extLst>
                <a:ext uri="{FF2B5EF4-FFF2-40B4-BE49-F238E27FC236}">
                  <a16:creationId xmlns:a16="http://schemas.microsoft.com/office/drawing/2014/main" id="{E9499073-BF3F-EC37-9C62-01E405EFC908}"/>
                </a:ext>
              </a:extLst>
            </p:cNvPr>
            <p:cNvSpPr txBox="1"/>
            <p:nvPr/>
          </p:nvSpPr>
          <p:spPr>
            <a:xfrm>
              <a:off x="452275" y="2616876"/>
              <a:ext cx="1725594" cy="338554"/>
            </a:xfrm>
            <a:prstGeom prst="rect">
              <a:avLst/>
            </a:prstGeom>
            <a:noFill/>
          </p:spPr>
          <p:txBody>
            <a:bodyPr wrap="square" rtlCol="0">
              <a:spAutoFit/>
            </a:bodyPr>
            <a:lstStyle/>
            <a:p>
              <a:r>
                <a:rPr lang="ja-JP" altLang="en-US" sz="1600" b="1" dirty="0"/>
                <a:t>予約サイト口コミ</a:t>
              </a:r>
              <a:endParaRPr lang="en-US" altLang="ja-JP" sz="1600" b="1" dirty="0"/>
            </a:p>
          </p:txBody>
        </p:sp>
        <p:grpSp>
          <p:nvGrpSpPr>
            <p:cNvPr id="78" name="グループ化 77">
              <a:extLst>
                <a:ext uri="{FF2B5EF4-FFF2-40B4-BE49-F238E27FC236}">
                  <a16:creationId xmlns:a16="http://schemas.microsoft.com/office/drawing/2014/main" id="{F08D47F4-6BE0-DF4C-DBA7-F0E0809138E0}"/>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03289E19-4C12-C7D4-E0E8-2DAB188742D1}"/>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498E15FA-ACFC-6CE5-FBED-5AF099394605}"/>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39EB6C6B-0EE3-B10A-DD90-5C6440D84A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DA0DDFC1-9EC1-4876-39C1-F4737BD6D309}"/>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8E535822-F5F7-E8F2-9BE0-56427BE11CD4}"/>
              </a:ext>
            </a:extLst>
          </p:cNvPr>
          <p:cNvGraphicFramePr>
            <a:graphicFrameLocks noGrp="1"/>
          </p:cNvGraphicFramePr>
          <p:nvPr>
            <p:extLst>
              <p:ext uri="{D42A27DB-BD31-4B8C-83A1-F6EECF244321}">
                <p14:modId xmlns:p14="http://schemas.microsoft.com/office/powerpoint/2010/main" val="1502107276"/>
              </p:ext>
            </p:extLst>
          </p:nvPr>
        </p:nvGraphicFramePr>
        <p:xfrm>
          <a:off x="4645896" y="2206871"/>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1" dirty="0"/>
                        <a:t>清掃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600" b="1" dirty="0"/>
                        <a:t>食事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8567066"/>
                  </a:ext>
                </a:extLst>
              </a:tr>
              <a:tr h="323166">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4C717364-0C2C-ABC8-5729-60DCE685B03D}"/>
              </a:ext>
            </a:extLst>
          </p:cNvPr>
          <p:cNvSpPr txBox="1"/>
          <p:nvPr/>
        </p:nvSpPr>
        <p:spPr>
          <a:xfrm>
            <a:off x="2520637" y="2075659"/>
            <a:ext cx="1698851"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観点別に定量化</a:t>
            </a:r>
            <a:endParaRPr kumimoji="1" lang="ja-JP" altLang="en-US" sz="1600" b="1" dirty="0"/>
          </a:p>
        </p:txBody>
      </p:sp>
      <p:sp>
        <p:nvSpPr>
          <p:cNvPr id="37" name="テキスト ボックス 36">
            <a:extLst>
              <a:ext uri="{FF2B5EF4-FFF2-40B4-BE49-F238E27FC236}">
                <a16:creationId xmlns:a16="http://schemas.microsoft.com/office/drawing/2014/main" id="{646F0221-2DD9-3A91-9A44-8F11DCE3A3A5}"/>
              </a:ext>
            </a:extLst>
          </p:cNvPr>
          <p:cNvSpPr txBox="1"/>
          <p:nvPr/>
        </p:nvSpPr>
        <p:spPr>
          <a:xfrm>
            <a:off x="3849317" y="4198123"/>
            <a:ext cx="1967980"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将来の稼働率を予測</a:t>
            </a:r>
            <a:endParaRPr kumimoji="1" lang="ja-JP" altLang="en-US" sz="1600" b="1" dirty="0"/>
          </a:p>
        </p:txBody>
      </p:sp>
      <p:grpSp>
        <p:nvGrpSpPr>
          <p:cNvPr id="55" name="グループ化 54">
            <a:extLst>
              <a:ext uri="{FF2B5EF4-FFF2-40B4-BE49-F238E27FC236}">
                <a16:creationId xmlns:a16="http://schemas.microsoft.com/office/drawing/2014/main" id="{064A5F3B-5BDE-C174-C4D7-0321CC43DF42}"/>
              </a:ext>
            </a:extLst>
          </p:cNvPr>
          <p:cNvGrpSpPr/>
          <p:nvPr/>
        </p:nvGrpSpPr>
        <p:grpSpPr>
          <a:xfrm>
            <a:off x="9966603" y="2761661"/>
            <a:ext cx="1941162" cy="1685556"/>
            <a:chOff x="9062645" y="2023293"/>
            <a:chExt cx="1941162" cy="1685556"/>
          </a:xfrm>
        </p:grpSpPr>
        <p:pic>
          <p:nvPicPr>
            <p:cNvPr id="56" name="図 55" descr="アイコン&#10;&#10;AI 生成コンテンツは誤りを含む可能性があります。">
              <a:extLst>
                <a:ext uri="{FF2B5EF4-FFF2-40B4-BE49-F238E27FC236}">
                  <a16:creationId xmlns:a16="http://schemas.microsoft.com/office/drawing/2014/main" id="{BBAC40CC-788F-FA62-1562-6A7258E584D1}"/>
                </a:ext>
              </a:extLst>
            </p:cNvPr>
            <p:cNvPicPr>
              <a:picLocks noChangeAspect="1"/>
            </p:cNvPicPr>
            <p:nvPr/>
          </p:nvPicPr>
          <p:blipFill>
            <a:blip r:embed="rId4" cstate="print">
              <a:extLst>
                <a:ext uri="{28A0092B-C50C-407E-A947-70E740481C1C}">
                  <a14:useLocalDpi xmlns:a14="http://schemas.microsoft.com/office/drawing/2010/main" val="0"/>
                </a:ext>
              </a:extLst>
            </a:blip>
            <a:srcRect l="25864" t="51762" r="6336" b="-2321"/>
            <a:stretch>
              <a:fillRect/>
            </a:stretch>
          </p:blipFill>
          <p:spPr>
            <a:xfrm>
              <a:off x="9175266" y="2630778"/>
              <a:ext cx="1062042" cy="773173"/>
            </a:xfrm>
            <a:prstGeom prst="rect">
              <a:avLst/>
            </a:prstGeom>
          </p:spPr>
        </p:pic>
        <p:sp>
          <p:nvSpPr>
            <p:cNvPr id="57" name="吹き出し: 四角形 56">
              <a:extLst>
                <a:ext uri="{FF2B5EF4-FFF2-40B4-BE49-F238E27FC236}">
                  <a16:creationId xmlns:a16="http://schemas.microsoft.com/office/drawing/2014/main" id="{67A54E63-874A-A70A-80C8-2F2A9C9C36B3}"/>
                </a:ext>
              </a:extLst>
            </p:cNvPr>
            <p:cNvSpPr/>
            <p:nvPr/>
          </p:nvSpPr>
          <p:spPr>
            <a:xfrm>
              <a:off x="9561649" y="2023293"/>
              <a:ext cx="1407180" cy="576856"/>
            </a:xfrm>
            <a:prstGeom prst="wedgeRectCallout">
              <a:avLst>
                <a:gd name="adj1" fmla="val -26210"/>
                <a:gd name="adj2" fmla="val 7805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AB4747EC-9644-C7EA-58B3-171CC87B2523}"/>
                </a:ext>
              </a:extLst>
            </p:cNvPr>
            <p:cNvSpPr txBox="1"/>
            <p:nvPr/>
          </p:nvSpPr>
          <p:spPr>
            <a:xfrm>
              <a:off x="9062645" y="3401072"/>
              <a:ext cx="1841214" cy="307777"/>
            </a:xfrm>
            <a:prstGeom prst="rect">
              <a:avLst/>
            </a:prstGeom>
            <a:noFill/>
          </p:spPr>
          <p:txBody>
            <a:bodyPr wrap="square" rtlCol="0">
              <a:spAutoFit/>
            </a:bodyPr>
            <a:lstStyle/>
            <a:p>
              <a:r>
                <a:rPr lang="ja-JP" altLang="en-US" sz="1400" b="1" dirty="0"/>
                <a:t>価格提案</a:t>
              </a:r>
              <a:r>
                <a:rPr lang="en-US" altLang="ja-JP" sz="1400" b="1" dirty="0"/>
                <a:t>AI</a:t>
              </a:r>
            </a:p>
          </p:txBody>
        </p:sp>
        <p:sp>
          <p:nvSpPr>
            <p:cNvPr id="59" name="テキスト ボックス 58">
              <a:extLst>
                <a:ext uri="{FF2B5EF4-FFF2-40B4-BE49-F238E27FC236}">
                  <a16:creationId xmlns:a16="http://schemas.microsoft.com/office/drawing/2014/main" id="{161096C0-0A90-5D4C-3DD7-9446D1C6CD33}"/>
                </a:ext>
              </a:extLst>
            </p:cNvPr>
            <p:cNvSpPr txBox="1"/>
            <p:nvPr/>
          </p:nvSpPr>
          <p:spPr>
            <a:xfrm>
              <a:off x="9596627" y="2047785"/>
              <a:ext cx="140718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latin typeface="+mn-ea"/>
                </a:rPr>
                <a:t>部屋価格は</a:t>
              </a:r>
              <a:endParaRPr lang="en-US" altLang="ja-JP" sz="1400" b="1">
                <a:latin typeface="+mn-ea"/>
              </a:endParaRPr>
            </a:p>
            <a:p>
              <a:r>
                <a:rPr lang="en-US" altLang="ja-JP" sz="1400" b="1">
                  <a:latin typeface="+mn-ea"/>
                </a:rPr>
                <a:t>16000</a:t>
              </a:r>
              <a:r>
                <a:rPr lang="ja-JP" altLang="en-US" sz="1400" b="1">
                  <a:latin typeface="+mn-ea"/>
                </a:rPr>
                <a:t>円</a:t>
              </a:r>
              <a:r>
                <a:rPr lang="ja-JP" altLang="en-US" sz="1400" b="1" dirty="0">
                  <a:latin typeface="+mn-ea"/>
                </a:rPr>
                <a:t>を提案</a:t>
              </a:r>
              <a:endParaRPr lang="en-US" altLang="ja-JP" sz="1400" b="1" dirty="0">
                <a:latin typeface="+mn-ea"/>
              </a:endParaRPr>
            </a:p>
          </p:txBody>
        </p:sp>
      </p:grpSp>
      <p:pic>
        <p:nvPicPr>
          <p:cNvPr id="64" name="図 63">
            <a:extLst>
              <a:ext uri="{FF2B5EF4-FFF2-40B4-BE49-F238E27FC236}">
                <a16:creationId xmlns:a16="http://schemas.microsoft.com/office/drawing/2014/main" id="{5859BE34-EDD5-0368-8FE3-99E832A83F7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1443" y="2766748"/>
            <a:ext cx="479884" cy="520497"/>
          </a:xfrm>
          <a:prstGeom prst="rect">
            <a:avLst/>
          </a:prstGeom>
        </p:spPr>
      </p:pic>
      <p:grpSp>
        <p:nvGrpSpPr>
          <p:cNvPr id="54" name="グループ化 53">
            <a:extLst>
              <a:ext uri="{FF2B5EF4-FFF2-40B4-BE49-F238E27FC236}">
                <a16:creationId xmlns:a16="http://schemas.microsoft.com/office/drawing/2014/main" id="{8BD133CE-E95E-1267-483E-F3D0D6743CFE}"/>
              </a:ext>
            </a:extLst>
          </p:cNvPr>
          <p:cNvGrpSpPr/>
          <p:nvPr/>
        </p:nvGrpSpPr>
        <p:grpSpPr>
          <a:xfrm>
            <a:off x="9454539" y="5101935"/>
            <a:ext cx="2155612" cy="886522"/>
            <a:chOff x="3566159" y="5151120"/>
            <a:chExt cx="2155612" cy="978785"/>
          </a:xfrm>
          <a:noFill/>
        </p:grpSpPr>
        <p:sp>
          <p:nvSpPr>
            <p:cNvPr id="52" name="四角形: 角を丸くする 51">
              <a:extLst>
                <a:ext uri="{FF2B5EF4-FFF2-40B4-BE49-F238E27FC236}">
                  <a16:creationId xmlns:a16="http://schemas.microsoft.com/office/drawing/2014/main" id="{16475C94-301F-4928-B47C-A91446F3E740}"/>
                </a:ext>
              </a:extLst>
            </p:cNvPr>
            <p:cNvSpPr/>
            <p:nvPr/>
          </p:nvSpPr>
          <p:spPr>
            <a:xfrm>
              <a:off x="3566159" y="5151120"/>
              <a:ext cx="2155611" cy="978785"/>
            </a:xfrm>
            <a:prstGeom prst="wedgeRectCallout">
              <a:avLst>
                <a:gd name="adj1" fmla="val -27897"/>
                <a:gd name="adj2" fmla="val 62500"/>
              </a:avLst>
            </a:prstGeom>
            <a:grpFill/>
            <a:ln w="1905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71" name="テキスト ボックス 70">
              <a:extLst>
                <a:ext uri="{FF2B5EF4-FFF2-40B4-BE49-F238E27FC236}">
                  <a16:creationId xmlns:a16="http://schemas.microsoft.com/office/drawing/2014/main" id="{B01CC1CD-E53A-F7C3-B894-721B3036FC56}"/>
                </a:ext>
              </a:extLst>
            </p:cNvPr>
            <p:cNvSpPr txBox="1"/>
            <p:nvPr/>
          </p:nvSpPr>
          <p:spPr>
            <a:xfrm>
              <a:off x="3729528" y="5207263"/>
              <a:ext cx="1992243" cy="917481"/>
            </a:xfrm>
            <a:prstGeom prst="wedgeRectCallout">
              <a:avLst/>
            </a:prstGeom>
            <a:grp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latin typeface="+mn-ea"/>
                </a:rPr>
                <a:t>顧客の評価と</a:t>
              </a:r>
              <a:endParaRPr lang="en-US" altLang="ja-JP" sz="1600" b="1" dirty="0">
                <a:latin typeface="+mn-ea"/>
              </a:endParaRPr>
            </a:p>
            <a:p>
              <a:r>
                <a:rPr lang="ja-JP" altLang="en-US" sz="1600" b="1" dirty="0">
                  <a:latin typeface="+mn-ea"/>
                </a:rPr>
                <a:t>需要を考慮した</a:t>
              </a:r>
              <a:endParaRPr lang="en-US" altLang="ja-JP" sz="1600" b="1" dirty="0">
                <a:latin typeface="+mn-ea"/>
              </a:endParaRPr>
            </a:p>
            <a:p>
              <a:r>
                <a:rPr lang="ja-JP" altLang="en-US" sz="1600" b="1" dirty="0">
                  <a:latin typeface="+mn-ea"/>
                </a:rPr>
                <a:t>価格設定が可能に！</a:t>
              </a:r>
              <a:endParaRPr lang="en-US" altLang="ja-JP" sz="1600" b="1" dirty="0">
                <a:latin typeface="+mn-ea"/>
              </a:endParaRPr>
            </a:p>
          </p:txBody>
        </p:sp>
      </p:grpSp>
      <p:grpSp>
        <p:nvGrpSpPr>
          <p:cNvPr id="6" name="グループ化 5">
            <a:extLst>
              <a:ext uri="{FF2B5EF4-FFF2-40B4-BE49-F238E27FC236}">
                <a16:creationId xmlns:a16="http://schemas.microsoft.com/office/drawing/2014/main" id="{736FAF31-A821-8432-44DA-44207BE42439}"/>
              </a:ext>
            </a:extLst>
          </p:cNvPr>
          <p:cNvGrpSpPr/>
          <p:nvPr/>
        </p:nvGrpSpPr>
        <p:grpSpPr>
          <a:xfrm>
            <a:off x="5713616" y="4982661"/>
            <a:ext cx="1367806" cy="1143619"/>
            <a:chOff x="9277860" y="2602440"/>
            <a:chExt cx="1212105" cy="1016679"/>
          </a:xfrm>
        </p:grpSpPr>
        <p:sp>
          <p:nvSpPr>
            <p:cNvPr id="48" name="テキスト ボックス 47">
              <a:extLst>
                <a:ext uri="{FF2B5EF4-FFF2-40B4-BE49-F238E27FC236}">
                  <a16:creationId xmlns:a16="http://schemas.microsoft.com/office/drawing/2014/main" id="{1ACCBD78-6993-43E1-DA5D-94762E14B986}"/>
                </a:ext>
              </a:extLst>
            </p:cNvPr>
            <p:cNvSpPr txBox="1"/>
            <p:nvPr/>
          </p:nvSpPr>
          <p:spPr>
            <a:xfrm>
              <a:off x="9277860" y="3126614"/>
              <a:ext cx="1212105" cy="492505"/>
            </a:xfrm>
            <a:prstGeom prst="rect">
              <a:avLst/>
            </a:prstGeom>
            <a:noFill/>
          </p:spPr>
          <p:txBody>
            <a:bodyPr wrap="square" rtlCol="0">
              <a:spAutoFit/>
            </a:bodyPr>
            <a:lstStyle/>
            <a:p>
              <a:r>
                <a:rPr lang="ja-JP" altLang="en-US" sz="1600" b="1" dirty="0">
                  <a:latin typeface="+mn-ea"/>
                </a:rPr>
                <a:t> </a:t>
              </a:r>
              <a:r>
                <a:rPr lang="ja-JP" altLang="en-US" sz="1400" b="1" dirty="0">
                  <a:latin typeface="+mn-ea"/>
                </a:rPr>
                <a:t>稼働率</a:t>
              </a:r>
              <a:br>
                <a:rPr lang="en-US" altLang="ja-JP" sz="1400" b="1" dirty="0">
                  <a:latin typeface="+mn-ea"/>
                </a:rPr>
              </a:br>
              <a:r>
                <a:rPr lang="ja-JP" altLang="en-US" sz="1400" b="1" dirty="0">
                  <a:latin typeface="+mn-ea"/>
                </a:rPr>
                <a:t>予測結果</a:t>
              </a:r>
              <a:endParaRPr lang="en-US" altLang="ja-JP" sz="1400" b="1" dirty="0">
                <a:latin typeface="+mn-ea"/>
              </a:endParaRPr>
            </a:p>
          </p:txBody>
        </p:sp>
        <p:pic>
          <p:nvPicPr>
            <p:cNvPr id="76" name="図 75">
              <a:extLst>
                <a:ext uri="{FF2B5EF4-FFF2-40B4-BE49-F238E27FC236}">
                  <a16:creationId xmlns:a16="http://schemas.microsoft.com/office/drawing/2014/main" id="{D9C0FD5E-6216-BCEC-9D6B-D3426EC6D634}"/>
                </a:ext>
              </a:extLst>
            </p:cNvPr>
            <p:cNvPicPr>
              <a:picLocks noChangeAspect="1"/>
            </p:cNvPicPr>
            <p:nvPr/>
          </p:nvPicPr>
          <p:blipFill>
            <a:blip r:embed="rId6" cstate="print">
              <a:extLst>
                <a:ext uri="{28A0092B-C50C-407E-A947-70E740481C1C}">
                  <a14:useLocalDpi xmlns:a14="http://schemas.microsoft.com/office/drawing/2010/main" val="0"/>
                </a:ext>
              </a:extLst>
            </a:blip>
            <a:srcRect l="-1755" t="65812" r="60843" b="-516"/>
            <a:stretch>
              <a:fillRect/>
            </a:stretch>
          </p:blipFill>
          <p:spPr>
            <a:xfrm>
              <a:off x="9305384" y="2602440"/>
              <a:ext cx="726022" cy="582314"/>
            </a:xfrm>
            <a:prstGeom prst="rect">
              <a:avLst/>
            </a:prstGeom>
          </p:spPr>
        </p:pic>
      </p:grpSp>
      <p:cxnSp>
        <p:nvCxnSpPr>
          <p:cNvPr id="105" name="コネクタ: カギ線 104">
            <a:extLst>
              <a:ext uri="{FF2B5EF4-FFF2-40B4-BE49-F238E27FC236}">
                <a16:creationId xmlns:a16="http://schemas.microsoft.com/office/drawing/2014/main" id="{BCFD69B9-5A10-2CB5-10BE-3C20E7CCDD85}"/>
              </a:ext>
            </a:extLst>
          </p:cNvPr>
          <p:cNvCxnSpPr>
            <a:cxnSpLocks/>
            <a:stCxn id="13" idx="3"/>
            <a:endCxn id="56" idx="1"/>
          </p:cNvCxnSpPr>
          <p:nvPr/>
        </p:nvCxnSpPr>
        <p:spPr>
          <a:xfrm>
            <a:off x="7641978" y="2658701"/>
            <a:ext cx="2437246" cy="1097032"/>
          </a:xfrm>
          <a:prstGeom prst="bentConnector3">
            <a:avLst>
              <a:gd name="adj1" fmla="val 12333"/>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sp>
        <p:nvSpPr>
          <p:cNvPr id="136" name="テキスト ボックス 135">
            <a:extLst>
              <a:ext uri="{FF2B5EF4-FFF2-40B4-BE49-F238E27FC236}">
                <a16:creationId xmlns:a16="http://schemas.microsoft.com/office/drawing/2014/main" id="{7880238A-2E88-6708-08C6-D59FF099D1D7}"/>
              </a:ext>
            </a:extLst>
          </p:cNvPr>
          <p:cNvSpPr txBox="1"/>
          <p:nvPr/>
        </p:nvSpPr>
        <p:spPr>
          <a:xfrm>
            <a:off x="8542024" y="4410451"/>
            <a:ext cx="1350122" cy="307777"/>
          </a:xfrm>
          <a:prstGeom prst="rect">
            <a:avLst/>
          </a:prstGeom>
          <a:noFill/>
        </p:spPr>
        <p:txBody>
          <a:bodyPr wrap="square" rtlCol="0">
            <a:spAutoFit/>
          </a:bodyPr>
          <a:lstStyle/>
          <a:p>
            <a:r>
              <a:rPr lang="ja-JP" altLang="en-US" sz="1400" b="1" dirty="0">
                <a:solidFill>
                  <a:srgbClr val="882312"/>
                </a:solidFill>
              </a:rPr>
              <a:t>価格提案モデル</a:t>
            </a:r>
          </a:p>
        </p:txBody>
      </p:sp>
      <p:pic>
        <p:nvPicPr>
          <p:cNvPr id="137" name="図 136">
            <a:extLst>
              <a:ext uri="{FF2B5EF4-FFF2-40B4-BE49-F238E27FC236}">
                <a16:creationId xmlns:a16="http://schemas.microsoft.com/office/drawing/2014/main" id="{D074184F-44ED-D7E5-EDB5-210A98B6D22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6541" y="3944954"/>
            <a:ext cx="413511" cy="467829"/>
          </a:xfrm>
          <a:prstGeom prst="rect">
            <a:avLst/>
          </a:prstGeom>
        </p:spPr>
      </p:pic>
      <p:sp>
        <p:nvSpPr>
          <p:cNvPr id="150" name="テキスト ボックス 149">
            <a:extLst>
              <a:ext uri="{FF2B5EF4-FFF2-40B4-BE49-F238E27FC236}">
                <a16:creationId xmlns:a16="http://schemas.microsoft.com/office/drawing/2014/main" id="{3DADBE0C-D87F-4A71-2CA0-865789431B88}"/>
              </a:ext>
            </a:extLst>
          </p:cNvPr>
          <p:cNvSpPr txBox="1"/>
          <p:nvPr/>
        </p:nvSpPr>
        <p:spPr>
          <a:xfrm>
            <a:off x="2508612" y="1790437"/>
            <a:ext cx="734400"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endParaRPr kumimoji="1" lang="ja-JP" altLang="en-US" sz="1600" b="1" dirty="0">
              <a:solidFill>
                <a:schemeClr val="bg1"/>
              </a:solidFill>
            </a:endParaRPr>
          </a:p>
        </p:txBody>
      </p:sp>
      <p:sp>
        <p:nvSpPr>
          <p:cNvPr id="151" name="テキスト ボックス 150">
            <a:extLst>
              <a:ext uri="{FF2B5EF4-FFF2-40B4-BE49-F238E27FC236}">
                <a16:creationId xmlns:a16="http://schemas.microsoft.com/office/drawing/2014/main" id="{69941855-1326-EF17-4DF3-D67716B4880D}"/>
              </a:ext>
            </a:extLst>
          </p:cNvPr>
          <p:cNvSpPr txBox="1"/>
          <p:nvPr/>
        </p:nvSpPr>
        <p:spPr>
          <a:xfrm>
            <a:off x="3835339" y="3905056"/>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a:t>
            </a:r>
            <a:endParaRPr kumimoji="1" lang="ja-JP" altLang="en-US" sz="1600" b="1" dirty="0">
              <a:solidFill>
                <a:schemeClr val="bg1"/>
              </a:solidFill>
            </a:endParaRPr>
          </a:p>
        </p:txBody>
      </p:sp>
      <p:grpSp>
        <p:nvGrpSpPr>
          <p:cNvPr id="35" name="グループ化 34">
            <a:extLst>
              <a:ext uri="{FF2B5EF4-FFF2-40B4-BE49-F238E27FC236}">
                <a16:creationId xmlns:a16="http://schemas.microsoft.com/office/drawing/2014/main" id="{44FCF445-B77B-B578-A2FB-32522AA8A413}"/>
              </a:ext>
            </a:extLst>
          </p:cNvPr>
          <p:cNvGrpSpPr/>
          <p:nvPr/>
        </p:nvGrpSpPr>
        <p:grpSpPr>
          <a:xfrm>
            <a:off x="8191170" y="2965014"/>
            <a:ext cx="1771701" cy="626309"/>
            <a:chOff x="7621355" y="2997247"/>
            <a:chExt cx="1771701" cy="626309"/>
          </a:xfrm>
        </p:grpSpPr>
        <p:sp>
          <p:nvSpPr>
            <p:cNvPr id="62" name="テキスト ボックス 61">
              <a:extLst>
                <a:ext uri="{FF2B5EF4-FFF2-40B4-BE49-F238E27FC236}">
                  <a16:creationId xmlns:a16="http://schemas.microsoft.com/office/drawing/2014/main" id="{28AEB102-499D-56F6-4357-AE0A0D82FF42}"/>
                </a:ext>
              </a:extLst>
            </p:cNvPr>
            <p:cNvSpPr txBox="1"/>
            <p:nvPr/>
          </p:nvSpPr>
          <p:spPr>
            <a:xfrm>
              <a:off x="7635060" y="3285002"/>
              <a:ext cx="1757996"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適切な価格を提案</a:t>
              </a:r>
              <a:endParaRPr kumimoji="1" lang="en-US" altLang="ja-JP" sz="1600" b="1" dirty="0"/>
            </a:p>
          </p:txBody>
        </p:sp>
        <p:sp>
          <p:nvSpPr>
            <p:cNvPr id="152" name="テキスト ボックス 151">
              <a:extLst>
                <a:ext uri="{FF2B5EF4-FFF2-40B4-BE49-F238E27FC236}">
                  <a16:creationId xmlns:a16="http://schemas.microsoft.com/office/drawing/2014/main" id="{93ECE577-5F53-EFC5-CB61-C9814A096FB0}"/>
                </a:ext>
              </a:extLst>
            </p:cNvPr>
            <p:cNvSpPr txBox="1"/>
            <p:nvPr/>
          </p:nvSpPr>
          <p:spPr>
            <a:xfrm>
              <a:off x="7621355" y="2997247"/>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a:t>
              </a:r>
              <a:endParaRPr kumimoji="1" lang="ja-JP" altLang="en-US" sz="1600" b="1" dirty="0">
                <a:solidFill>
                  <a:schemeClr val="bg1"/>
                </a:solidFill>
              </a:endParaRPr>
            </a:p>
          </p:txBody>
        </p:sp>
      </p:grpSp>
      <p:grpSp>
        <p:nvGrpSpPr>
          <p:cNvPr id="81" name="グループ化 80">
            <a:extLst>
              <a:ext uri="{FF2B5EF4-FFF2-40B4-BE49-F238E27FC236}">
                <a16:creationId xmlns:a16="http://schemas.microsoft.com/office/drawing/2014/main" id="{93934ABA-13CF-3100-63C9-EFC9160C99B2}"/>
              </a:ext>
            </a:extLst>
          </p:cNvPr>
          <p:cNvGrpSpPr/>
          <p:nvPr/>
        </p:nvGrpSpPr>
        <p:grpSpPr>
          <a:xfrm>
            <a:off x="4484597" y="1598819"/>
            <a:ext cx="3503000" cy="1792524"/>
            <a:chOff x="4620787" y="1598819"/>
            <a:chExt cx="3503000" cy="1792524"/>
          </a:xfrm>
        </p:grpSpPr>
        <p:sp>
          <p:nvSpPr>
            <p:cNvPr id="29" name="テキスト ボックス 28">
              <a:extLst>
                <a:ext uri="{FF2B5EF4-FFF2-40B4-BE49-F238E27FC236}">
                  <a16:creationId xmlns:a16="http://schemas.microsoft.com/office/drawing/2014/main" id="{CF21DB26-831A-20B9-7DD0-382ABF9E49BA}"/>
                </a:ext>
              </a:extLst>
            </p:cNvPr>
            <p:cNvSpPr txBox="1"/>
            <p:nvPr/>
          </p:nvSpPr>
          <p:spPr>
            <a:xfrm>
              <a:off x="6664880" y="2880516"/>
              <a:ext cx="1458907" cy="307777"/>
            </a:xfrm>
            <a:prstGeom prst="rect">
              <a:avLst/>
            </a:prstGeom>
            <a:noFill/>
          </p:spPr>
          <p:txBody>
            <a:bodyPr wrap="square" rtlCol="0">
              <a:spAutoFit/>
            </a:bodyPr>
            <a:lstStyle/>
            <a:p>
              <a:r>
                <a:rPr lang="ja-JP" altLang="en-US" sz="1400" b="1" dirty="0"/>
                <a:t>経営データ</a:t>
              </a:r>
              <a:endParaRPr lang="en-US" altLang="ja-JP" sz="1400" b="1" dirty="0"/>
            </a:p>
          </p:txBody>
        </p:sp>
        <p:pic>
          <p:nvPicPr>
            <p:cNvPr id="74" name="図 73">
              <a:extLst>
                <a:ext uri="{FF2B5EF4-FFF2-40B4-BE49-F238E27FC236}">
                  <a16:creationId xmlns:a16="http://schemas.microsoft.com/office/drawing/2014/main" id="{D28A3332-868C-2F6A-0502-A859804100C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646" y="2267831"/>
              <a:ext cx="583032" cy="599106"/>
            </a:xfrm>
            <a:prstGeom prst="rect">
              <a:avLst/>
            </a:prstGeom>
          </p:spPr>
        </p:pic>
        <p:sp>
          <p:nvSpPr>
            <p:cNvPr id="11" name="テキスト ボックス 10">
              <a:extLst>
                <a:ext uri="{FF2B5EF4-FFF2-40B4-BE49-F238E27FC236}">
                  <a16:creationId xmlns:a16="http://schemas.microsoft.com/office/drawing/2014/main" id="{4412AAE8-95CC-3766-4DD8-44DE4E22C5FA}"/>
                </a:ext>
              </a:extLst>
            </p:cNvPr>
            <p:cNvSpPr txBox="1"/>
            <p:nvPr/>
          </p:nvSpPr>
          <p:spPr>
            <a:xfrm>
              <a:off x="4751306" y="2872223"/>
              <a:ext cx="1674678" cy="307777"/>
            </a:xfrm>
            <a:prstGeom prst="rect">
              <a:avLst/>
            </a:prstGeom>
            <a:noFill/>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3878D335-BF78-F8FE-DCCD-B63E94E78128}"/>
                </a:ext>
              </a:extLst>
            </p:cNvPr>
            <p:cNvSpPr/>
            <p:nvPr/>
          </p:nvSpPr>
          <p:spPr>
            <a:xfrm>
              <a:off x="4620787" y="1926058"/>
              <a:ext cx="3157381" cy="1465285"/>
            </a:xfrm>
            <a:prstGeom prst="roundRect">
              <a:avLst/>
            </a:prstGeom>
            <a:noFill/>
            <a:ln w="19050" cap="flat" cmpd="sng" algn="ctr">
              <a:solidFill>
                <a:schemeClr val="accent4">
                  <a:lumMod val="75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2B016788-0472-58C8-95F4-A7FC5BC26CCA}"/>
                </a:ext>
              </a:extLst>
            </p:cNvPr>
            <p:cNvSpPr txBox="1"/>
            <p:nvPr/>
          </p:nvSpPr>
          <p:spPr>
            <a:xfrm>
              <a:off x="5524020" y="1598819"/>
              <a:ext cx="1303508" cy="338554"/>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宿泊施設</a:t>
              </a:r>
              <a:r>
                <a:rPr kumimoji="1" lang="en-US" altLang="ja-JP" sz="1600" b="1" dirty="0">
                  <a:solidFill>
                    <a:schemeClr val="bg1"/>
                  </a:solidFill>
                </a:rPr>
                <a:t>DB</a:t>
              </a:r>
              <a:endParaRPr kumimoji="1" lang="ja-JP" altLang="en-US" sz="1600" b="1" dirty="0">
                <a:solidFill>
                  <a:schemeClr val="bg1"/>
                </a:solidFill>
              </a:endParaRPr>
            </a:p>
          </p:txBody>
        </p:sp>
      </p:grpSp>
      <p:sp>
        <p:nvSpPr>
          <p:cNvPr id="26" name="矢印: 右 25">
            <a:extLst>
              <a:ext uri="{FF2B5EF4-FFF2-40B4-BE49-F238E27FC236}">
                <a16:creationId xmlns:a16="http://schemas.microsoft.com/office/drawing/2014/main" id="{AE57E9BE-137E-16FB-48DA-37AD885BF319}"/>
              </a:ext>
            </a:extLst>
          </p:cNvPr>
          <p:cNvSpPr/>
          <p:nvPr/>
        </p:nvSpPr>
        <p:spPr>
          <a:xfrm rot="5400000">
            <a:off x="5421917" y="4076563"/>
            <a:ext cx="1394774" cy="338554"/>
          </a:xfrm>
          <a:prstGeom prst="rightArrow">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6CD70A1B-E54F-BDB3-E8E9-FFBE26766090}"/>
              </a:ext>
            </a:extLst>
          </p:cNvPr>
          <p:cNvGrpSpPr/>
          <p:nvPr/>
        </p:nvGrpSpPr>
        <p:grpSpPr>
          <a:xfrm>
            <a:off x="6319727" y="3629943"/>
            <a:ext cx="1523390" cy="1018993"/>
            <a:chOff x="6355405" y="3486074"/>
            <a:chExt cx="1523390" cy="1018993"/>
          </a:xfrm>
        </p:grpSpPr>
        <p:sp>
          <p:nvSpPr>
            <p:cNvPr id="38" name="テキスト ボックス 37">
              <a:extLst>
                <a:ext uri="{FF2B5EF4-FFF2-40B4-BE49-F238E27FC236}">
                  <a16:creationId xmlns:a16="http://schemas.microsoft.com/office/drawing/2014/main" id="{F4AA34A4-9080-C94B-E004-5BEA893F0097}"/>
                </a:ext>
              </a:extLst>
            </p:cNvPr>
            <p:cNvSpPr txBox="1"/>
            <p:nvPr/>
          </p:nvSpPr>
          <p:spPr>
            <a:xfrm>
              <a:off x="6355405" y="3981847"/>
              <a:ext cx="1523390" cy="523220"/>
            </a:xfrm>
            <a:prstGeom prst="rect">
              <a:avLst/>
            </a:prstGeom>
            <a:noFill/>
          </p:spPr>
          <p:txBody>
            <a:bodyPr wrap="square" rtlCol="0">
              <a:spAutoFit/>
            </a:bodyPr>
            <a:lstStyle/>
            <a:p>
              <a:r>
                <a:rPr lang="ja-JP" altLang="en-US" sz="1400" b="1" dirty="0">
                  <a:solidFill>
                    <a:srgbClr val="002060"/>
                  </a:solidFill>
                </a:rPr>
                <a:t>需要予測モデル</a:t>
              </a:r>
              <a:endParaRPr lang="en-US" altLang="ja-JP" sz="1400" b="1" dirty="0">
                <a:solidFill>
                  <a:srgbClr val="002060"/>
                </a:solidFill>
              </a:endParaRPr>
            </a:p>
            <a:p>
              <a:r>
                <a:rPr kumimoji="1" lang="en-US" altLang="ja-JP" sz="1400" dirty="0">
                  <a:solidFill>
                    <a:srgbClr val="002060"/>
                  </a:solidFill>
                </a:rPr>
                <a:t>    </a:t>
              </a:r>
              <a:r>
                <a:rPr kumimoji="1" lang="en-US" altLang="ja-JP" sz="1400" dirty="0" err="1">
                  <a:solidFill>
                    <a:srgbClr val="002060"/>
                  </a:solidFill>
                </a:rPr>
                <a:t>Catboost</a:t>
              </a:r>
              <a:endParaRPr kumimoji="1" lang="ja-JP" altLang="en-US" sz="1400" dirty="0">
                <a:solidFill>
                  <a:srgbClr val="002060"/>
                </a:solidFill>
              </a:endParaRPr>
            </a:p>
          </p:txBody>
        </p:sp>
        <p:pic>
          <p:nvPicPr>
            <p:cNvPr id="77" name="グラフィックス 76" descr="統計 枠線">
              <a:extLst>
                <a:ext uri="{FF2B5EF4-FFF2-40B4-BE49-F238E27FC236}">
                  <a16:creationId xmlns:a16="http://schemas.microsoft.com/office/drawing/2014/main" id="{22B0D242-11C1-AC1C-6FD9-1884B733D29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8427" y="3486074"/>
              <a:ext cx="605454" cy="524735"/>
            </a:xfrm>
            <a:prstGeom prst="rect">
              <a:avLst/>
            </a:prstGeom>
          </p:spPr>
        </p:pic>
      </p:grpSp>
      <p:cxnSp>
        <p:nvCxnSpPr>
          <p:cNvPr id="30" name="コネクタ: カギ線 29">
            <a:extLst>
              <a:ext uri="{FF2B5EF4-FFF2-40B4-BE49-F238E27FC236}">
                <a16:creationId xmlns:a16="http://schemas.microsoft.com/office/drawing/2014/main" id="{1F6AE1E7-A17D-69D0-A836-37D475B3F1B9}"/>
              </a:ext>
            </a:extLst>
          </p:cNvPr>
          <p:cNvCxnSpPr>
            <a:cxnSpLocks/>
            <a:stCxn id="76" idx="3"/>
            <a:endCxn id="56" idx="1"/>
          </p:cNvCxnSpPr>
          <p:nvPr/>
        </p:nvCxnSpPr>
        <p:spPr>
          <a:xfrm flipV="1">
            <a:off x="6563959" y="3755733"/>
            <a:ext cx="3515265" cy="1554438"/>
          </a:xfrm>
          <a:prstGeom prst="bentConnector3">
            <a:avLst>
              <a:gd name="adj1" fmla="val 39208"/>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grpSp>
        <p:nvGrpSpPr>
          <p:cNvPr id="63" name="グループ化 62">
            <a:extLst>
              <a:ext uri="{FF2B5EF4-FFF2-40B4-BE49-F238E27FC236}">
                <a16:creationId xmlns:a16="http://schemas.microsoft.com/office/drawing/2014/main" id="{822447DD-8B2F-3829-91E2-08F9C357E2B6}"/>
              </a:ext>
            </a:extLst>
          </p:cNvPr>
          <p:cNvGrpSpPr/>
          <p:nvPr/>
        </p:nvGrpSpPr>
        <p:grpSpPr>
          <a:xfrm>
            <a:off x="8306319" y="5251926"/>
            <a:ext cx="1296396" cy="1535621"/>
            <a:chOff x="8213364" y="5125466"/>
            <a:chExt cx="1296396" cy="1535621"/>
          </a:xfrm>
        </p:grpSpPr>
        <p:sp>
          <p:nvSpPr>
            <p:cNvPr id="72" name="テキスト ボックス 71">
              <a:extLst>
                <a:ext uri="{FF2B5EF4-FFF2-40B4-BE49-F238E27FC236}">
                  <a16:creationId xmlns:a16="http://schemas.microsoft.com/office/drawing/2014/main" id="{4388C681-06F0-A579-4242-69EACC469909}"/>
                </a:ext>
              </a:extLst>
            </p:cNvPr>
            <p:cNvSpPr txBox="1"/>
            <p:nvPr/>
          </p:nvSpPr>
          <p:spPr>
            <a:xfrm>
              <a:off x="8213364" y="6322533"/>
              <a:ext cx="1296396" cy="338554"/>
            </a:xfrm>
            <a:prstGeom prst="rect">
              <a:avLst/>
            </a:prstGeom>
            <a:noFill/>
          </p:spPr>
          <p:txBody>
            <a:bodyPr wrap="square" rtlCol="0">
              <a:spAutoFit/>
            </a:bodyPr>
            <a:lstStyle/>
            <a:p>
              <a:r>
                <a:rPr lang="ja-JP" altLang="en-US" sz="1600" b="1" dirty="0"/>
                <a:t>ホテル運営者</a:t>
              </a:r>
              <a:endParaRPr lang="en-US" altLang="ja-JP" sz="1600" b="1" dirty="0"/>
            </a:p>
          </p:txBody>
        </p:sp>
        <p:pic>
          <p:nvPicPr>
            <p:cNvPr id="50" name="図 49" descr="アイコン&#10;&#10;AI 生成コンテンツは誤りを含む可能性があります。">
              <a:extLst>
                <a:ext uri="{FF2B5EF4-FFF2-40B4-BE49-F238E27FC236}">
                  <a16:creationId xmlns:a16="http://schemas.microsoft.com/office/drawing/2014/main" id="{007F5FCA-6FD1-10EC-2A0E-79A15B33765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10755" y="5125466"/>
              <a:ext cx="819283" cy="1200346"/>
            </a:xfrm>
            <a:prstGeom prst="rect">
              <a:avLst/>
            </a:prstGeom>
          </p:spPr>
        </p:pic>
      </p:grpSp>
    </p:spTree>
    <p:extLst>
      <p:ext uri="{BB962C8B-B14F-4D97-AF65-F5344CB8AC3E}">
        <p14:creationId xmlns:p14="http://schemas.microsoft.com/office/powerpoint/2010/main" val="1111083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3E3E3-CB35-4865-BD9C-4017AC924AFD}"/>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831252DE-2C85-7A82-16C5-6CEC4BCF805D}"/>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07FA4F2C-4CF6-2612-2C62-536CE2FC19A4}"/>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E9ADA9C5-AAD4-3024-C379-96564F85B33B}"/>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7B9724FA-0630-5D5C-C170-04392E85005B}"/>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8AA93A6B-B3C5-540E-C9FC-BD1CAC0077A8}"/>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26824B0F-E6D0-6364-9296-BE7825620A81}"/>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A5C0CE72-BE92-B324-3EB1-9F80D5266BA2}"/>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1D57029A-8F95-6DAF-1129-63AD89B5DC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ED14A7E0-C01C-7D08-7BC9-9EDE97AA8B92}"/>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E7A3CF79-E6BA-9E5C-69AF-D2CCC61C48D7}"/>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8FCB91CB-1F7D-01D8-E912-139073DE9D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C3B20EFA-EF5D-9D0F-22C2-4DA75E51BDAE}"/>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6FA431E6-9369-6419-73F8-5850E0FB182E}"/>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CCFB86F5-7FF8-CEB2-CAEC-AAC94F5DA279}"/>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3972A23B-981B-BF36-4245-739EF728F8EC}"/>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A749FCA0-BC4B-3D17-596B-6E4212EF7BF0}"/>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5294E6C6-9AEA-20C0-FE5E-A09997271F49}"/>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D9369655-C0BF-A832-C684-CB01193338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70E78D2A-1BA0-7D1C-2EF6-3C8B8776C18C}"/>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8F20B7A8-FD11-FB83-D4AB-C00875116BB3}"/>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FF2220A3-3ACF-DB75-1A6B-4DB5E0E25440}"/>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000DB2A3-27F9-BE93-7D33-A68CAC9EA4E1}"/>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DD6DBFBB-CE4F-977D-6052-7B6AE5F4D9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1EAB0949-2EDC-7742-1B75-CE6906A423A3}"/>
              </a:ext>
            </a:extLst>
          </p:cNvPr>
          <p:cNvSpPr txBox="1"/>
          <p:nvPr/>
        </p:nvSpPr>
        <p:spPr>
          <a:xfrm>
            <a:off x="7752864" y="1539202"/>
            <a:ext cx="219902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4B4B4076-9FAE-F42F-01DF-B3A4536A1A9F}"/>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344060CE-169A-E63D-6149-F4A71F2B2822}"/>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E6B77683-9B8D-CB83-C83F-1C3970F8161F}"/>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E1DF4EE1-589F-1DC9-7C7E-13CBA1A7807E}"/>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51F081CC-C16F-18EB-23D1-1E98DC0FE31C}"/>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494A49D0-A41B-5012-34AF-B8CEB13B361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70F02C76-CBAE-105D-4C79-246FE964AA52}"/>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E0E2E9DA-8420-9CD2-4CD9-058DBD6BECF4}"/>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88E43257-72A7-7377-0E65-69AF28DEC621}"/>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F5F0D9D5-C2D1-6887-71D9-7D4AB57EA985}"/>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C6EE65E4-8725-36D6-BE76-994E3F0F5EA7}"/>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C090E8F3-72A8-C34E-BD7A-EBD47ABD9CEF}"/>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A3B2567E-6516-439A-93F8-128350501C41}"/>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AE086EF6-0F37-4556-509E-7109EAD8444A}"/>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5D5B681B-4736-56EF-ED10-84B2A6C772D8}"/>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D82158A7-0924-6CBB-9E18-E5E85D181A9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EE2CDB2D-C324-FDF1-FA60-344F003F0511}"/>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45E8BA26-7BFC-465D-993B-3F5F738897DD}"/>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FD370FD5-290E-D57F-3F59-593F2D91FF76}"/>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FFFDF129-4D20-C9A3-1222-E455C56C4355}"/>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E7DCE4F3-F9EF-8788-26CE-EBA4C2D4E3B4}"/>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E6E0F8E6-B866-54BA-922A-2823BE482827}"/>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6AF753FA-6365-4D5F-A09D-0DA5FF4B9586}"/>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AFDEC8FA-5FD7-EB33-1F85-350828D44BD6}"/>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057729D1-5963-E980-5C9F-3EE3888FF5E3}"/>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D12FC05A-4D0C-5FFC-AD79-C516E89D5BAA}"/>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81E049C9-D221-484F-1E80-61432DAE179C}"/>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558264DF-D5B4-566B-9063-BDD2777577B7}"/>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DEC0EFD5-C198-AA5C-9554-F20DAB8B7608}"/>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2294291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F884A-5A70-6915-B4FE-356720F28D11}"/>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16F8161B-1DBE-91CC-6FAE-76185E6F6319}"/>
              </a:ext>
            </a:extLst>
          </p:cNvPr>
          <p:cNvSpPr/>
          <p:nvPr/>
        </p:nvSpPr>
        <p:spPr>
          <a:xfrm>
            <a:off x="11830" y="617578"/>
            <a:ext cx="12180170" cy="2054956"/>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四角形: 角を丸くする 35">
            <a:extLst>
              <a:ext uri="{FF2B5EF4-FFF2-40B4-BE49-F238E27FC236}">
                <a16:creationId xmlns:a16="http://schemas.microsoft.com/office/drawing/2014/main" id="{6B12B059-0797-57C3-55FC-E92221E1FD22}"/>
              </a:ext>
            </a:extLst>
          </p:cNvPr>
          <p:cNvSpPr/>
          <p:nvPr/>
        </p:nvSpPr>
        <p:spPr>
          <a:xfrm>
            <a:off x="1085675" y="5722817"/>
            <a:ext cx="10020650" cy="992856"/>
          </a:xfrm>
          <a:prstGeom prst="roundRect">
            <a:avLst/>
          </a:prstGeom>
          <a:solidFill>
            <a:schemeClr val="accent4">
              <a:lumMod val="5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 name="テキスト プレースホルダー 2">
            <a:extLst>
              <a:ext uri="{FF2B5EF4-FFF2-40B4-BE49-F238E27FC236}">
                <a16:creationId xmlns:a16="http://schemas.microsoft.com/office/drawing/2014/main" id="{7692D989-5E4E-B5F4-0BF9-3923788D8DFE}"/>
              </a:ext>
            </a:extLst>
          </p:cNvPr>
          <p:cNvSpPr>
            <a:spLocks noGrp="1"/>
          </p:cNvSpPr>
          <p:nvPr>
            <p:ph type="body" sz="quarter" idx="11"/>
          </p:nvPr>
        </p:nvSpPr>
        <p:spPr>
          <a:xfrm>
            <a:off x="289826" y="85437"/>
            <a:ext cx="12271604" cy="1084204"/>
          </a:xfrm>
        </p:spPr>
        <p:txBody>
          <a:bodyPr>
            <a:normAutofit/>
          </a:bodyPr>
          <a:lstStyle/>
          <a:p>
            <a:r>
              <a:rPr lang="ja-JP" altLang="en-US" b="1" u="sng" dirty="0">
                <a:solidFill>
                  <a:schemeClr val="bg1"/>
                </a:solidFill>
              </a:rPr>
              <a:t>新テーマ</a:t>
            </a:r>
            <a:r>
              <a:rPr lang="ja-JP" altLang="en-US" sz="2300" b="1" dirty="0"/>
              <a:t>：「経営改善支援」をテーマに長野市内のホテルと共同研究に取り組む予定</a:t>
            </a:r>
            <a:endParaRPr kumimoji="1" lang="ja-JP" altLang="en-US" sz="2300" b="1" dirty="0"/>
          </a:p>
        </p:txBody>
      </p:sp>
      <p:sp>
        <p:nvSpPr>
          <p:cNvPr id="14" name="コンテンツ プレースホルダー 1">
            <a:extLst>
              <a:ext uri="{FF2B5EF4-FFF2-40B4-BE49-F238E27FC236}">
                <a16:creationId xmlns:a16="http://schemas.microsoft.com/office/drawing/2014/main" id="{614CCC5F-4EE0-C066-AEDD-F4942CABF186}"/>
              </a:ext>
            </a:extLst>
          </p:cNvPr>
          <p:cNvSpPr txBox="1">
            <a:spLocks/>
          </p:cNvSpPr>
          <p:nvPr/>
        </p:nvSpPr>
        <p:spPr>
          <a:xfrm>
            <a:off x="-279426" y="639123"/>
            <a:ext cx="13410108" cy="2326759"/>
          </a:xfrm>
          <a:prstGeom prst="rect">
            <a:avLst/>
          </a:prstGeom>
          <a:ln>
            <a:noFill/>
          </a:ln>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lnSpc>
                <a:spcPct val="150000"/>
              </a:lnSpc>
              <a:buNone/>
            </a:pPr>
            <a:r>
              <a:rPr lang="ja-JP" altLang="en-US" sz="2000" b="1" dirty="0">
                <a:latin typeface="+mn-ea"/>
                <a:ea typeface="+mn-ea"/>
              </a:rPr>
              <a:t>市場背景</a:t>
            </a:r>
            <a:endParaRPr lang="en-US" altLang="ja-JP" sz="2000" b="1" dirty="0">
              <a:latin typeface="+mn-ea"/>
              <a:ea typeface="+mn-ea"/>
            </a:endParaRPr>
          </a:p>
          <a:p>
            <a:pPr lvl="1">
              <a:lnSpc>
                <a:spcPct val="150000"/>
              </a:lnSpc>
              <a:buFont typeface="Wingdings" panose="05000000000000000000" pitchFamily="2" charset="2"/>
              <a:buChar char="n"/>
            </a:pPr>
            <a:r>
              <a:rPr lang="ja-JP" altLang="en-US" sz="1900" dirty="0">
                <a:latin typeface="+mn-ea"/>
                <a:ea typeface="+mn-ea"/>
              </a:rPr>
              <a:t>近年、ホテル市場における競争の激化により、競合他社と比較した自社の強み・弱みを把握する需要が高まっている</a:t>
            </a:r>
            <a:r>
              <a:rPr lang="ja-JP" altLang="en-US" sz="1900" b="1" dirty="0">
                <a:latin typeface="+mn-ea"/>
                <a:ea typeface="+mn-ea"/>
              </a:rPr>
              <a:t>。</a:t>
            </a:r>
            <a:endParaRPr lang="en-US" altLang="ja-JP" sz="1900" b="1" dirty="0">
              <a:latin typeface="+mn-ea"/>
              <a:ea typeface="+mn-ea"/>
            </a:endParaRPr>
          </a:p>
          <a:p>
            <a:pPr marL="457200" lvl="1" indent="0">
              <a:lnSpc>
                <a:spcPct val="150000"/>
              </a:lnSpc>
              <a:buNone/>
            </a:pPr>
            <a:r>
              <a:rPr lang="ja-JP" altLang="en-US" sz="2000" b="1" dirty="0">
                <a:solidFill>
                  <a:srgbClr val="C00000"/>
                </a:solidFill>
                <a:latin typeface="+mn-ea"/>
                <a:ea typeface="+mn-ea"/>
              </a:rPr>
              <a:t>ヒアリングで得られた課題</a:t>
            </a:r>
          </a:p>
          <a:p>
            <a:pPr lvl="1">
              <a:lnSpc>
                <a:spcPct val="150000"/>
              </a:lnSpc>
              <a:buFont typeface="Wingdings" panose="05000000000000000000" pitchFamily="2" charset="2"/>
              <a:buChar char="n"/>
            </a:pPr>
            <a:r>
              <a:rPr lang="ja-JP" altLang="en-US" sz="2000" dirty="0">
                <a:latin typeface="Yu Gothic UI" panose="020B0500000000000000" pitchFamily="50" charset="-128"/>
                <a:ea typeface="Yu Gothic UI" panose="020B0500000000000000" pitchFamily="50" charset="-128"/>
              </a:rPr>
              <a:t>競合と比べて口コミ評価が低く、宿泊者にとっての魅力の伝わり方や期待形成に課題がある。</a:t>
            </a:r>
            <a:endParaRPr lang="en-US" altLang="ja-JP" sz="2000" b="1" dirty="0">
              <a:latin typeface="Yu Gothic UI" panose="020B0500000000000000" pitchFamily="50" charset="-128"/>
              <a:ea typeface="Yu Gothic UI" panose="020B0500000000000000" pitchFamily="50" charset="-128"/>
            </a:endParaRPr>
          </a:p>
        </p:txBody>
      </p:sp>
      <p:grpSp>
        <p:nvGrpSpPr>
          <p:cNvPr id="2" name="グループ化 1">
            <a:extLst>
              <a:ext uri="{FF2B5EF4-FFF2-40B4-BE49-F238E27FC236}">
                <a16:creationId xmlns:a16="http://schemas.microsoft.com/office/drawing/2014/main" id="{EA4E35E9-4100-AAC6-BB08-4B9132B03F3D}"/>
              </a:ext>
            </a:extLst>
          </p:cNvPr>
          <p:cNvGrpSpPr/>
          <p:nvPr/>
        </p:nvGrpSpPr>
        <p:grpSpPr>
          <a:xfrm>
            <a:off x="1154957" y="2901603"/>
            <a:ext cx="6194825" cy="2604712"/>
            <a:chOff x="850456" y="2915006"/>
            <a:chExt cx="6194825" cy="2604712"/>
          </a:xfrm>
        </p:grpSpPr>
        <p:sp>
          <p:nvSpPr>
            <p:cNvPr id="28" name="テキスト ボックス 27">
              <a:extLst>
                <a:ext uri="{FF2B5EF4-FFF2-40B4-BE49-F238E27FC236}">
                  <a16:creationId xmlns:a16="http://schemas.microsoft.com/office/drawing/2014/main" id="{34335425-A3F6-FD43-6284-4894096F6CF2}"/>
                </a:ext>
              </a:extLst>
            </p:cNvPr>
            <p:cNvSpPr txBox="1"/>
            <p:nvPr/>
          </p:nvSpPr>
          <p:spPr>
            <a:xfrm>
              <a:off x="2778191" y="3891194"/>
              <a:ext cx="2011280" cy="1200329"/>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b="1" dirty="0"/>
                <a:t>自社の魅力が</a:t>
              </a:r>
              <a:endParaRPr kumimoji="1" lang="en-US" altLang="ja-JP" b="1" dirty="0"/>
            </a:p>
            <a:p>
              <a:r>
                <a:rPr lang="ja-JP" altLang="en-US" b="1" dirty="0"/>
                <a:t>競合と比べて</a:t>
              </a:r>
              <a:endParaRPr lang="en-US" altLang="ja-JP" b="1" dirty="0"/>
            </a:p>
            <a:p>
              <a:r>
                <a:rPr kumimoji="1" lang="ja-JP" altLang="en-US" b="1" dirty="0"/>
                <a:t>どう見えているのか</a:t>
              </a:r>
              <a:endParaRPr kumimoji="1" lang="en-US" altLang="ja-JP" b="1" dirty="0"/>
            </a:p>
            <a:p>
              <a:r>
                <a:rPr lang="ja-JP" altLang="en-US" b="1" dirty="0"/>
                <a:t>把握したい</a:t>
              </a:r>
              <a:r>
                <a:rPr kumimoji="1" lang="en-US" altLang="ja-JP" b="1" dirty="0"/>
                <a:t>…</a:t>
              </a:r>
              <a:endParaRPr kumimoji="1" lang="ja-JP" altLang="en-US" b="1" dirty="0"/>
            </a:p>
          </p:txBody>
        </p:sp>
        <p:grpSp>
          <p:nvGrpSpPr>
            <p:cNvPr id="35" name="グループ化 34">
              <a:extLst>
                <a:ext uri="{FF2B5EF4-FFF2-40B4-BE49-F238E27FC236}">
                  <a16:creationId xmlns:a16="http://schemas.microsoft.com/office/drawing/2014/main" id="{BF21B9F1-D140-4DFF-5C68-1C05DFA248D7}"/>
                </a:ext>
              </a:extLst>
            </p:cNvPr>
            <p:cNvGrpSpPr/>
            <p:nvPr/>
          </p:nvGrpSpPr>
          <p:grpSpPr>
            <a:xfrm>
              <a:off x="850456" y="2915006"/>
              <a:ext cx="6194825" cy="2604712"/>
              <a:chOff x="785953" y="2876095"/>
              <a:chExt cx="6194825" cy="2604712"/>
            </a:xfrm>
          </p:grpSpPr>
          <p:pic>
            <p:nvPicPr>
              <p:cNvPr id="26" name="図 25" descr="アイコン&#10;&#10;AI 生成コンテンツは誤りを含む可能性があります。">
                <a:extLst>
                  <a:ext uri="{FF2B5EF4-FFF2-40B4-BE49-F238E27FC236}">
                    <a16:creationId xmlns:a16="http://schemas.microsoft.com/office/drawing/2014/main" id="{0D261779-17FE-93CE-0D68-01E61AF9C4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614" y="3283779"/>
                <a:ext cx="1499558" cy="2197028"/>
              </a:xfrm>
              <a:prstGeom prst="rect">
                <a:avLst/>
              </a:prstGeom>
            </p:spPr>
          </p:pic>
          <p:sp>
            <p:nvSpPr>
              <p:cNvPr id="31" name="テキスト ボックス 30">
                <a:extLst>
                  <a:ext uri="{FF2B5EF4-FFF2-40B4-BE49-F238E27FC236}">
                    <a16:creationId xmlns:a16="http://schemas.microsoft.com/office/drawing/2014/main" id="{37B88622-F0C3-DE55-1026-F512B8823023}"/>
                  </a:ext>
                </a:extLst>
              </p:cNvPr>
              <p:cNvSpPr txBox="1"/>
              <p:nvPr/>
            </p:nvSpPr>
            <p:spPr>
              <a:xfrm>
                <a:off x="785953" y="2876095"/>
                <a:ext cx="2011280" cy="369332"/>
              </a:xfrm>
              <a:prstGeom prst="rect">
                <a:avLst/>
              </a:prstGeom>
              <a:noFill/>
            </p:spPr>
            <p:txBody>
              <a:bodyPr wrap="square" rtlCol="0">
                <a:spAutoFit/>
              </a:bodyPr>
              <a:lstStyle/>
              <a:p>
                <a:r>
                  <a:rPr lang="ja-JP" altLang="en-US" b="1" dirty="0"/>
                  <a:t>共同研究先ホテル</a:t>
                </a:r>
                <a:endParaRPr kumimoji="1" lang="ja-JP" altLang="en-US" b="1" dirty="0"/>
              </a:p>
            </p:txBody>
          </p:sp>
          <p:sp>
            <p:nvSpPr>
              <p:cNvPr id="32" name="テキスト ボックス 31">
                <a:extLst>
                  <a:ext uri="{FF2B5EF4-FFF2-40B4-BE49-F238E27FC236}">
                    <a16:creationId xmlns:a16="http://schemas.microsoft.com/office/drawing/2014/main" id="{0AE47CAA-5656-A8DA-5530-48C2DD6914B4}"/>
                  </a:ext>
                </a:extLst>
              </p:cNvPr>
              <p:cNvSpPr txBox="1"/>
              <p:nvPr/>
            </p:nvSpPr>
            <p:spPr>
              <a:xfrm>
                <a:off x="5132469" y="3255707"/>
                <a:ext cx="1848309" cy="369332"/>
              </a:xfrm>
              <a:prstGeom prst="rect">
                <a:avLst/>
              </a:prstGeom>
              <a:solidFill>
                <a:schemeClr val="accent1">
                  <a:lumMod val="20000"/>
                  <a:lumOff val="8000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b="1" dirty="0">
                    <a:solidFill>
                      <a:schemeClr val="bg1">
                        <a:lumMod val="25000"/>
                      </a:schemeClr>
                    </a:solidFill>
                  </a:rPr>
                  <a:t> </a:t>
                </a:r>
                <a:r>
                  <a:rPr kumimoji="1" lang="ja-JP" altLang="en-US" b="1" dirty="0">
                    <a:solidFill>
                      <a:schemeClr val="bg1">
                        <a:lumMod val="25000"/>
                      </a:schemeClr>
                    </a:solidFill>
                  </a:rPr>
                  <a:t>研究成果を適応</a:t>
                </a:r>
              </a:p>
            </p:txBody>
          </p:sp>
        </p:grpSp>
      </p:grpSp>
      <p:sp>
        <p:nvSpPr>
          <p:cNvPr id="33" name="テキスト ボックス 32">
            <a:extLst>
              <a:ext uri="{FF2B5EF4-FFF2-40B4-BE49-F238E27FC236}">
                <a16:creationId xmlns:a16="http://schemas.microsoft.com/office/drawing/2014/main" id="{4E5A3896-49EC-EA01-6D7C-F27C6976DA9C}"/>
              </a:ext>
            </a:extLst>
          </p:cNvPr>
          <p:cNvSpPr txBox="1"/>
          <p:nvPr/>
        </p:nvSpPr>
        <p:spPr>
          <a:xfrm>
            <a:off x="1409481" y="5824923"/>
            <a:ext cx="10336656" cy="830997"/>
          </a:xfrm>
          <a:prstGeom prst="rect">
            <a:avLst/>
          </a:prstGeom>
          <a:noFill/>
        </p:spPr>
        <p:txBody>
          <a:bodyPr wrap="square" rtlCol="0">
            <a:spAutoFit/>
          </a:bodyPr>
          <a:lstStyle/>
          <a:p>
            <a:r>
              <a:rPr lang="ja-JP" altLang="en-US" sz="2400" b="1" dirty="0">
                <a:solidFill>
                  <a:srgbClr val="FFFFFF"/>
                </a:solidFill>
              </a:rPr>
              <a:t>本研究では、競合他社と比較した自社のブランド課題を可視化することで、</a:t>
            </a:r>
            <a:br>
              <a:rPr lang="ja-JP" altLang="en-US" sz="2400" b="1" dirty="0">
                <a:solidFill>
                  <a:srgbClr val="FFFFFF"/>
                </a:solidFill>
              </a:rPr>
            </a:br>
            <a:r>
              <a:rPr lang="ja-JP" altLang="en-US" sz="2400" b="1" dirty="0">
                <a:solidFill>
                  <a:srgbClr val="FFFFFF"/>
                </a:solidFill>
              </a:rPr>
              <a:t>         「より選ばれるホテル」につながる経営改善モデルの構築を目指す</a:t>
            </a:r>
            <a:endParaRPr kumimoji="1" lang="ja-JP" altLang="en-US" sz="2400" b="1" dirty="0">
              <a:solidFill>
                <a:srgbClr val="FFFFFF"/>
              </a:solidFill>
            </a:endParaRPr>
          </a:p>
        </p:txBody>
      </p:sp>
      <p:sp>
        <p:nvSpPr>
          <p:cNvPr id="6" name="矢印: 右 5">
            <a:extLst>
              <a:ext uri="{FF2B5EF4-FFF2-40B4-BE49-F238E27FC236}">
                <a16:creationId xmlns:a16="http://schemas.microsoft.com/office/drawing/2014/main" id="{9FAF7053-DFA2-C603-CAB2-DA57F15A36D1}"/>
              </a:ext>
            </a:extLst>
          </p:cNvPr>
          <p:cNvSpPr/>
          <p:nvPr/>
        </p:nvSpPr>
        <p:spPr>
          <a:xfrm>
            <a:off x="5899467" y="3808429"/>
            <a:ext cx="1000954" cy="1315987"/>
          </a:xfrm>
          <a:prstGeom prst="right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308BDD5-406A-303C-58D0-9AF8B8834B66}"/>
              </a:ext>
            </a:extLst>
          </p:cNvPr>
          <p:cNvSpPr txBox="1"/>
          <p:nvPr/>
        </p:nvSpPr>
        <p:spPr>
          <a:xfrm>
            <a:off x="7654398" y="2811093"/>
            <a:ext cx="4205734" cy="369332"/>
          </a:xfrm>
          <a:prstGeom prst="rect">
            <a:avLst/>
          </a:prstGeom>
          <a:solidFill>
            <a:schemeClr val="accent4">
              <a:lumMod val="40000"/>
              <a:lumOff val="60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自社の魅力を生かした施策の考案が可能に</a:t>
            </a:r>
            <a:endParaRPr kumimoji="1" lang="ja-JP" altLang="en-US" b="1" dirty="0"/>
          </a:p>
        </p:txBody>
      </p:sp>
      <p:pic>
        <p:nvPicPr>
          <p:cNvPr id="11" name="図 10">
            <a:extLst>
              <a:ext uri="{FF2B5EF4-FFF2-40B4-BE49-F238E27FC236}">
                <a16:creationId xmlns:a16="http://schemas.microsoft.com/office/drawing/2014/main" id="{D80CC655-3658-5D3A-E0FD-F90438F75B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8206" y="3371552"/>
            <a:ext cx="2698119" cy="2162049"/>
          </a:xfrm>
          <a:prstGeom prst="rect">
            <a:avLst/>
          </a:prstGeom>
        </p:spPr>
      </p:pic>
    </p:spTree>
    <p:extLst>
      <p:ext uri="{BB962C8B-B14F-4D97-AF65-F5344CB8AC3E}">
        <p14:creationId xmlns:p14="http://schemas.microsoft.com/office/powerpoint/2010/main" val="1203517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759AA-515C-F7AC-C308-D9858F48AD76}"/>
            </a:ext>
          </a:extLst>
        </p:cNvPr>
        <p:cNvGrpSpPr/>
        <p:nvPr/>
      </p:nvGrpSpPr>
      <p:grpSpPr>
        <a:xfrm>
          <a:off x="0" y="0"/>
          <a:ext cx="0" cy="0"/>
          <a:chOff x="0" y="0"/>
          <a:chExt cx="0" cy="0"/>
        </a:xfrm>
      </p:grpSpPr>
      <p:cxnSp>
        <p:nvCxnSpPr>
          <p:cNvPr id="14" name="直線コネクタ 13">
            <a:extLst>
              <a:ext uri="{FF2B5EF4-FFF2-40B4-BE49-F238E27FC236}">
                <a16:creationId xmlns:a16="http://schemas.microsoft.com/office/drawing/2014/main" id="{6A51C50C-78B9-90D1-C741-364B42D1C282}"/>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48DF8623-8F95-4528-A9FA-E8EA6152BCE5}"/>
              </a:ext>
            </a:extLst>
          </p:cNvPr>
          <p:cNvSpPr txBox="1"/>
          <p:nvPr/>
        </p:nvSpPr>
        <p:spPr>
          <a:xfrm>
            <a:off x="1096002" y="577982"/>
            <a:ext cx="331455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rgbClr val="FFFFFF"/>
                </a:solidFill>
              </a:rPr>
              <a:t>[1] </a:t>
            </a:r>
            <a:r>
              <a:rPr lang="ja-JP" altLang="en-US" sz="1600" b="1" dirty="0">
                <a:solidFill>
                  <a:srgbClr val="FFFFFF"/>
                </a:solidFill>
              </a:rPr>
              <a:t>競合を考慮したホテル競争力評価</a:t>
            </a:r>
            <a:endParaRPr kumimoji="1" lang="ja-JP" altLang="en-US" sz="1600" b="1" dirty="0">
              <a:solidFill>
                <a:srgbClr val="FFFFFF"/>
              </a:solidFill>
            </a:endParaRPr>
          </a:p>
        </p:txBody>
      </p:sp>
      <p:sp>
        <p:nvSpPr>
          <p:cNvPr id="23" name="テキスト ボックス 22">
            <a:extLst>
              <a:ext uri="{FF2B5EF4-FFF2-40B4-BE49-F238E27FC236}">
                <a16:creationId xmlns:a16="http://schemas.microsoft.com/office/drawing/2014/main" id="{810EA26B-07AF-7B84-D31E-A0B76AD4A07D}"/>
              </a:ext>
            </a:extLst>
          </p:cNvPr>
          <p:cNvSpPr txBox="1"/>
          <p:nvPr/>
        </p:nvSpPr>
        <p:spPr>
          <a:xfrm>
            <a:off x="1688586" y="3696176"/>
            <a:ext cx="2571961"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  </a:t>
            </a:r>
            <a:r>
              <a:rPr kumimoji="1" lang="en-US" altLang="ja-JP" sz="1600" b="1" dirty="0">
                <a:solidFill>
                  <a:schemeClr val="bg1"/>
                </a:solidFill>
              </a:rPr>
              <a:t>[2] </a:t>
            </a:r>
            <a:r>
              <a:rPr kumimoji="1" lang="ja-JP" altLang="en-US" sz="1600" b="1" dirty="0">
                <a:solidFill>
                  <a:schemeClr val="bg1"/>
                </a:solidFill>
              </a:rPr>
              <a:t>競争力評価（</a:t>
            </a:r>
            <a:r>
              <a:rPr kumimoji="1" lang="en-US" altLang="ja-JP" sz="1600" b="1" dirty="0">
                <a:solidFill>
                  <a:schemeClr val="bg1"/>
                </a:solidFill>
              </a:rPr>
              <a:t>IPCA</a:t>
            </a:r>
            <a:r>
              <a:rPr kumimoji="1" lang="ja-JP" altLang="en-US" sz="1600" b="1" dirty="0">
                <a:solidFill>
                  <a:schemeClr val="bg1"/>
                </a:solidFill>
              </a:rPr>
              <a:t>）</a:t>
            </a:r>
          </a:p>
        </p:txBody>
      </p:sp>
      <p:sp>
        <p:nvSpPr>
          <p:cNvPr id="43" name="コンテンツ プレースホルダー 1">
            <a:extLst>
              <a:ext uri="{FF2B5EF4-FFF2-40B4-BE49-F238E27FC236}">
                <a16:creationId xmlns:a16="http://schemas.microsoft.com/office/drawing/2014/main" id="{14D3FF23-9819-26CC-4981-CB7A8C5EFAED}"/>
              </a:ext>
            </a:extLst>
          </p:cNvPr>
          <p:cNvSpPr txBox="1">
            <a:spLocks/>
          </p:cNvSpPr>
          <p:nvPr/>
        </p:nvSpPr>
        <p:spPr>
          <a:xfrm>
            <a:off x="81856" y="835590"/>
            <a:ext cx="12073678"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問題設定：最適な競合相手を正確に特定し評価できない    →　結果：</a:t>
            </a:r>
            <a:r>
              <a:rPr lang="ja-JP" altLang="en-US" sz="1600" u="sng" dirty="0">
                <a:latin typeface="+mn-ea"/>
              </a:rPr>
              <a:t>自社ホテルと競合のホテルを比較して、自社の強みを発見可能になった</a:t>
            </a:r>
            <a:r>
              <a:rPr lang="en-US" altLang="ja-JP" sz="1600" u="sng" dirty="0">
                <a:latin typeface="+mn-ea"/>
              </a:rPr>
              <a:t> </a:t>
            </a:r>
          </a:p>
        </p:txBody>
      </p:sp>
      <p:sp>
        <p:nvSpPr>
          <p:cNvPr id="45" name="コンテンツ プレースホルダー 1">
            <a:extLst>
              <a:ext uri="{FF2B5EF4-FFF2-40B4-BE49-F238E27FC236}">
                <a16:creationId xmlns:a16="http://schemas.microsoft.com/office/drawing/2014/main" id="{91F8EA85-56BA-C4FE-AFF7-3E647776761A}"/>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34" name="コンテンツ プレースホルダー 1">
            <a:extLst>
              <a:ext uri="{FF2B5EF4-FFF2-40B4-BE49-F238E27FC236}">
                <a16:creationId xmlns:a16="http://schemas.microsoft.com/office/drawing/2014/main" id="{4B5CBECD-B51A-8E89-A467-2F10136A77B3}"/>
              </a:ext>
            </a:extLst>
          </p:cNvPr>
          <p:cNvSpPr txBox="1">
            <a:spLocks/>
          </p:cNvSpPr>
          <p:nvPr/>
        </p:nvSpPr>
        <p:spPr>
          <a:xfrm>
            <a:off x="531880" y="3996757"/>
            <a:ext cx="11798620" cy="417942"/>
          </a:xfrm>
          <a:prstGeom prst="rect">
            <a:avLst/>
          </a:prstGeom>
          <a:ln>
            <a:noFill/>
          </a:ln>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問題設定：定量的に競合との比較を行うアルゴリズムが存在しない　→　結果：</a:t>
            </a:r>
            <a:r>
              <a:rPr lang="ja-JP" altLang="en-US" sz="1600" u="sng" dirty="0">
                <a:latin typeface="+mn-ea"/>
              </a:rPr>
              <a:t>競合との比較が定量的に可能になった　</a:t>
            </a:r>
            <a:endParaRPr lang="en-US" altLang="ja-JP" sz="1600" u="sng" dirty="0"/>
          </a:p>
        </p:txBody>
      </p:sp>
      <p:sp>
        <p:nvSpPr>
          <p:cNvPr id="21" name="テキスト プレースホルダー 20">
            <a:extLst>
              <a:ext uri="{FF2B5EF4-FFF2-40B4-BE49-F238E27FC236}">
                <a16:creationId xmlns:a16="http://schemas.microsoft.com/office/drawing/2014/main" id="{029DD205-7EB3-2825-3C32-3A1AF93F2A73}"/>
              </a:ext>
            </a:extLst>
          </p:cNvPr>
          <p:cNvSpPr>
            <a:spLocks noGrp="1"/>
          </p:cNvSpPr>
          <p:nvPr>
            <p:ph type="body" sz="quarter" idx="11"/>
          </p:nvPr>
        </p:nvSpPr>
        <p:spPr/>
        <p:txBody>
          <a:bodyPr>
            <a:normAutofit fontScale="92500" lnSpcReduction="10000"/>
          </a:bodyPr>
          <a:lstStyle/>
          <a:p>
            <a:r>
              <a:rPr lang="ja-JP" altLang="en-US" b="1" dirty="0"/>
              <a:t>競争力評価における既存研究</a:t>
            </a:r>
          </a:p>
        </p:txBody>
      </p:sp>
      <p:grpSp>
        <p:nvGrpSpPr>
          <p:cNvPr id="93" name="グループ化 92">
            <a:extLst>
              <a:ext uri="{FF2B5EF4-FFF2-40B4-BE49-F238E27FC236}">
                <a16:creationId xmlns:a16="http://schemas.microsoft.com/office/drawing/2014/main" id="{5A172E99-9513-34BF-5AB9-FA8C289B7505}"/>
              </a:ext>
            </a:extLst>
          </p:cNvPr>
          <p:cNvGrpSpPr/>
          <p:nvPr/>
        </p:nvGrpSpPr>
        <p:grpSpPr>
          <a:xfrm>
            <a:off x="1516448" y="1382391"/>
            <a:ext cx="10331092" cy="1965910"/>
            <a:chOff x="1423625" y="744611"/>
            <a:chExt cx="10331092" cy="1965910"/>
          </a:xfrm>
        </p:grpSpPr>
        <p:grpSp>
          <p:nvGrpSpPr>
            <p:cNvPr id="62" name="グループ化 61">
              <a:extLst>
                <a:ext uri="{FF2B5EF4-FFF2-40B4-BE49-F238E27FC236}">
                  <a16:creationId xmlns:a16="http://schemas.microsoft.com/office/drawing/2014/main" id="{16AD75A8-11C6-E76F-0A1A-CBFB8C1F4358}"/>
                </a:ext>
              </a:extLst>
            </p:cNvPr>
            <p:cNvGrpSpPr/>
            <p:nvPr/>
          </p:nvGrpSpPr>
          <p:grpSpPr>
            <a:xfrm>
              <a:off x="5384943" y="1219161"/>
              <a:ext cx="1223310" cy="1139380"/>
              <a:chOff x="5344998" y="1267885"/>
              <a:chExt cx="1223310" cy="1139380"/>
            </a:xfrm>
          </p:grpSpPr>
          <p:sp>
            <p:nvSpPr>
              <p:cNvPr id="60" name="矢印: 上 59">
                <a:extLst>
                  <a:ext uri="{FF2B5EF4-FFF2-40B4-BE49-F238E27FC236}">
                    <a16:creationId xmlns:a16="http://schemas.microsoft.com/office/drawing/2014/main" id="{9DE6A2C9-C0EC-62AE-B124-CA5996714981}"/>
                  </a:ext>
                </a:extLst>
              </p:cNvPr>
              <p:cNvSpPr/>
              <p:nvPr/>
            </p:nvSpPr>
            <p:spPr>
              <a:xfrm>
                <a:off x="5344998" y="1267885"/>
                <a:ext cx="156365"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上 60">
                <a:extLst>
                  <a:ext uri="{FF2B5EF4-FFF2-40B4-BE49-F238E27FC236}">
                    <a16:creationId xmlns:a16="http://schemas.microsoft.com/office/drawing/2014/main" id="{7226B06D-58C7-C88C-912B-5F5C25CCA10B}"/>
                  </a:ext>
                </a:extLst>
              </p:cNvPr>
              <p:cNvSpPr/>
              <p:nvPr/>
            </p:nvSpPr>
            <p:spPr>
              <a:xfrm rot="5400000">
                <a:off x="5951653" y="1790611"/>
                <a:ext cx="129227"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2" name="グループ化 91">
              <a:extLst>
                <a:ext uri="{FF2B5EF4-FFF2-40B4-BE49-F238E27FC236}">
                  <a16:creationId xmlns:a16="http://schemas.microsoft.com/office/drawing/2014/main" id="{AA33A684-5B47-B30E-E55F-671A9CE0FD2E}"/>
                </a:ext>
              </a:extLst>
            </p:cNvPr>
            <p:cNvGrpSpPr/>
            <p:nvPr/>
          </p:nvGrpSpPr>
          <p:grpSpPr>
            <a:xfrm>
              <a:off x="1423625" y="744611"/>
              <a:ext cx="10331092" cy="1965910"/>
              <a:chOff x="1423625" y="744611"/>
              <a:chExt cx="10331092" cy="1965910"/>
            </a:xfrm>
          </p:grpSpPr>
          <p:sp>
            <p:nvSpPr>
              <p:cNvPr id="52" name="テキスト ボックス 51">
                <a:extLst>
                  <a:ext uri="{FF2B5EF4-FFF2-40B4-BE49-F238E27FC236}">
                    <a16:creationId xmlns:a16="http://schemas.microsoft.com/office/drawing/2014/main" id="{2A9774A0-021F-B722-207B-C3A592CB7A57}"/>
                  </a:ext>
                </a:extLst>
              </p:cNvPr>
              <p:cNvSpPr txBox="1"/>
              <p:nvPr/>
            </p:nvSpPr>
            <p:spPr>
              <a:xfrm>
                <a:off x="4040973" y="2064190"/>
                <a:ext cx="1158156" cy="646331"/>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クラスタリングで</a:t>
                </a:r>
                <a:endParaRPr lang="en-US" altLang="ja-JP" sz="1200" b="1" dirty="0">
                  <a:latin typeface="+mn-ea"/>
                </a:endParaRPr>
              </a:p>
              <a:p>
                <a:r>
                  <a:rPr lang="en-US" altLang="ja-JP" sz="1200" b="1" dirty="0">
                    <a:latin typeface="+mn-ea"/>
                  </a:rPr>
                  <a:t>  </a:t>
                </a:r>
                <a:r>
                  <a:rPr lang="ja-JP" altLang="en-US" sz="1200" b="1" dirty="0">
                    <a:latin typeface="+mn-ea"/>
                  </a:rPr>
                  <a:t>属性定義</a:t>
                </a:r>
                <a:endParaRPr lang="en-US" altLang="ja-JP" sz="1200" b="1" dirty="0">
                  <a:latin typeface="+mn-ea"/>
                </a:endParaRPr>
              </a:p>
              <a:p>
                <a:r>
                  <a:rPr lang="ja-JP" altLang="en-US" sz="1200" b="1" dirty="0">
                    <a:latin typeface="+mn-ea"/>
                  </a:rPr>
                  <a:t>（</a:t>
                </a:r>
                <a:r>
                  <a:rPr lang="en-US" altLang="ja-JP" sz="1200" b="1" dirty="0">
                    <a:latin typeface="+mn-ea"/>
                  </a:rPr>
                  <a:t>K-means</a:t>
                </a:r>
                <a:r>
                  <a:rPr lang="ja-JP" altLang="en-US" sz="1200" b="1" dirty="0">
                    <a:latin typeface="+mn-ea"/>
                  </a:rPr>
                  <a:t>）</a:t>
                </a:r>
                <a:endParaRPr lang="en-US" altLang="ja-JP" sz="1200" b="1" dirty="0">
                  <a:latin typeface="+mn-ea"/>
                </a:endParaRPr>
              </a:p>
            </p:txBody>
          </p:sp>
          <p:sp>
            <p:nvSpPr>
              <p:cNvPr id="80" name="テキスト ボックス 79">
                <a:extLst>
                  <a:ext uri="{FF2B5EF4-FFF2-40B4-BE49-F238E27FC236}">
                    <a16:creationId xmlns:a16="http://schemas.microsoft.com/office/drawing/2014/main" id="{937623D5-D63E-ED59-211F-2211982A6B9F}"/>
                  </a:ext>
                </a:extLst>
              </p:cNvPr>
              <p:cNvSpPr txBox="1"/>
              <p:nvPr/>
            </p:nvSpPr>
            <p:spPr>
              <a:xfrm>
                <a:off x="5961132" y="885918"/>
                <a:ext cx="506637" cy="276998"/>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1200" b="1" dirty="0"/>
                  <a:t>清掃</a:t>
                </a:r>
                <a:endParaRPr kumimoji="1" lang="ja-JP" altLang="en-US" sz="1200" b="1" dirty="0"/>
              </a:p>
            </p:txBody>
          </p:sp>
          <p:grpSp>
            <p:nvGrpSpPr>
              <p:cNvPr id="91" name="グループ化 90">
                <a:extLst>
                  <a:ext uri="{FF2B5EF4-FFF2-40B4-BE49-F238E27FC236}">
                    <a16:creationId xmlns:a16="http://schemas.microsoft.com/office/drawing/2014/main" id="{F0B72DDC-0167-6AB3-919C-895D87BAD987}"/>
                  </a:ext>
                </a:extLst>
              </p:cNvPr>
              <p:cNvGrpSpPr/>
              <p:nvPr/>
            </p:nvGrpSpPr>
            <p:grpSpPr>
              <a:xfrm>
                <a:off x="1423625" y="744611"/>
                <a:ext cx="10331092" cy="1774507"/>
                <a:chOff x="1423625" y="744611"/>
                <a:chExt cx="10331092" cy="1774507"/>
              </a:xfrm>
            </p:grpSpPr>
            <p:sp>
              <p:nvSpPr>
                <p:cNvPr id="51" name="テキスト ボックス 50">
                  <a:extLst>
                    <a:ext uri="{FF2B5EF4-FFF2-40B4-BE49-F238E27FC236}">
                      <a16:creationId xmlns:a16="http://schemas.microsoft.com/office/drawing/2014/main" id="{C46DB12E-6B99-0D11-CC9A-1E06329E38ED}"/>
                    </a:ext>
                  </a:extLst>
                </p:cNvPr>
                <p:cNvSpPr txBox="1"/>
                <p:nvPr/>
              </p:nvSpPr>
              <p:spPr>
                <a:xfrm>
                  <a:off x="1423625" y="2057453"/>
                  <a:ext cx="1275745"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単語をベクトル化</a:t>
                  </a:r>
                  <a:endParaRPr lang="en-US" altLang="ja-JP" sz="1200" b="1" dirty="0">
                    <a:latin typeface="+mn-ea"/>
                  </a:endParaRPr>
                </a:p>
                <a:p>
                  <a:r>
                    <a:rPr lang="ja-JP" altLang="en-US" sz="1200" b="1" dirty="0">
                      <a:latin typeface="+mn-ea"/>
                    </a:rPr>
                    <a:t>（</a:t>
                  </a:r>
                  <a:r>
                    <a:rPr lang="en-US" altLang="ja-JP" sz="1200" b="1" dirty="0">
                      <a:latin typeface="+mn-ea"/>
                    </a:rPr>
                    <a:t>Word2vec</a:t>
                  </a:r>
                  <a:r>
                    <a:rPr lang="ja-JP" altLang="en-US" sz="1200" b="1" dirty="0">
                      <a:latin typeface="+mn-ea"/>
                    </a:rPr>
                    <a:t>）</a:t>
                  </a:r>
                  <a:endParaRPr lang="en-US" altLang="ja-JP" sz="1200" b="1" dirty="0">
                    <a:latin typeface="+mn-ea"/>
                  </a:endParaRPr>
                </a:p>
              </p:txBody>
            </p:sp>
            <p:sp>
              <p:nvSpPr>
                <p:cNvPr id="20" name="矢印: 右 19">
                  <a:extLst>
                    <a:ext uri="{FF2B5EF4-FFF2-40B4-BE49-F238E27FC236}">
                      <a16:creationId xmlns:a16="http://schemas.microsoft.com/office/drawing/2014/main" id="{338347A8-D676-89B0-6BEF-2332B63397CE}"/>
                    </a:ext>
                  </a:extLst>
                </p:cNvPr>
                <p:cNvSpPr/>
                <p:nvPr/>
              </p:nvSpPr>
              <p:spPr>
                <a:xfrm>
                  <a:off x="1802366" y="14546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AF7BB79C-13C9-E406-BFD2-D414CB010C9D}"/>
                    </a:ext>
                  </a:extLst>
                </p:cNvPr>
                <p:cNvSpPr txBox="1"/>
                <p:nvPr/>
              </p:nvSpPr>
              <p:spPr>
                <a:xfrm>
                  <a:off x="2782630" y="1886828"/>
                  <a:ext cx="1077538"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美味しい</a:t>
                  </a:r>
                  <a:endParaRPr lang="en-US" altLang="ja-JP" sz="1400" b="1" dirty="0">
                    <a:latin typeface="+mn-ea"/>
                  </a:endParaRPr>
                </a:p>
                <a:p>
                  <a:r>
                    <a:rPr lang="en-US" altLang="ja-JP" sz="1400" b="1" dirty="0">
                      <a:latin typeface="+mn-ea"/>
                    </a:rPr>
                    <a:t>[1,2,3,1,2,5]</a:t>
                  </a:r>
                </a:p>
              </p:txBody>
            </p:sp>
            <p:sp>
              <p:nvSpPr>
                <p:cNvPr id="36" name="テキスト ボックス 35">
                  <a:extLst>
                    <a:ext uri="{FF2B5EF4-FFF2-40B4-BE49-F238E27FC236}">
                      <a16:creationId xmlns:a16="http://schemas.microsoft.com/office/drawing/2014/main" id="{735268A4-B55C-3856-59E4-8F3112DBF8C3}"/>
                    </a:ext>
                  </a:extLst>
                </p:cNvPr>
                <p:cNvSpPr txBox="1"/>
                <p:nvPr/>
              </p:nvSpPr>
              <p:spPr>
                <a:xfrm>
                  <a:off x="2788498" y="1267885"/>
                  <a:ext cx="1071669"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きれい</a:t>
                  </a:r>
                  <a:endParaRPr lang="en-US" altLang="ja-JP" sz="1400" b="1" dirty="0">
                    <a:latin typeface="+mn-ea"/>
                  </a:endParaRPr>
                </a:p>
                <a:p>
                  <a:r>
                    <a:rPr lang="en-US" altLang="ja-JP" sz="1400" b="1" dirty="0">
                      <a:latin typeface="+mn-ea"/>
                    </a:rPr>
                    <a:t>[2,3,4,5,6]</a:t>
                  </a:r>
                </a:p>
              </p:txBody>
            </p:sp>
            <p:sp>
              <p:nvSpPr>
                <p:cNvPr id="40" name="矢印: 右 39">
                  <a:extLst>
                    <a:ext uri="{FF2B5EF4-FFF2-40B4-BE49-F238E27FC236}">
                      <a16:creationId xmlns:a16="http://schemas.microsoft.com/office/drawing/2014/main" id="{D634A656-B926-FC26-4E17-3DEF30A39931}"/>
                    </a:ext>
                  </a:extLst>
                </p:cNvPr>
                <p:cNvSpPr/>
                <p:nvPr/>
              </p:nvSpPr>
              <p:spPr>
                <a:xfrm>
                  <a:off x="4396326" y="1436544"/>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フローチャート: 結合子 62">
                  <a:extLst>
                    <a:ext uri="{FF2B5EF4-FFF2-40B4-BE49-F238E27FC236}">
                      <a16:creationId xmlns:a16="http://schemas.microsoft.com/office/drawing/2014/main" id="{4689B1FF-FBA1-C29F-3B61-7ADB15FB8452}"/>
                    </a:ext>
                  </a:extLst>
                </p:cNvPr>
                <p:cNvSpPr/>
                <p:nvPr/>
              </p:nvSpPr>
              <p:spPr>
                <a:xfrm flipH="1" flipV="1">
                  <a:off x="6074404" y="12971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フローチャート: 結合子 63">
                  <a:extLst>
                    <a:ext uri="{FF2B5EF4-FFF2-40B4-BE49-F238E27FC236}">
                      <a16:creationId xmlns:a16="http://schemas.microsoft.com/office/drawing/2014/main" id="{ABDE4C07-4496-2AB0-FDD1-BA2986B67E29}"/>
                    </a:ext>
                  </a:extLst>
                </p:cNvPr>
                <p:cNvSpPr/>
                <p:nvPr/>
              </p:nvSpPr>
              <p:spPr>
                <a:xfrm flipH="1" flipV="1">
                  <a:off x="6246375" y="1251326"/>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結合子 66">
                  <a:extLst>
                    <a:ext uri="{FF2B5EF4-FFF2-40B4-BE49-F238E27FC236}">
                      <a16:creationId xmlns:a16="http://schemas.microsoft.com/office/drawing/2014/main" id="{C83B0D04-BBBE-E7EF-BAB8-F985280AFCFA}"/>
                    </a:ext>
                  </a:extLst>
                </p:cNvPr>
                <p:cNvSpPr/>
                <p:nvPr/>
              </p:nvSpPr>
              <p:spPr>
                <a:xfrm flipH="1" flipV="1">
                  <a:off x="6220705" y="1440089"/>
                  <a:ext cx="94134" cy="10344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フローチャート: 結合子 68">
                  <a:extLst>
                    <a:ext uri="{FF2B5EF4-FFF2-40B4-BE49-F238E27FC236}">
                      <a16:creationId xmlns:a16="http://schemas.microsoft.com/office/drawing/2014/main" id="{BD0A8C0E-2259-4664-FBC9-7A61DEA193DF}"/>
                    </a:ext>
                  </a:extLst>
                </p:cNvPr>
                <p:cNvSpPr/>
                <p:nvPr/>
              </p:nvSpPr>
              <p:spPr>
                <a:xfrm rot="1497469" flipH="1" flipV="1">
                  <a:off x="6226804" y="14495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9" name="グループ化 78">
                  <a:extLst>
                    <a:ext uri="{FF2B5EF4-FFF2-40B4-BE49-F238E27FC236}">
                      <a16:creationId xmlns:a16="http://schemas.microsoft.com/office/drawing/2014/main" id="{7DA26828-92E5-9575-DAD9-D1E7A917AF69}"/>
                    </a:ext>
                  </a:extLst>
                </p:cNvPr>
                <p:cNvGrpSpPr/>
                <p:nvPr/>
              </p:nvGrpSpPr>
              <p:grpSpPr>
                <a:xfrm>
                  <a:off x="5816898" y="1781124"/>
                  <a:ext cx="246534" cy="400012"/>
                  <a:chOff x="5816898" y="1781124"/>
                  <a:chExt cx="246534" cy="400012"/>
                </a:xfrm>
                <a:solidFill>
                  <a:srgbClr val="FFC000"/>
                </a:solidFill>
              </p:grpSpPr>
              <p:sp>
                <p:nvSpPr>
                  <p:cNvPr id="68" name="フローチャート: 結合子 67">
                    <a:extLst>
                      <a:ext uri="{FF2B5EF4-FFF2-40B4-BE49-F238E27FC236}">
                        <a16:creationId xmlns:a16="http://schemas.microsoft.com/office/drawing/2014/main" id="{12AE203A-AD1E-4E72-9E50-3F97F9A105CC}"/>
                      </a:ext>
                    </a:extLst>
                  </p:cNvPr>
                  <p:cNvSpPr/>
                  <p:nvPr/>
                </p:nvSpPr>
                <p:spPr>
                  <a:xfrm flipH="1" flipV="1">
                    <a:off x="5816898" y="17811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フローチャート: 結合子 69">
                    <a:extLst>
                      <a:ext uri="{FF2B5EF4-FFF2-40B4-BE49-F238E27FC236}">
                        <a16:creationId xmlns:a16="http://schemas.microsoft.com/office/drawing/2014/main" id="{036ECFBD-124F-1E85-C231-578486842908}"/>
                      </a:ext>
                    </a:extLst>
                  </p:cNvPr>
                  <p:cNvSpPr/>
                  <p:nvPr/>
                </p:nvSpPr>
                <p:spPr>
                  <a:xfrm rot="1497469" flipH="1" flipV="1">
                    <a:off x="5855643" y="1921152"/>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フローチャート: 結合子 72">
                    <a:extLst>
                      <a:ext uri="{FF2B5EF4-FFF2-40B4-BE49-F238E27FC236}">
                        <a16:creationId xmlns:a16="http://schemas.microsoft.com/office/drawing/2014/main" id="{ADE2777C-730A-6499-B20A-DA09BFA7B762}"/>
                      </a:ext>
                    </a:extLst>
                  </p:cNvPr>
                  <p:cNvSpPr/>
                  <p:nvPr/>
                </p:nvSpPr>
                <p:spPr>
                  <a:xfrm flipH="1" flipV="1">
                    <a:off x="5969298" y="19335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フローチャート: 結合子 73">
                    <a:extLst>
                      <a:ext uri="{FF2B5EF4-FFF2-40B4-BE49-F238E27FC236}">
                        <a16:creationId xmlns:a16="http://schemas.microsoft.com/office/drawing/2014/main" id="{ED02999C-2906-B9A4-C26B-E3158DF49E84}"/>
                      </a:ext>
                    </a:extLst>
                  </p:cNvPr>
                  <p:cNvSpPr/>
                  <p:nvPr/>
                </p:nvSpPr>
                <p:spPr>
                  <a:xfrm flipH="1" flipV="1">
                    <a:off x="5922231" y="207769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1" name="テキスト ボックス 80">
                  <a:extLst>
                    <a:ext uri="{FF2B5EF4-FFF2-40B4-BE49-F238E27FC236}">
                      <a16:creationId xmlns:a16="http://schemas.microsoft.com/office/drawing/2014/main" id="{D6F5226D-09DF-CC5C-2884-66A523BCE97C}"/>
                    </a:ext>
                  </a:extLst>
                </p:cNvPr>
                <p:cNvSpPr txBox="1"/>
                <p:nvPr/>
              </p:nvSpPr>
              <p:spPr>
                <a:xfrm>
                  <a:off x="5575391" y="1452530"/>
                  <a:ext cx="506637" cy="276999"/>
                </a:xfrm>
                <a:prstGeom prst="rect">
                  <a:avLst/>
                </a:prstGeom>
                <a:ln w="19050">
                  <a:solidFill>
                    <a:srgbClr val="FFC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200" b="1" dirty="0"/>
                    <a:t>食事</a:t>
                  </a:r>
                </a:p>
              </p:txBody>
            </p:sp>
            <p:sp>
              <p:nvSpPr>
                <p:cNvPr id="82" name="矢印: 右 81">
                  <a:extLst>
                    <a:ext uri="{FF2B5EF4-FFF2-40B4-BE49-F238E27FC236}">
                      <a16:creationId xmlns:a16="http://schemas.microsoft.com/office/drawing/2014/main" id="{C21AFE70-2E81-CA0E-0D96-63A62C8336ED}"/>
                    </a:ext>
                  </a:extLst>
                </p:cNvPr>
                <p:cNvSpPr/>
                <p:nvPr/>
              </p:nvSpPr>
              <p:spPr>
                <a:xfrm>
                  <a:off x="7006434" y="1400565"/>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6930736D-385A-CD9F-8A2C-7ACFF28344B1}"/>
                    </a:ext>
                  </a:extLst>
                </p:cNvPr>
                <p:cNvSpPr txBox="1"/>
                <p:nvPr/>
              </p:nvSpPr>
              <p:spPr>
                <a:xfrm>
                  <a:off x="6654433" y="2039625"/>
                  <a:ext cx="1308869"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86" name="グループ化 85">
                  <a:extLst>
                    <a:ext uri="{FF2B5EF4-FFF2-40B4-BE49-F238E27FC236}">
                      <a16:creationId xmlns:a16="http://schemas.microsoft.com/office/drawing/2014/main" id="{8E23B12D-2633-2948-9E1F-54CF1CD49C47}"/>
                    </a:ext>
                  </a:extLst>
                </p:cNvPr>
                <p:cNvGrpSpPr/>
                <p:nvPr/>
              </p:nvGrpSpPr>
              <p:grpSpPr>
                <a:xfrm>
                  <a:off x="8049186" y="744611"/>
                  <a:ext cx="1389631" cy="1580032"/>
                  <a:chOff x="1162717" y="2321495"/>
                  <a:chExt cx="2515774" cy="3184820"/>
                </a:xfrm>
              </p:grpSpPr>
              <p:pic>
                <p:nvPicPr>
                  <p:cNvPr id="84" name="図 83" descr="アイコン&#10;&#10;AI 生成コンテンツは誤りを含む可能性があります。">
                    <a:extLst>
                      <a:ext uri="{FF2B5EF4-FFF2-40B4-BE49-F238E27FC236}">
                        <a16:creationId xmlns:a16="http://schemas.microsoft.com/office/drawing/2014/main" id="{1D0478EE-EB9F-FB49-DE8C-7A174B77A6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85" name="テキスト ボックス 84">
                    <a:extLst>
                      <a:ext uri="{FF2B5EF4-FFF2-40B4-BE49-F238E27FC236}">
                        <a16:creationId xmlns:a16="http://schemas.microsoft.com/office/drawing/2014/main" id="{34DDD40E-E690-1F29-2612-76F5A54B63F2}"/>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87" name="テキスト ボックス 86">
                  <a:extLst>
                    <a:ext uri="{FF2B5EF4-FFF2-40B4-BE49-F238E27FC236}">
                      <a16:creationId xmlns:a16="http://schemas.microsoft.com/office/drawing/2014/main" id="{9A55581F-0DC8-C826-C772-E73CBFCC16B0}"/>
                    </a:ext>
                  </a:extLst>
                </p:cNvPr>
                <p:cNvSpPr txBox="1"/>
                <p:nvPr/>
              </p:nvSpPr>
              <p:spPr>
                <a:xfrm>
                  <a:off x="9162442" y="2039625"/>
                  <a:ext cx="11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a:t>
                  </a:r>
                  <a:endParaRPr lang="en-US" altLang="ja-JP" sz="1200" b="1" dirty="0">
                    <a:latin typeface="+mn-ea"/>
                  </a:endParaRPr>
                </a:p>
                <a:p>
                  <a:r>
                    <a:rPr lang="en-US" altLang="ja-JP" sz="1200" b="1" dirty="0">
                      <a:latin typeface="+mn-ea"/>
                    </a:rPr>
                    <a:t>    (IPCA)</a:t>
                  </a:r>
                </a:p>
              </p:txBody>
            </p:sp>
            <p:sp>
              <p:nvSpPr>
                <p:cNvPr id="88" name="矢印: 右 87">
                  <a:extLst>
                    <a:ext uri="{FF2B5EF4-FFF2-40B4-BE49-F238E27FC236}">
                      <a16:creationId xmlns:a16="http://schemas.microsoft.com/office/drawing/2014/main" id="{F875A6DF-E33D-9DB4-A079-E2865061663C}"/>
                    </a:ext>
                  </a:extLst>
                </p:cNvPr>
                <p:cNvSpPr/>
                <p:nvPr/>
              </p:nvSpPr>
              <p:spPr>
                <a:xfrm>
                  <a:off x="9451824" y="1379932"/>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57CEDF78-779F-E945-5BB6-FDB68ED1FCE7}"/>
                    </a:ext>
                  </a:extLst>
                </p:cNvPr>
                <p:cNvSpPr txBox="1"/>
                <p:nvPr/>
              </p:nvSpPr>
              <p:spPr>
                <a:xfrm>
                  <a:off x="10534813" y="1120104"/>
                  <a:ext cx="1219904"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a:p>
                  <a:r>
                    <a:rPr lang="ja-JP" altLang="en-US" sz="1400" b="1" dirty="0">
                      <a:latin typeface="+mn-ea"/>
                    </a:rPr>
                    <a:t> </a:t>
                  </a:r>
                  <a:r>
                    <a:rPr lang="ja-JP" altLang="en-US" sz="1400" b="1" u="sng" dirty="0">
                      <a:latin typeface="+mn-ea"/>
                    </a:rPr>
                    <a:t>競合より高い</a:t>
                  </a:r>
                  <a:endParaRPr lang="en-US" altLang="ja-JP" sz="1400" b="1" u="sng" dirty="0">
                    <a:latin typeface="+mn-ea"/>
                  </a:endParaRPr>
                </a:p>
              </p:txBody>
            </p:sp>
            <p:sp>
              <p:nvSpPr>
                <p:cNvPr id="90" name="テキスト ボックス 89">
                  <a:extLst>
                    <a:ext uri="{FF2B5EF4-FFF2-40B4-BE49-F238E27FC236}">
                      <a16:creationId xmlns:a16="http://schemas.microsoft.com/office/drawing/2014/main" id="{CCB22499-6A76-7BBF-1C54-7D223BE2C723}"/>
                    </a:ext>
                  </a:extLst>
                </p:cNvPr>
                <p:cNvSpPr txBox="1"/>
                <p:nvPr/>
              </p:nvSpPr>
              <p:spPr>
                <a:xfrm>
                  <a:off x="10534812" y="1716354"/>
                  <a:ext cx="1219903"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a:p>
                  <a:r>
                    <a:rPr lang="ja-JP" altLang="en-US" sz="1400" b="1" u="sng" dirty="0">
                      <a:latin typeface="+mn-ea"/>
                    </a:rPr>
                    <a:t>競合より低い</a:t>
                  </a:r>
                  <a:endParaRPr lang="en-US" altLang="ja-JP" sz="1400" b="1" u="sng" dirty="0">
                    <a:latin typeface="+mn-ea"/>
                  </a:endParaRPr>
                </a:p>
              </p:txBody>
            </p:sp>
          </p:grpSp>
        </p:grpSp>
      </p:grpSp>
      <p:sp>
        <p:nvSpPr>
          <p:cNvPr id="94" name="正方形/長方形 93">
            <a:extLst>
              <a:ext uri="{FF2B5EF4-FFF2-40B4-BE49-F238E27FC236}">
                <a16:creationId xmlns:a16="http://schemas.microsoft.com/office/drawing/2014/main" id="{B746C67B-2691-F0D5-DD11-B31800981907}"/>
              </a:ext>
            </a:extLst>
          </p:cNvPr>
          <p:cNvSpPr/>
          <p:nvPr/>
        </p:nvSpPr>
        <p:spPr>
          <a:xfrm>
            <a:off x="169062" y="1294106"/>
            <a:ext cx="11853876" cy="2206717"/>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5" name="テキスト ボックス 94">
            <a:extLst>
              <a:ext uri="{FF2B5EF4-FFF2-40B4-BE49-F238E27FC236}">
                <a16:creationId xmlns:a16="http://schemas.microsoft.com/office/drawing/2014/main" id="{6EF00118-1205-A929-DA9B-4C4AEDD3BF88}"/>
              </a:ext>
            </a:extLst>
          </p:cNvPr>
          <p:cNvSpPr txBox="1"/>
          <p:nvPr/>
        </p:nvSpPr>
        <p:spPr>
          <a:xfrm>
            <a:off x="309282" y="4505356"/>
            <a:ext cx="2939756"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既存研究ではインタビュー結果を活用</a:t>
            </a:r>
            <a:endParaRPr lang="en-US" altLang="ja-JP" sz="1400" b="1" dirty="0">
              <a:latin typeface="+mn-ea"/>
            </a:endParaRPr>
          </a:p>
          <a:p>
            <a:r>
              <a:rPr lang="ja-JP" altLang="en-US" sz="1400" b="1" dirty="0">
                <a:latin typeface="+mn-ea"/>
              </a:rPr>
              <a:t>属性 </a:t>
            </a:r>
            <a:r>
              <a:rPr lang="en-US" altLang="ja-JP" sz="1400" b="1" dirty="0">
                <a:latin typeface="+mn-ea"/>
              </a:rPr>
              <a:t>: </a:t>
            </a:r>
            <a:r>
              <a:rPr lang="en-US" altLang="ja-JP" sz="1400" b="1" i="1" dirty="0">
                <a:latin typeface="+mn-ea"/>
              </a:rPr>
              <a:t>m</a:t>
            </a:r>
            <a:r>
              <a:rPr lang="en-US" altLang="ja-JP" sz="1400" b="1" dirty="0">
                <a:latin typeface="+mn-ea"/>
              </a:rPr>
              <a:t>, </a:t>
            </a:r>
            <a:r>
              <a:rPr lang="ja-JP" altLang="en-US" sz="1400" b="1" dirty="0">
                <a:latin typeface="+mn-ea"/>
              </a:rPr>
              <a:t>回答者 </a:t>
            </a:r>
            <a:r>
              <a:rPr lang="en-US" altLang="ja-JP" sz="1400" b="1" dirty="0">
                <a:latin typeface="+mn-ea"/>
              </a:rPr>
              <a:t>: </a:t>
            </a:r>
            <a:r>
              <a:rPr lang="en-US" altLang="ja-JP" sz="1400" b="1" i="1" dirty="0">
                <a:latin typeface="+mn-ea"/>
              </a:rPr>
              <a:t>n </a:t>
            </a:r>
            <a:r>
              <a:rPr lang="ja-JP" altLang="en-US" sz="1400" b="1" dirty="0">
                <a:latin typeface="+mn-ea"/>
              </a:rPr>
              <a:t>とする。</a:t>
            </a:r>
            <a:endParaRPr lang="en-US" altLang="ja-JP" sz="1400" b="1" dirty="0">
              <a:latin typeface="+mn-ea"/>
            </a:endParaRPr>
          </a:p>
        </p:txBody>
      </p:sp>
      <p:grpSp>
        <p:nvGrpSpPr>
          <p:cNvPr id="101" name="グループ化 100">
            <a:extLst>
              <a:ext uri="{FF2B5EF4-FFF2-40B4-BE49-F238E27FC236}">
                <a16:creationId xmlns:a16="http://schemas.microsoft.com/office/drawing/2014/main" id="{B73274D9-BCD8-D530-557D-673B999416E6}"/>
              </a:ext>
            </a:extLst>
          </p:cNvPr>
          <p:cNvGrpSpPr/>
          <p:nvPr/>
        </p:nvGrpSpPr>
        <p:grpSpPr>
          <a:xfrm>
            <a:off x="304667" y="5192841"/>
            <a:ext cx="1985818" cy="1148137"/>
            <a:chOff x="1894705" y="4697975"/>
            <a:chExt cx="1985818" cy="1148137"/>
          </a:xfrm>
        </p:grpSpPr>
        <p:sp>
          <p:nvSpPr>
            <p:cNvPr id="97" name="テキスト ボックス 96">
              <a:extLst>
                <a:ext uri="{FF2B5EF4-FFF2-40B4-BE49-F238E27FC236}">
                  <a16:creationId xmlns:a16="http://schemas.microsoft.com/office/drawing/2014/main" id="{87CC48A4-2F96-4FC6-2086-586F6E8CAC84}"/>
                </a:ext>
              </a:extLst>
            </p:cNvPr>
            <p:cNvSpPr txBox="1"/>
            <p:nvPr/>
          </p:nvSpPr>
          <p:spPr>
            <a:xfrm>
              <a:off x="1936012" y="4697975"/>
              <a:ext cx="1944511"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STEP1</a:t>
              </a:r>
              <a:r>
                <a:rPr lang="ja-JP" altLang="en-US" sz="1200" b="1" dirty="0">
                  <a:latin typeface="+mn-ea"/>
                </a:rPr>
                <a:t>：平均重要度の算出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0" name="テキスト ボックス 99">
                  <a:extLst>
                    <a:ext uri="{FF2B5EF4-FFF2-40B4-BE49-F238E27FC236}">
                      <a16:creationId xmlns:a16="http://schemas.microsoft.com/office/drawing/2014/main" id="{0355A084-C851-A2C8-41C1-3B88DFF2F8EE}"/>
                    </a:ext>
                  </a:extLst>
                </p:cNvPr>
                <p:cNvSpPr txBox="1"/>
                <p:nvPr/>
              </p:nvSpPr>
              <p:spPr>
                <a:xfrm>
                  <a:off x="1894705" y="4999085"/>
                  <a:ext cx="1919913"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r>
                              <m:rPr>
                                <m:sty m:val="p"/>
                              </m:rPr>
                              <a:rPr lang="en-US" altLang="ja-JP" b="1" i="1" smtClean="0">
                                <a:latin typeface="Cambria Math" panose="02040503050406030204" pitchFamily="18" charset="0"/>
                              </a:rPr>
                              <m:t>n</m:t>
                            </m:r>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r>
                              <m:rPr>
                                <m:sty m:val="p"/>
                              </m:rPr>
                              <a:rPr lang="en-US" altLang="ja-JP" b="1" i="1" smtClean="0">
                                <a:latin typeface="Cambria Math" panose="02040503050406030204" pitchFamily="18" charset="0"/>
                              </a:rPr>
                              <m:t>n</m:t>
                            </m:r>
                          </m:sup>
                          <m:e>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ij</m:t>
                                </m:r>
                              </m:sub>
                            </m:sSub>
                          </m:e>
                        </m:nary>
                      </m:oMath>
                    </m:oMathPara>
                  </a14:m>
                  <a:endParaRPr lang="en-US" altLang="ja-JP" b="1" dirty="0">
                    <a:latin typeface="+mn-ea"/>
                  </a:endParaRPr>
                </a:p>
              </p:txBody>
            </p:sp>
          </mc:Choice>
          <mc:Fallback xmlns="">
            <p:sp>
              <p:nvSpPr>
                <p:cNvPr id="100" name="テキスト ボックス 99">
                  <a:extLst>
                    <a:ext uri="{FF2B5EF4-FFF2-40B4-BE49-F238E27FC236}">
                      <a16:creationId xmlns:a16="http://schemas.microsoft.com/office/drawing/2014/main" id="{0355A084-C851-A2C8-41C1-3B88DFF2F8EE}"/>
                    </a:ext>
                  </a:extLst>
                </p:cNvPr>
                <p:cNvSpPr txBox="1">
                  <a:spLocks noRot="1" noChangeAspect="1" noMove="1" noResize="1" noEditPoints="1" noAdjustHandles="1" noChangeArrowheads="1" noChangeShapeType="1" noTextEdit="1"/>
                </p:cNvSpPr>
                <p:nvPr/>
              </p:nvSpPr>
              <p:spPr>
                <a:xfrm>
                  <a:off x="1894705" y="4999085"/>
                  <a:ext cx="1919913" cy="847027"/>
                </a:xfrm>
                <a:prstGeom prst="rect">
                  <a:avLst/>
                </a:prstGeom>
                <a:blipFill>
                  <a:blip r:embed="rId3"/>
                  <a:stretch>
                    <a:fillRect/>
                  </a:stretch>
                </a:blipFill>
                <a:ln>
                  <a:noFill/>
                </a:ln>
              </p:spPr>
              <p:txBody>
                <a:bodyPr/>
                <a:lstStyle/>
                <a:p>
                  <a:r>
                    <a:rPr lang="ja-JP" altLang="en-US">
                      <a:noFill/>
                    </a:rPr>
                    <a:t> </a:t>
                  </a:r>
                </a:p>
              </p:txBody>
            </p:sp>
          </mc:Fallback>
        </mc:AlternateContent>
      </p:grpSp>
      <p:grpSp>
        <p:nvGrpSpPr>
          <p:cNvPr id="102" name="グループ化 101">
            <a:extLst>
              <a:ext uri="{FF2B5EF4-FFF2-40B4-BE49-F238E27FC236}">
                <a16:creationId xmlns:a16="http://schemas.microsoft.com/office/drawing/2014/main" id="{0821801D-9C97-AB19-7081-8D670A0B91A0}"/>
              </a:ext>
            </a:extLst>
          </p:cNvPr>
          <p:cNvGrpSpPr/>
          <p:nvPr/>
        </p:nvGrpSpPr>
        <p:grpSpPr>
          <a:xfrm>
            <a:off x="2544637" y="5192841"/>
            <a:ext cx="2609253" cy="1212792"/>
            <a:chOff x="1936011" y="4697975"/>
            <a:chExt cx="2609253" cy="1212792"/>
          </a:xfrm>
        </p:grpSpPr>
        <p:sp>
          <p:nvSpPr>
            <p:cNvPr id="103" name="テキスト ボックス 102">
              <a:extLst>
                <a:ext uri="{FF2B5EF4-FFF2-40B4-BE49-F238E27FC236}">
                  <a16:creationId xmlns:a16="http://schemas.microsoft.com/office/drawing/2014/main" id="{7F217E73-5BD9-29C2-568E-A4BE223D1609}"/>
                </a:ext>
              </a:extLst>
            </p:cNvPr>
            <p:cNvSpPr txBox="1"/>
            <p:nvPr/>
          </p:nvSpPr>
          <p:spPr>
            <a:xfrm>
              <a:off x="1936011" y="4697975"/>
              <a:ext cx="260925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STEP2</a:t>
              </a:r>
              <a:r>
                <a:rPr lang="ja-JP" altLang="en-US" sz="1200" b="1" dirty="0">
                  <a:latin typeface="+mn-ea"/>
                </a:rPr>
                <a:t>：自社パフォーマンス平均の算出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4" name="テキスト ボックス 103">
                  <a:extLst>
                    <a:ext uri="{FF2B5EF4-FFF2-40B4-BE49-F238E27FC236}">
                      <a16:creationId xmlns:a16="http://schemas.microsoft.com/office/drawing/2014/main" id="{72CAC8EE-3A36-D883-CD23-BA177AD851C6}"/>
                    </a:ext>
                  </a:extLst>
                </p:cNvPr>
                <p:cNvSpPr txBox="1"/>
                <p:nvPr/>
              </p:nvSpPr>
              <p:spPr>
                <a:xfrm>
                  <a:off x="2192388" y="5063740"/>
                  <a:ext cx="1919913"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r>
                          <a:rPr lang="en-US" altLang="ja-JP" b="1" i="1" smtClean="0">
                            <a:latin typeface="Cambria Math" panose="02040503050406030204" pitchFamily="18" charset="0"/>
                          </a:rPr>
                          <m:t>=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f</m:t>
                                </m:r>
                              </m:sub>
                            </m:sSub>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f</m:t>
                                </m:r>
                              </m:sub>
                            </m:sSub>
                          </m:sup>
                          <m:e>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ij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e>
                        </m:nary>
                      </m:oMath>
                    </m:oMathPara>
                  </a14:m>
                  <a:endParaRPr lang="en-US" altLang="ja-JP" b="1" dirty="0">
                    <a:latin typeface="+mn-ea"/>
                  </a:endParaRPr>
                </a:p>
              </p:txBody>
            </p:sp>
          </mc:Choice>
          <mc:Fallback xmlns="">
            <p:sp>
              <p:nvSpPr>
                <p:cNvPr id="104" name="テキスト ボックス 103">
                  <a:extLst>
                    <a:ext uri="{FF2B5EF4-FFF2-40B4-BE49-F238E27FC236}">
                      <a16:creationId xmlns:a16="http://schemas.microsoft.com/office/drawing/2014/main" id="{72CAC8EE-3A36-D883-CD23-BA177AD851C6}"/>
                    </a:ext>
                  </a:extLst>
                </p:cNvPr>
                <p:cNvSpPr txBox="1">
                  <a:spLocks noRot="1" noChangeAspect="1" noMove="1" noResize="1" noEditPoints="1" noAdjustHandles="1" noChangeArrowheads="1" noChangeShapeType="1" noTextEdit="1"/>
                </p:cNvSpPr>
                <p:nvPr/>
              </p:nvSpPr>
              <p:spPr>
                <a:xfrm>
                  <a:off x="2192388" y="5063740"/>
                  <a:ext cx="1919913" cy="847027"/>
                </a:xfrm>
                <a:prstGeom prst="rect">
                  <a:avLst/>
                </a:prstGeom>
                <a:blipFill>
                  <a:blip r:embed="rId4"/>
                  <a:stretch>
                    <a:fillRect/>
                  </a:stretch>
                </a:blipFill>
                <a:ln>
                  <a:noFill/>
                </a:ln>
              </p:spPr>
              <p:txBody>
                <a:bodyPr/>
                <a:lstStyle/>
                <a:p>
                  <a:r>
                    <a:rPr lang="ja-JP" altLang="en-US">
                      <a:noFill/>
                    </a:rPr>
                    <a:t> </a:t>
                  </a:r>
                </a:p>
              </p:txBody>
            </p:sp>
          </mc:Fallback>
        </mc:AlternateContent>
      </p:grpSp>
      <p:grpSp>
        <p:nvGrpSpPr>
          <p:cNvPr id="105" name="グループ化 104">
            <a:extLst>
              <a:ext uri="{FF2B5EF4-FFF2-40B4-BE49-F238E27FC236}">
                <a16:creationId xmlns:a16="http://schemas.microsoft.com/office/drawing/2014/main" id="{D094404A-48FB-0302-035B-C1D58E129EB4}"/>
              </a:ext>
            </a:extLst>
          </p:cNvPr>
          <p:cNvGrpSpPr/>
          <p:nvPr/>
        </p:nvGrpSpPr>
        <p:grpSpPr>
          <a:xfrm>
            <a:off x="5446872" y="5192841"/>
            <a:ext cx="2609253" cy="1212792"/>
            <a:chOff x="1936011" y="4697975"/>
            <a:chExt cx="2609253" cy="1212792"/>
          </a:xfrm>
        </p:grpSpPr>
        <p:sp>
          <p:nvSpPr>
            <p:cNvPr id="106" name="テキスト ボックス 105">
              <a:extLst>
                <a:ext uri="{FF2B5EF4-FFF2-40B4-BE49-F238E27FC236}">
                  <a16:creationId xmlns:a16="http://schemas.microsoft.com/office/drawing/2014/main" id="{8CF00836-11D5-723E-B949-028274F57DD4}"/>
                </a:ext>
              </a:extLst>
            </p:cNvPr>
            <p:cNvSpPr txBox="1"/>
            <p:nvPr/>
          </p:nvSpPr>
          <p:spPr>
            <a:xfrm>
              <a:off x="1936011" y="4697975"/>
              <a:ext cx="260925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STEP3</a:t>
              </a:r>
              <a:r>
                <a:rPr lang="ja-JP" altLang="en-US" sz="1200" b="1" dirty="0">
                  <a:latin typeface="+mn-ea"/>
                </a:rPr>
                <a:t>：競合パフォーマンス平均の算出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7" name="テキスト ボックス 106">
                  <a:extLst>
                    <a:ext uri="{FF2B5EF4-FFF2-40B4-BE49-F238E27FC236}">
                      <a16:creationId xmlns:a16="http://schemas.microsoft.com/office/drawing/2014/main" id="{8445D684-E59E-28A8-4CC8-F2BF51A48929}"/>
                    </a:ext>
                  </a:extLst>
                </p:cNvPr>
                <p:cNvSpPr txBox="1"/>
                <p:nvPr/>
              </p:nvSpPr>
              <p:spPr>
                <a:xfrm>
                  <a:off x="2192388" y="5063740"/>
                  <a:ext cx="2009115"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smtClean="0">
                                <a:latin typeface="Cambria Math" panose="02040503050406030204" pitchFamily="18" charset="0"/>
                              </a:rPr>
                              <m:t>)</m:t>
                            </m:r>
                          </m:sup>
                        </m:sSubSup>
                        <m:r>
                          <a:rPr lang="en-US" altLang="ja-JP" b="1" i="1" smtClean="0">
                            <a:latin typeface="Cambria Math" panose="02040503050406030204" pitchFamily="18" charset="0"/>
                          </a:rPr>
                          <m:t>=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c</m:t>
                                </m:r>
                              </m:sub>
                            </m:sSub>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c</m:t>
                                </m:r>
                              </m:sub>
                            </m:sSub>
                          </m:sup>
                          <m:e>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ij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smtClean="0">
                                    <a:latin typeface="Cambria Math" panose="02040503050406030204" pitchFamily="18" charset="0"/>
                                  </a:rPr>
                                  <m:t>)</m:t>
                                </m:r>
                              </m:sup>
                            </m:sSubSup>
                          </m:e>
                        </m:nary>
                      </m:oMath>
                    </m:oMathPara>
                  </a14:m>
                  <a:endParaRPr lang="en-US" altLang="ja-JP" b="1" dirty="0">
                    <a:latin typeface="+mn-ea"/>
                  </a:endParaRPr>
                </a:p>
              </p:txBody>
            </p:sp>
          </mc:Choice>
          <mc:Fallback xmlns="">
            <p:sp>
              <p:nvSpPr>
                <p:cNvPr id="107" name="テキスト ボックス 106">
                  <a:extLst>
                    <a:ext uri="{FF2B5EF4-FFF2-40B4-BE49-F238E27FC236}">
                      <a16:creationId xmlns:a16="http://schemas.microsoft.com/office/drawing/2014/main" id="{8445D684-E59E-28A8-4CC8-F2BF51A48929}"/>
                    </a:ext>
                  </a:extLst>
                </p:cNvPr>
                <p:cNvSpPr txBox="1">
                  <a:spLocks noRot="1" noChangeAspect="1" noMove="1" noResize="1" noEditPoints="1" noAdjustHandles="1" noChangeArrowheads="1" noChangeShapeType="1" noTextEdit="1"/>
                </p:cNvSpPr>
                <p:nvPr/>
              </p:nvSpPr>
              <p:spPr>
                <a:xfrm>
                  <a:off x="2192388" y="5063740"/>
                  <a:ext cx="2009115" cy="847027"/>
                </a:xfrm>
                <a:prstGeom prst="rect">
                  <a:avLst/>
                </a:prstGeom>
                <a:blipFill>
                  <a:blip r:embed="rId5"/>
                  <a:stretch>
                    <a:fillRect/>
                  </a:stretch>
                </a:blipFill>
                <a:ln>
                  <a:noFill/>
                </a:ln>
              </p:spPr>
              <p:txBody>
                <a:bodyPr/>
                <a:lstStyle/>
                <a:p>
                  <a:r>
                    <a:rPr lang="ja-JP" altLang="en-US">
                      <a:noFill/>
                    </a:rPr>
                    <a:t> </a:t>
                  </a:r>
                </a:p>
              </p:txBody>
            </p:sp>
          </mc:Fallback>
        </mc:AlternateContent>
      </p:grpSp>
      <p:grpSp>
        <p:nvGrpSpPr>
          <p:cNvPr id="108" name="グループ化 107">
            <a:extLst>
              <a:ext uri="{FF2B5EF4-FFF2-40B4-BE49-F238E27FC236}">
                <a16:creationId xmlns:a16="http://schemas.microsoft.com/office/drawing/2014/main" id="{59029366-D64C-225A-6E5D-E89A93098DEA}"/>
              </a:ext>
            </a:extLst>
          </p:cNvPr>
          <p:cNvGrpSpPr/>
          <p:nvPr/>
        </p:nvGrpSpPr>
        <p:grpSpPr>
          <a:xfrm>
            <a:off x="8399995" y="4503525"/>
            <a:ext cx="2358156" cy="896117"/>
            <a:chOff x="1936012" y="4697975"/>
            <a:chExt cx="2358156" cy="896117"/>
          </a:xfrm>
        </p:grpSpPr>
        <p:sp>
          <p:nvSpPr>
            <p:cNvPr id="109" name="テキスト ボックス 108">
              <a:extLst>
                <a:ext uri="{FF2B5EF4-FFF2-40B4-BE49-F238E27FC236}">
                  <a16:creationId xmlns:a16="http://schemas.microsoft.com/office/drawing/2014/main" id="{89E20B05-0ABF-D0C6-B2C1-4B0312A74B64}"/>
                </a:ext>
              </a:extLst>
            </p:cNvPr>
            <p:cNvSpPr txBox="1"/>
            <p:nvPr/>
          </p:nvSpPr>
          <p:spPr>
            <a:xfrm>
              <a:off x="1936012" y="4697975"/>
              <a:ext cx="23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STEP4</a:t>
              </a:r>
              <a:r>
                <a:rPr lang="ja-JP" altLang="en-US" sz="1200" b="1" dirty="0">
                  <a:latin typeface="+mn-ea"/>
                </a:rPr>
                <a:t>：</a:t>
              </a:r>
              <a:r>
                <a:rPr lang="en-US" altLang="ja-JP" sz="1200" b="1" dirty="0">
                  <a:latin typeface="+mn-ea"/>
                </a:rPr>
                <a:t>GAP score </a:t>
              </a:r>
              <a:r>
                <a:rPr lang="ja-JP" altLang="en-US" sz="1200" b="1" dirty="0">
                  <a:latin typeface="+mn-ea"/>
                </a:rPr>
                <a:t>の算出</a:t>
              </a:r>
              <a:endParaRPr lang="en-US" altLang="ja-JP" sz="1200" b="1" dirty="0">
                <a:latin typeface="+mn-ea"/>
              </a:endParaRPr>
            </a:p>
            <a:p>
              <a:r>
                <a:rPr lang="en-US" altLang="ja-JP" sz="1200" b="1" dirty="0">
                  <a:latin typeface="+mn-ea"/>
                </a:rPr>
                <a:t>            (</a:t>
              </a:r>
              <a:r>
                <a:rPr lang="ja-JP" altLang="en-US" sz="1200" b="1" dirty="0">
                  <a:latin typeface="+mn-ea"/>
                </a:rPr>
                <a:t>重要度と現実の差分</a:t>
              </a:r>
              <a:r>
                <a:rPr lang="en-US" altLang="ja-JP" sz="1200" b="1" dirty="0">
                  <a:latin typeface="+mn-ea"/>
                </a:rPr>
                <a:t>)</a:t>
              </a:r>
            </a:p>
          </p:txBody>
        </p:sp>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EB7B5F03-B802-589C-3AD7-A33AEC01CE35}"/>
                    </a:ext>
                  </a:extLst>
                </p:cNvPr>
                <p:cNvSpPr txBox="1"/>
                <p:nvPr/>
              </p:nvSpPr>
              <p:spPr>
                <a:xfrm>
                  <a:off x="2068311" y="5114474"/>
                  <a:ext cx="1919913" cy="47961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G</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sSubSup>
                          <m:sSubSupPr>
                            <m:ctrlPr>
                              <a:rPr lang="en-US" altLang="ja-JP" b="1" i="1" smtClean="0">
                                <a:latin typeface="Cambria Math" panose="02040503050406030204" pitchFamily="18" charset="0"/>
                              </a:rPr>
                            </m:ctrlPr>
                          </m:sSubSupPr>
                          <m:e>
                            <m:r>
                              <a:rPr lang="en-US" altLang="ja-JP" b="1" i="1" smtClean="0">
                                <a:latin typeface="Cambria Math" panose="02040503050406030204" pitchFamily="18" charset="0"/>
                              </a:rPr>
                              <m:t> </m:t>
                            </m:r>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rPr>
                              <m:t> </m:t>
                            </m:r>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oMath>
                    </m:oMathPara>
                  </a14:m>
                  <a:endParaRPr lang="en-US" altLang="ja-JP" b="1" dirty="0">
                    <a:latin typeface="+mn-ea"/>
                  </a:endParaRPr>
                </a:p>
              </p:txBody>
            </p:sp>
          </mc:Choice>
          <mc:Fallback xmlns="">
            <p:sp>
              <p:nvSpPr>
                <p:cNvPr id="110" name="テキスト ボックス 109">
                  <a:extLst>
                    <a:ext uri="{FF2B5EF4-FFF2-40B4-BE49-F238E27FC236}">
                      <a16:creationId xmlns:a16="http://schemas.microsoft.com/office/drawing/2014/main" id="{EB7B5F03-B802-589C-3AD7-A33AEC01CE35}"/>
                    </a:ext>
                  </a:extLst>
                </p:cNvPr>
                <p:cNvSpPr txBox="1">
                  <a:spLocks noRot="1" noChangeAspect="1" noMove="1" noResize="1" noEditPoints="1" noAdjustHandles="1" noChangeArrowheads="1" noChangeShapeType="1" noTextEdit="1"/>
                </p:cNvSpPr>
                <p:nvPr/>
              </p:nvSpPr>
              <p:spPr>
                <a:xfrm>
                  <a:off x="2068311" y="5114474"/>
                  <a:ext cx="1919913" cy="479618"/>
                </a:xfrm>
                <a:prstGeom prst="rect">
                  <a:avLst/>
                </a:prstGeom>
                <a:blipFill>
                  <a:blip r:embed="rId6"/>
                  <a:stretch>
                    <a:fillRect b="-6329"/>
                  </a:stretch>
                </a:blipFill>
                <a:ln>
                  <a:noFill/>
                </a:ln>
              </p:spPr>
              <p:txBody>
                <a:bodyPr/>
                <a:lstStyle/>
                <a:p>
                  <a:r>
                    <a:rPr lang="ja-JP" altLang="en-US">
                      <a:noFill/>
                    </a:rPr>
                    <a:t> </a:t>
                  </a:r>
                </a:p>
              </p:txBody>
            </p:sp>
          </mc:Fallback>
        </mc:AlternateContent>
      </p:grpSp>
      <p:grpSp>
        <p:nvGrpSpPr>
          <p:cNvPr id="114" name="グループ化 113">
            <a:extLst>
              <a:ext uri="{FF2B5EF4-FFF2-40B4-BE49-F238E27FC236}">
                <a16:creationId xmlns:a16="http://schemas.microsoft.com/office/drawing/2014/main" id="{5AA728EF-B4FD-7740-E3F0-1006E44F6937}"/>
              </a:ext>
            </a:extLst>
          </p:cNvPr>
          <p:cNvGrpSpPr/>
          <p:nvPr/>
        </p:nvGrpSpPr>
        <p:grpSpPr>
          <a:xfrm>
            <a:off x="8409723" y="5718153"/>
            <a:ext cx="2868696" cy="882083"/>
            <a:chOff x="1936012" y="4697975"/>
            <a:chExt cx="2355742" cy="882083"/>
          </a:xfrm>
        </p:grpSpPr>
        <p:sp>
          <p:nvSpPr>
            <p:cNvPr id="115" name="テキスト ボックス 114">
              <a:extLst>
                <a:ext uri="{FF2B5EF4-FFF2-40B4-BE49-F238E27FC236}">
                  <a16:creationId xmlns:a16="http://schemas.microsoft.com/office/drawing/2014/main" id="{A2F62B51-D72E-A3B3-110F-CA41A5BB9558}"/>
                </a:ext>
              </a:extLst>
            </p:cNvPr>
            <p:cNvSpPr txBox="1"/>
            <p:nvPr/>
          </p:nvSpPr>
          <p:spPr>
            <a:xfrm>
              <a:off x="1936012" y="4697975"/>
              <a:ext cx="235574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STEP5</a:t>
              </a:r>
              <a:r>
                <a:rPr lang="ja-JP" altLang="en-US" sz="1200" b="1" dirty="0">
                  <a:latin typeface="+mn-ea"/>
                </a:rPr>
                <a:t>：</a:t>
              </a:r>
              <a:r>
                <a:rPr lang="en-US" altLang="ja-JP" sz="1200" b="1" dirty="0" err="1">
                  <a:latin typeface="+mn-ea"/>
                </a:rPr>
                <a:t>Competitior</a:t>
              </a:r>
              <a:r>
                <a:rPr lang="en-US" altLang="ja-JP" sz="1200" b="1" dirty="0">
                  <a:latin typeface="+mn-ea"/>
                </a:rPr>
                <a:t> difference</a:t>
              </a:r>
              <a:r>
                <a:rPr lang="ja-JP" altLang="en-US" sz="1200" b="1" dirty="0">
                  <a:latin typeface="+mn-ea"/>
                </a:rPr>
                <a:t>の算出</a:t>
              </a:r>
              <a:endParaRPr lang="en-US" altLang="ja-JP" sz="1200" b="1" dirty="0">
                <a:latin typeface="+mn-ea"/>
              </a:endParaRPr>
            </a:p>
            <a:p>
              <a:r>
                <a:rPr lang="en-US" altLang="ja-JP" sz="1200" b="1" dirty="0">
                  <a:latin typeface="+mn-ea"/>
                </a:rPr>
                <a:t>               (</a:t>
              </a:r>
              <a:r>
                <a:rPr lang="ja-JP" altLang="en-US" sz="1200" b="1" dirty="0">
                  <a:latin typeface="+mn-ea"/>
                </a:rPr>
                <a:t>競合と自社の差分</a:t>
              </a:r>
              <a:r>
                <a:rPr lang="en-US" altLang="ja-JP" sz="1200" b="1" dirty="0">
                  <a:latin typeface="+mn-ea"/>
                </a:rPr>
                <a:t>)</a:t>
              </a:r>
            </a:p>
          </p:txBody>
        </p:sp>
        <mc:AlternateContent xmlns:mc="http://schemas.openxmlformats.org/markup-compatibility/2006" xmlns:a14="http://schemas.microsoft.com/office/drawing/2010/main">
          <mc:Choice Requires="a14">
            <p:sp>
              <p:nvSpPr>
                <p:cNvPr id="116" name="テキスト ボックス 115">
                  <a:extLst>
                    <a:ext uri="{FF2B5EF4-FFF2-40B4-BE49-F238E27FC236}">
                      <a16:creationId xmlns:a16="http://schemas.microsoft.com/office/drawing/2014/main" id="{0B13DB8A-4EE2-5B46-53E0-FCD5002EC888}"/>
                    </a:ext>
                  </a:extLst>
                </p:cNvPr>
                <p:cNvSpPr txBox="1"/>
                <p:nvPr/>
              </p:nvSpPr>
              <p:spPr>
                <a:xfrm>
                  <a:off x="2090832" y="5100440"/>
                  <a:ext cx="1919913" cy="47961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D</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r>
                          <a:rPr lang="en-US" altLang="ja-JP" b="1" dirty="0">
                            <a:latin typeface="Cambria Math" panose="02040503050406030204" pitchFamily="18" charset="0"/>
                            <a:ea typeface="Cambria Math" panose="02040503050406030204" pitchFamily="18" charset="0"/>
                          </a:rPr>
                          <m:t>−</m:t>
                        </m:r>
                        <m:r>
                          <a:rPr lang="en-US" altLang="ja-JP" b="1" i="1" dirty="0" smtClean="0">
                            <a:latin typeface="Cambria Math" panose="02040503050406030204" pitchFamily="18" charset="0"/>
                            <a:ea typeface="Cambria Math" panose="02040503050406030204" pitchFamily="18" charset="0"/>
                          </a:rPr>
                          <m:t> </m:t>
                        </m:r>
                        <m:sSubSup>
                          <m:sSubSupPr>
                            <m:ctrlPr>
                              <a:rPr lang="en-US" altLang="ja-JP" b="1" i="1">
                                <a:latin typeface="Cambria Math" panose="02040503050406030204" pitchFamily="18" charset="0"/>
                              </a:rPr>
                            </m:ctrlPr>
                          </m:sSubSupPr>
                          <m:e>
                            <m:r>
                              <m:rPr>
                                <m:sty m:val="p"/>
                              </m:rPr>
                              <a:rPr lang="en-US" altLang="ja-JP" b="1" i="1">
                                <a:latin typeface="Cambria Math" panose="02040503050406030204" pitchFamily="18" charset="0"/>
                              </a:rPr>
                              <m:t>P</m:t>
                            </m:r>
                          </m:e>
                          <m:sub>
                            <m:r>
                              <m:rPr>
                                <m:sty m:val="p"/>
                              </m:rPr>
                              <a:rPr lang="en-US" altLang="ja-JP" b="1" i="1">
                                <a:latin typeface="Cambria Math" panose="02040503050406030204" pitchFamily="18" charset="0"/>
                              </a:rPr>
                              <m:t>j</m:t>
                            </m:r>
                          </m:sub>
                          <m:sup>
                            <m:r>
                              <a:rPr lang="en-US" altLang="ja-JP" b="1" i="1">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a:latin typeface="Cambria Math" panose="02040503050406030204" pitchFamily="18" charset="0"/>
                              </a:rPr>
                              <m:t>)</m:t>
                            </m:r>
                          </m:sup>
                        </m:sSubSup>
                      </m:oMath>
                    </m:oMathPara>
                  </a14:m>
                  <a:endParaRPr lang="en-US" altLang="ja-JP" b="1" dirty="0">
                    <a:latin typeface="+mn-ea"/>
                  </a:endParaRPr>
                </a:p>
              </p:txBody>
            </p:sp>
          </mc:Choice>
          <mc:Fallback xmlns="">
            <p:sp>
              <p:nvSpPr>
                <p:cNvPr id="116" name="テキスト ボックス 115">
                  <a:extLst>
                    <a:ext uri="{FF2B5EF4-FFF2-40B4-BE49-F238E27FC236}">
                      <a16:creationId xmlns:a16="http://schemas.microsoft.com/office/drawing/2014/main" id="{0B13DB8A-4EE2-5B46-53E0-FCD5002EC888}"/>
                    </a:ext>
                  </a:extLst>
                </p:cNvPr>
                <p:cNvSpPr txBox="1">
                  <a:spLocks noRot="1" noChangeAspect="1" noMove="1" noResize="1" noEditPoints="1" noAdjustHandles="1" noChangeArrowheads="1" noChangeShapeType="1" noTextEdit="1"/>
                </p:cNvSpPr>
                <p:nvPr/>
              </p:nvSpPr>
              <p:spPr>
                <a:xfrm>
                  <a:off x="2090832" y="5100440"/>
                  <a:ext cx="1919913" cy="479618"/>
                </a:xfrm>
                <a:prstGeom prst="rect">
                  <a:avLst/>
                </a:prstGeom>
                <a:blipFill>
                  <a:blip r:embed="rId7"/>
                  <a:stretch>
                    <a:fillRect b="-6329"/>
                  </a:stretch>
                </a:blipFill>
                <a:ln>
                  <a:noFill/>
                </a:ln>
              </p:spPr>
              <p:txBody>
                <a:bodyPr/>
                <a:lstStyle/>
                <a:p>
                  <a:r>
                    <a:rPr lang="ja-JP" altLang="en-US">
                      <a:noFill/>
                    </a:rPr>
                    <a:t> </a:t>
                  </a:r>
                </a:p>
              </p:txBody>
            </p:sp>
          </mc:Fallback>
        </mc:AlternateContent>
      </p:grpSp>
      <p:sp>
        <p:nvSpPr>
          <p:cNvPr id="117" name="テキスト ボックス 116">
            <a:extLst>
              <a:ext uri="{FF2B5EF4-FFF2-40B4-BE49-F238E27FC236}">
                <a16:creationId xmlns:a16="http://schemas.microsoft.com/office/drawing/2014/main" id="{4DAA01DC-D61F-C0D8-484A-DD4626877C34}"/>
              </a:ext>
            </a:extLst>
          </p:cNvPr>
          <p:cNvSpPr txBox="1"/>
          <p:nvPr/>
        </p:nvSpPr>
        <p:spPr>
          <a:xfrm>
            <a:off x="4568693" y="608759"/>
            <a:ext cx="6676371" cy="307777"/>
          </a:xfrm>
          <a:prstGeom prst="rect">
            <a:avLst/>
          </a:prstGeom>
          <a:noFill/>
        </p:spPr>
        <p:txBody>
          <a:bodyPr wrap="square" rtlCol="0">
            <a:spAutoFit/>
          </a:bodyPr>
          <a:lstStyle/>
          <a:p>
            <a:r>
              <a:rPr lang="en-US" altLang="ja-JP" sz="1400" dirty="0"/>
              <a:t>Li &amp; Ma (2025), </a:t>
            </a:r>
            <a:r>
              <a:rPr lang="en-US" altLang="ja-JP" sz="1400" i="1" dirty="0"/>
              <a:t>Insights into your advantages: Hotel competitiveness evaluation</a:t>
            </a:r>
            <a:endParaRPr kumimoji="1" lang="ja-JP" altLang="en-US" sz="1400" dirty="0"/>
          </a:p>
        </p:txBody>
      </p:sp>
      <p:sp>
        <p:nvSpPr>
          <p:cNvPr id="118" name="テキスト ボックス 117">
            <a:extLst>
              <a:ext uri="{FF2B5EF4-FFF2-40B4-BE49-F238E27FC236}">
                <a16:creationId xmlns:a16="http://schemas.microsoft.com/office/drawing/2014/main" id="{992A8EA7-4F27-401B-5360-E62FDC5A015B}"/>
              </a:ext>
            </a:extLst>
          </p:cNvPr>
          <p:cNvSpPr txBox="1"/>
          <p:nvPr/>
        </p:nvSpPr>
        <p:spPr>
          <a:xfrm>
            <a:off x="4410561" y="3799217"/>
            <a:ext cx="7936531" cy="276999"/>
          </a:xfrm>
          <a:prstGeom prst="rect">
            <a:avLst/>
          </a:prstGeom>
          <a:noFill/>
        </p:spPr>
        <p:txBody>
          <a:bodyPr wrap="square" rtlCol="0">
            <a:spAutoFit/>
          </a:bodyPr>
          <a:lstStyle/>
          <a:p>
            <a:r>
              <a:rPr lang="en-US" altLang="ja-JP" sz="1200" dirty="0"/>
              <a:t>Albayrak (2015), </a:t>
            </a:r>
            <a:r>
              <a:rPr lang="en-US" altLang="ja-JP" sz="1200" i="1" dirty="0"/>
              <a:t>Importance Performance Competitor Analysis (IPCA): A study of hospitality companies</a:t>
            </a:r>
            <a:endParaRPr kumimoji="1" lang="ja-JP" altLang="en-US" sz="1200" dirty="0"/>
          </a:p>
        </p:txBody>
      </p:sp>
      <p:sp>
        <p:nvSpPr>
          <p:cNvPr id="120" name="テキスト ボックス 119">
            <a:extLst>
              <a:ext uri="{FF2B5EF4-FFF2-40B4-BE49-F238E27FC236}">
                <a16:creationId xmlns:a16="http://schemas.microsoft.com/office/drawing/2014/main" id="{7E71F3B1-54AC-2C4F-D353-14CE20E6265B}"/>
              </a:ext>
            </a:extLst>
          </p:cNvPr>
          <p:cNvSpPr txBox="1"/>
          <p:nvPr/>
        </p:nvSpPr>
        <p:spPr>
          <a:xfrm>
            <a:off x="1321257" y="7440291"/>
            <a:ext cx="6197600" cy="369332"/>
          </a:xfrm>
          <a:prstGeom prst="rect">
            <a:avLst/>
          </a:prstGeom>
          <a:noFill/>
        </p:spPr>
        <p:txBody>
          <a:bodyPr wrap="square">
            <a:spAutoFit/>
          </a:bodyPr>
          <a:lstStyle/>
          <a:p>
            <a:r>
              <a:rPr lang="ja-JP" altLang="en-US" dirty="0"/>
              <a:t>下位観点で比較・原因分解できること</a:t>
            </a:r>
          </a:p>
        </p:txBody>
      </p:sp>
      <p:grpSp>
        <p:nvGrpSpPr>
          <p:cNvPr id="3" name="グループ化 2">
            <a:extLst>
              <a:ext uri="{FF2B5EF4-FFF2-40B4-BE49-F238E27FC236}">
                <a16:creationId xmlns:a16="http://schemas.microsoft.com/office/drawing/2014/main" id="{3B110C3C-FD7E-2471-AB45-BBF08ADF13C5}"/>
              </a:ext>
            </a:extLst>
          </p:cNvPr>
          <p:cNvGrpSpPr/>
          <p:nvPr/>
        </p:nvGrpSpPr>
        <p:grpSpPr>
          <a:xfrm>
            <a:off x="259247" y="1831088"/>
            <a:ext cx="1897430" cy="1125579"/>
            <a:chOff x="198905" y="1762540"/>
            <a:chExt cx="2789905" cy="1397118"/>
          </a:xfrm>
        </p:grpSpPr>
        <p:sp>
          <p:nvSpPr>
            <p:cNvPr id="4" name="テキスト ボックス 3">
              <a:extLst>
                <a:ext uri="{FF2B5EF4-FFF2-40B4-BE49-F238E27FC236}">
                  <a16:creationId xmlns:a16="http://schemas.microsoft.com/office/drawing/2014/main" id="{5B6498D8-C596-0F73-71F8-0B90D80A59F8}"/>
                </a:ext>
              </a:extLst>
            </p:cNvPr>
            <p:cNvSpPr txBox="1"/>
            <p:nvPr/>
          </p:nvSpPr>
          <p:spPr>
            <a:xfrm>
              <a:off x="358186" y="2586619"/>
              <a:ext cx="1978963" cy="573039"/>
            </a:xfrm>
            <a:prstGeom prst="rect">
              <a:avLst/>
            </a:prstGeom>
            <a:noFill/>
          </p:spPr>
          <p:txBody>
            <a:bodyPr wrap="square" rtlCol="0">
              <a:spAutoFit/>
            </a:bodyPr>
            <a:lstStyle/>
            <a:p>
              <a:r>
                <a:rPr lang="ja-JP" altLang="en-US" sz="1200" b="1" dirty="0"/>
                <a:t>インタビュー情報</a:t>
              </a:r>
              <a:endParaRPr lang="en-US" altLang="ja-JP" sz="1200" b="1" dirty="0"/>
            </a:p>
            <a:p>
              <a:r>
                <a:rPr lang="en-US" altLang="ja-JP" sz="1200" b="1" dirty="0"/>
                <a:t>(</a:t>
              </a:r>
              <a:r>
                <a:rPr lang="ja-JP" altLang="en-US" sz="1200" b="1" dirty="0"/>
                <a:t>口コミではない</a:t>
              </a:r>
              <a:r>
                <a:rPr lang="en-US" altLang="ja-JP" sz="1200" b="1" dirty="0"/>
                <a:t>)</a:t>
              </a:r>
            </a:p>
          </p:txBody>
        </p:sp>
        <p:grpSp>
          <p:nvGrpSpPr>
            <p:cNvPr id="5" name="グループ化 4">
              <a:extLst>
                <a:ext uri="{FF2B5EF4-FFF2-40B4-BE49-F238E27FC236}">
                  <a16:creationId xmlns:a16="http://schemas.microsoft.com/office/drawing/2014/main" id="{A5AAD84F-B5A0-B29D-F735-98528B191241}"/>
                </a:ext>
              </a:extLst>
            </p:cNvPr>
            <p:cNvGrpSpPr/>
            <p:nvPr/>
          </p:nvGrpSpPr>
          <p:grpSpPr>
            <a:xfrm>
              <a:off x="198905" y="1762540"/>
              <a:ext cx="2789905" cy="814707"/>
              <a:chOff x="1104368" y="5724958"/>
              <a:chExt cx="2789905" cy="814707"/>
            </a:xfrm>
          </p:grpSpPr>
          <p:grpSp>
            <p:nvGrpSpPr>
              <p:cNvPr id="6" name="グループ化 5">
                <a:extLst>
                  <a:ext uri="{FF2B5EF4-FFF2-40B4-BE49-F238E27FC236}">
                    <a16:creationId xmlns:a16="http://schemas.microsoft.com/office/drawing/2014/main" id="{8EA6A473-30B4-DCC3-91D5-42927604F8F8}"/>
                  </a:ext>
                </a:extLst>
              </p:cNvPr>
              <p:cNvGrpSpPr/>
              <p:nvPr/>
            </p:nvGrpSpPr>
            <p:grpSpPr>
              <a:xfrm>
                <a:off x="1104368" y="5855141"/>
                <a:ext cx="2289499" cy="684524"/>
                <a:chOff x="944987" y="4767419"/>
                <a:chExt cx="2218459" cy="684524"/>
              </a:xfrm>
              <a:solidFill>
                <a:schemeClr val="accent3">
                  <a:lumMod val="20000"/>
                  <a:lumOff val="80000"/>
                </a:schemeClr>
              </a:solidFill>
            </p:grpSpPr>
            <p:sp>
              <p:nvSpPr>
                <p:cNvPr id="8" name="四角形: 角を丸くする 7">
                  <a:extLst>
                    <a:ext uri="{FF2B5EF4-FFF2-40B4-BE49-F238E27FC236}">
                      <a16:creationId xmlns:a16="http://schemas.microsoft.com/office/drawing/2014/main" id="{577DD212-3CB6-2428-02DC-7D595FB2A612}"/>
                    </a:ext>
                  </a:extLst>
                </p:cNvPr>
                <p:cNvSpPr/>
                <p:nvPr/>
              </p:nvSpPr>
              <p:spPr>
                <a:xfrm>
                  <a:off x="944987" y="4767419"/>
                  <a:ext cx="2218459"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1" name="図 10">
                  <a:extLst>
                    <a:ext uri="{FF2B5EF4-FFF2-40B4-BE49-F238E27FC236}">
                      <a16:creationId xmlns:a16="http://schemas.microsoft.com/office/drawing/2014/main" id="{A3B9FFC8-884A-479D-585B-C30CB2A47D2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7" name="テキスト ボックス 6">
                <a:extLst>
                  <a:ext uri="{FF2B5EF4-FFF2-40B4-BE49-F238E27FC236}">
                    <a16:creationId xmlns:a16="http://schemas.microsoft.com/office/drawing/2014/main" id="{EBF81DD3-FE2E-0C77-AC38-73959C7F9EDA}"/>
                  </a:ext>
                </a:extLst>
              </p:cNvPr>
              <p:cNvSpPr txBox="1"/>
              <p:nvPr/>
            </p:nvSpPr>
            <p:spPr>
              <a:xfrm>
                <a:off x="1604774" y="5724958"/>
                <a:ext cx="2289499" cy="716299"/>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050" b="1" dirty="0">
                  <a:latin typeface="+mn-ea"/>
                </a:endParaRPr>
              </a:p>
              <a:p>
                <a:r>
                  <a:rPr lang="ja-JP" altLang="en-US" sz="1050" b="1" dirty="0">
                    <a:latin typeface="+mn-ea"/>
                  </a:rPr>
                  <a:t>「部屋はきれいだが</a:t>
                </a:r>
                <a:endParaRPr lang="en-US" altLang="ja-JP" sz="1050" b="1" dirty="0">
                  <a:latin typeface="+mn-ea"/>
                </a:endParaRPr>
              </a:p>
              <a:p>
                <a:r>
                  <a:rPr lang="ja-JP" altLang="en-US" sz="1050" b="1" dirty="0">
                    <a:latin typeface="+mn-ea"/>
                  </a:rPr>
                  <a:t>食事は微妙だった」</a:t>
                </a:r>
                <a:endParaRPr lang="en-US" altLang="ja-JP" sz="1050" b="1" dirty="0">
                  <a:latin typeface="+mn-ea"/>
                </a:endParaRPr>
              </a:p>
            </p:txBody>
          </p:sp>
        </p:grpSp>
      </p:gr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982B0D4B-1E15-32B2-3ED2-AC6F0504D55F}"/>
                  </a:ext>
                </a:extLst>
              </p:cNvPr>
              <p:cNvSpPr txBox="1"/>
              <p:nvPr/>
            </p:nvSpPr>
            <p:spPr>
              <a:xfrm>
                <a:off x="282158" y="6446445"/>
                <a:ext cx="1919913" cy="302262"/>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100" b="1" i="1" smtClean="0">
                              <a:latin typeface="Cambria Math" panose="02040503050406030204" pitchFamily="18" charset="0"/>
                            </a:rPr>
                          </m:ctrlPr>
                        </m:sSubPr>
                        <m:e>
                          <m:r>
                            <m:rPr>
                              <m:sty m:val="p"/>
                            </m:rPr>
                            <a:rPr lang="en-US" altLang="ja-JP" sz="1100" b="1" i="1" smtClean="0">
                              <a:latin typeface="Cambria Math" panose="02040503050406030204" pitchFamily="18" charset="0"/>
                            </a:rPr>
                            <m:t>I</m:t>
                          </m:r>
                        </m:e>
                        <m:sub>
                          <m:r>
                            <a:rPr lang="ja-JP" altLang="en-US" sz="1100" b="1" i="1">
                              <a:latin typeface="Cambria Math" panose="02040503050406030204" pitchFamily="18" charset="0"/>
                            </a:rPr>
                            <m:t>清掃</m:t>
                          </m:r>
                        </m:sub>
                      </m:sSub>
                      <m:r>
                        <a:rPr lang="en-US" altLang="ja-JP" sz="1100" b="1" i="1" smtClean="0">
                          <a:latin typeface="Cambria Math" panose="02040503050406030204" pitchFamily="18" charset="0"/>
                        </a:rPr>
                        <m:t> =  0.45</m:t>
                      </m:r>
                    </m:oMath>
                  </m:oMathPara>
                </a14:m>
                <a:endParaRPr lang="en-US" altLang="ja-JP" sz="1100" b="1" dirty="0">
                  <a:latin typeface="+mn-ea"/>
                </a:endParaRPr>
              </a:p>
            </p:txBody>
          </p:sp>
        </mc:Choice>
        <mc:Fallback xmlns="">
          <p:sp>
            <p:nvSpPr>
              <p:cNvPr id="28" name="テキスト ボックス 27">
                <a:extLst>
                  <a:ext uri="{FF2B5EF4-FFF2-40B4-BE49-F238E27FC236}">
                    <a16:creationId xmlns:a16="http://schemas.microsoft.com/office/drawing/2014/main" id="{982B0D4B-1E15-32B2-3ED2-AC6F0504D55F}"/>
                  </a:ext>
                </a:extLst>
              </p:cNvPr>
              <p:cNvSpPr txBox="1">
                <a:spLocks noRot="1" noChangeAspect="1" noMove="1" noResize="1" noEditPoints="1" noAdjustHandles="1" noChangeArrowheads="1" noChangeShapeType="1" noTextEdit="1"/>
              </p:cNvSpPr>
              <p:nvPr/>
            </p:nvSpPr>
            <p:spPr>
              <a:xfrm>
                <a:off x="282158" y="6446445"/>
                <a:ext cx="1919913" cy="302262"/>
              </a:xfrm>
              <a:prstGeom prst="rect">
                <a:avLst/>
              </a:prstGeom>
              <a:blipFill>
                <a:blip r:embed="rId9"/>
                <a:stretch>
                  <a:fillRect b="-6000"/>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0AA8E891-7EF1-B5FD-95AA-BED1D28A6C9F}"/>
                  </a:ext>
                </a:extLst>
              </p:cNvPr>
              <p:cNvSpPr txBox="1"/>
              <p:nvPr/>
            </p:nvSpPr>
            <p:spPr>
              <a:xfrm>
                <a:off x="2792193" y="6456674"/>
                <a:ext cx="1919913" cy="360163"/>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1100" b="1" i="1">
                              <a:latin typeface="Cambria Math" panose="02040503050406030204" pitchFamily="18" charset="0"/>
                            </a:rPr>
                          </m:ctrlPr>
                        </m:sSubSupPr>
                        <m:e>
                          <m:r>
                            <m:rPr>
                              <m:sty m:val="p"/>
                            </m:rPr>
                            <a:rPr lang="en-US" altLang="ja-JP" sz="1100" b="1" i="1">
                              <a:latin typeface="Cambria Math" panose="02040503050406030204" pitchFamily="18" charset="0"/>
                            </a:rPr>
                            <m:t>P</m:t>
                          </m:r>
                        </m:e>
                        <m:sub>
                          <m:r>
                            <a:rPr lang="ja-JP" altLang="en-US" sz="1100" b="1" i="1" smtClean="0">
                              <a:latin typeface="Cambria Math" panose="02040503050406030204" pitchFamily="18" charset="0"/>
                            </a:rPr>
                            <m:t>清掃</m:t>
                          </m:r>
                        </m:sub>
                        <m:sup>
                          <m:r>
                            <a:rPr lang="en-US" altLang="ja-JP" sz="1100" b="1" i="1">
                              <a:latin typeface="Cambria Math" panose="02040503050406030204" pitchFamily="18" charset="0"/>
                            </a:rPr>
                            <m:t>(</m:t>
                          </m:r>
                          <m:r>
                            <m:rPr>
                              <m:sty m:val="p"/>
                            </m:rPr>
                            <a:rPr lang="en-US" altLang="ja-JP" sz="1100" b="1" i="1">
                              <a:latin typeface="Cambria Math" panose="02040503050406030204" pitchFamily="18" charset="0"/>
                            </a:rPr>
                            <m:t>f</m:t>
                          </m:r>
                          <m:r>
                            <a:rPr lang="en-US" altLang="ja-JP" sz="1100" b="1" i="1">
                              <a:latin typeface="Cambria Math" panose="02040503050406030204" pitchFamily="18" charset="0"/>
                            </a:rPr>
                            <m:t>)</m:t>
                          </m:r>
                        </m:sup>
                      </m:sSubSup>
                      <m:r>
                        <a:rPr lang="en-US" altLang="ja-JP" sz="1100" b="1" i="1">
                          <a:latin typeface="Cambria Math" panose="02040503050406030204" pitchFamily="18" charset="0"/>
                        </a:rPr>
                        <m:t> </m:t>
                      </m:r>
                      <m:r>
                        <a:rPr lang="en-US" altLang="ja-JP" sz="1100" b="1" i="1" smtClean="0">
                          <a:latin typeface="Cambria Math" panose="02040503050406030204" pitchFamily="18" charset="0"/>
                        </a:rPr>
                        <m:t>=  0.3</m:t>
                      </m:r>
                    </m:oMath>
                  </m:oMathPara>
                </a14:m>
                <a:endParaRPr lang="en-US" altLang="ja-JP" sz="1100" b="1" dirty="0">
                  <a:latin typeface="+mn-ea"/>
                </a:endParaRPr>
              </a:p>
            </p:txBody>
          </p:sp>
        </mc:Choice>
        <mc:Fallback xmlns="">
          <p:sp>
            <p:nvSpPr>
              <p:cNvPr id="29" name="テキスト ボックス 28">
                <a:extLst>
                  <a:ext uri="{FF2B5EF4-FFF2-40B4-BE49-F238E27FC236}">
                    <a16:creationId xmlns:a16="http://schemas.microsoft.com/office/drawing/2014/main" id="{0AA8E891-7EF1-B5FD-95AA-BED1D28A6C9F}"/>
                  </a:ext>
                </a:extLst>
              </p:cNvPr>
              <p:cNvSpPr txBox="1">
                <a:spLocks noRot="1" noChangeAspect="1" noMove="1" noResize="1" noEditPoints="1" noAdjustHandles="1" noChangeArrowheads="1" noChangeShapeType="1" noTextEdit="1"/>
              </p:cNvSpPr>
              <p:nvPr/>
            </p:nvSpPr>
            <p:spPr>
              <a:xfrm>
                <a:off x="2792193" y="6456674"/>
                <a:ext cx="1919913" cy="360163"/>
              </a:xfrm>
              <a:prstGeom prst="rect">
                <a:avLst/>
              </a:prstGeom>
              <a:blipFill>
                <a:blip r:embed="rId10"/>
                <a:stretch>
                  <a:fillRect b="-6780"/>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DDB3D17D-CF67-E1F0-EB14-10DFE874D356}"/>
                  </a:ext>
                </a:extLst>
              </p:cNvPr>
              <p:cNvSpPr txBox="1"/>
              <p:nvPr/>
            </p:nvSpPr>
            <p:spPr>
              <a:xfrm>
                <a:off x="5668214" y="6456673"/>
                <a:ext cx="1919913" cy="360163"/>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1100" b="1" i="1">
                              <a:latin typeface="Cambria Math" panose="02040503050406030204" pitchFamily="18" charset="0"/>
                            </a:rPr>
                          </m:ctrlPr>
                        </m:sSubSupPr>
                        <m:e>
                          <m:r>
                            <m:rPr>
                              <m:sty m:val="p"/>
                            </m:rPr>
                            <a:rPr lang="en-US" altLang="ja-JP" sz="1100" b="1" i="1">
                              <a:latin typeface="Cambria Math" panose="02040503050406030204" pitchFamily="18" charset="0"/>
                            </a:rPr>
                            <m:t>P</m:t>
                          </m:r>
                        </m:e>
                        <m:sub>
                          <m:r>
                            <a:rPr lang="ja-JP" altLang="en-US" sz="1100" b="1" i="1" smtClean="0">
                              <a:latin typeface="Cambria Math" panose="02040503050406030204" pitchFamily="18" charset="0"/>
                            </a:rPr>
                            <m:t>清掃</m:t>
                          </m:r>
                        </m:sub>
                        <m:sup>
                          <m:r>
                            <a:rPr lang="en-US" altLang="ja-JP" sz="1100" b="1" i="1">
                              <a:latin typeface="Cambria Math" panose="02040503050406030204" pitchFamily="18" charset="0"/>
                            </a:rPr>
                            <m:t>(</m:t>
                          </m:r>
                          <m:r>
                            <m:rPr>
                              <m:sty m:val="p"/>
                            </m:rPr>
                            <a:rPr lang="en-US" altLang="ja-JP" sz="1100" b="1" i="1" smtClean="0">
                              <a:latin typeface="Cambria Math" panose="02040503050406030204" pitchFamily="18" charset="0"/>
                            </a:rPr>
                            <m:t>c</m:t>
                          </m:r>
                          <m:r>
                            <a:rPr lang="en-US" altLang="ja-JP" sz="1100" b="1" i="1">
                              <a:latin typeface="Cambria Math" panose="02040503050406030204" pitchFamily="18" charset="0"/>
                            </a:rPr>
                            <m:t>)</m:t>
                          </m:r>
                        </m:sup>
                      </m:sSubSup>
                      <m:r>
                        <a:rPr lang="en-US" altLang="ja-JP" sz="1100" b="1" i="1">
                          <a:latin typeface="Cambria Math" panose="02040503050406030204" pitchFamily="18" charset="0"/>
                        </a:rPr>
                        <m:t> </m:t>
                      </m:r>
                      <m:r>
                        <a:rPr lang="en-US" altLang="ja-JP" sz="1100" b="1" i="1" smtClean="0">
                          <a:latin typeface="Cambria Math" panose="02040503050406030204" pitchFamily="18" charset="0"/>
                        </a:rPr>
                        <m:t>=  0.4</m:t>
                      </m:r>
                    </m:oMath>
                  </m:oMathPara>
                </a14:m>
                <a:endParaRPr lang="en-US" altLang="ja-JP" sz="1100" b="1" dirty="0">
                  <a:latin typeface="+mn-ea"/>
                </a:endParaRPr>
              </a:p>
            </p:txBody>
          </p:sp>
        </mc:Choice>
        <mc:Fallback xmlns="">
          <p:sp>
            <p:nvSpPr>
              <p:cNvPr id="30" name="テキスト ボックス 29">
                <a:extLst>
                  <a:ext uri="{FF2B5EF4-FFF2-40B4-BE49-F238E27FC236}">
                    <a16:creationId xmlns:a16="http://schemas.microsoft.com/office/drawing/2014/main" id="{DDB3D17D-CF67-E1F0-EB14-10DFE874D356}"/>
                  </a:ext>
                </a:extLst>
              </p:cNvPr>
              <p:cNvSpPr txBox="1">
                <a:spLocks noRot="1" noChangeAspect="1" noMove="1" noResize="1" noEditPoints="1" noAdjustHandles="1" noChangeArrowheads="1" noChangeShapeType="1" noTextEdit="1"/>
              </p:cNvSpPr>
              <p:nvPr/>
            </p:nvSpPr>
            <p:spPr>
              <a:xfrm>
                <a:off x="5668214" y="6456673"/>
                <a:ext cx="1919913" cy="360163"/>
              </a:xfrm>
              <a:prstGeom prst="rect">
                <a:avLst/>
              </a:prstGeom>
              <a:blipFill>
                <a:blip r:embed="rId11"/>
                <a:stretch>
                  <a:fillRect b="-5085"/>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4B054551-C324-29C2-0DE8-FC23E9C550D9}"/>
                  </a:ext>
                </a:extLst>
              </p:cNvPr>
              <p:cNvSpPr txBox="1"/>
              <p:nvPr/>
            </p:nvSpPr>
            <p:spPr>
              <a:xfrm>
                <a:off x="8893627" y="5348624"/>
                <a:ext cx="1220429" cy="321370"/>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200" b="1" i="1" smtClean="0">
                              <a:latin typeface="Cambria Math" panose="02040503050406030204" pitchFamily="18" charset="0"/>
                            </a:rPr>
                          </m:ctrlPr>
                        </m:sSubPr>
                        <m:e>
                          <m:r>
                            <m:rPr>
                              <m:sty m:val="p"/>
                            </m:rPr>
                            <a:rPr lang="en-US" altLang="ja-JP" sz="1200" b="1" i="1" smtClean="0">
                              <a:latin typeface="Cambria Math" panose="02040503050406030204" pitchFamily="18" charset="0"/>
                            </a:rPr>
                            <m:t>G</m:t>
                          </m:r>
                        </m:e>
                        <m:sub>
                          <m:r>
                            <a:rPr lang="ja-JP" altLang="en-US" sz="1200" b="1" i="1">
                              <a:latin typeface="Cambria Math" panose="02040503050406030204" pitchFamily="18" charset="0"/>
                            </a:rPr>
                            <m:t>清掃</m:t>
                          </m:r>
                        </m:sub>
                      </m:sSub>
                      <m:r>
                        <a:rPr lang="en-US" altLang="ja-JP" sz="1200" b="1" i="1" smtClean="0">
                          <a:latin typeface="Cambria Math" panose="02040503050406030204" pitchFamily="18" charset="0"/>
                        </a:rPr>
                        <m:t> =  0.15</m:t>
                      </m:r>
                    </m:oMath>
                  </m:oMathPara>
                </a14:m>
                <a:endParaRPr lang="en-US" altLang="ja-JP" sz="1200" b="1" dirty="0">
                  <a:latin typeface="+mn-ea"/>
                </a:endParaRPr>
              </a:p>
            </p:txBody>
          </p:sp>
        </mc:Choice>
        <mc:Fallback xmlns="">
          <p:sp>
            <p:nvSpPr>
              <p:cNvPr id="31" name="テキスト ボックス 30">
                <a:extLst>
                  <a:ext uri="{FF2B5EF4-FFF2-40B4-BE49-F238E27FC236}">
                    <a16:creationId xmlns:a16="http://schemas.microsoft.com/office/drawing/2014/main" id="{4B054551-C324-29C2-0DE8-FC23E9C550D9}"/>
                  </a:ext>
                </a:extLst>
              </p:cNvPr>
              <p:cNvSpPr txBox="1">
                <a:spLocks noRot="1" noChangeAspect="1" noMove="1" noResize="1" noEditPoints="1" noAdjustHandles="1" noChangeArrowheads="1" noChangeShapeType="1" noTextEdit="1"/>
              </p:cNvSpPr>
              <p:nvPr/>
            </p:nvSpPr>
            <p:spPr>
              <a:xfrm>
                <a:off x="8893627" y="5348624"/>
                <a:ext cx="1220429" cy="321370"/>
              </a:xfrm>
              <a:prstGeom prst="rect">
                <a:avLst/>
              </a:prstGeom>
              <a:blipFill>
                <a:blip r:embed="rId12"/>
                <a:stretch>
                  <a:fillRect b="-9434"/>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40AA8B7B-BF0E-0A6E-5E0E-9010A121D2D1}"/>
                  </a:ext>
                </a:extLst>
              </p:cNvPr>
              <p:cNvSpPr txBox="1"/>
              <p:nvPr/>
            </p:nvSpPr>
            <p:spPr>
              <a:xfrm>
                <a:off x="8893627" y="6572499"/>
                <a:ext cx="1428498" cy="321370"/>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200" b="1" i="1" smtClean="0">
                              <a:latin typeface="Cambria Math" panose="02040503050406030204" pitchFamily="18" charset="0"/>
                            </a:rPr>
                          </m:ctrlPr>
                        </m:sSubPr>
                        <m:e>
                          <m:r>
                            <m:rPr>
                              <m:sty m:val="p"/>
                            </m:rPr>
                            <a:rPr lang="en-US" altLang="ja-JP" sz="1200" b="1" i="1" smtClean="0">
                              <a:latin typeface="Cambria Math" panose="02040503050406030204" pitchFamily="18" charset="0"/>
                            </a:rPr>
                            <m:t>D</m:t>
                          </m:r>
                        </m:e>
                        <m:sub>
                          <m:r>
                            <a:rPr lang="ja-JP" altLang="en-US" sz="1200" b="1" i="1">
                              <a:latin typeface="Cambria Math" panose="02040503050406030204" pitchFamily="18" charset="0"/>
                            </a:rPr>
                            <m:t>清掃</m:t>
                          </m:r>
                        </m:sub>
                      </m:sSub>
                      <m:r>
                        <a:rPr lang="en-US" altLang="ja-JP" sz="1200" b="1" i="1" smtClean="0">
                          <a:latin typeface="Cambria Math" panose="02040503050406030204" pitchFamily="18" charset="0"/>
                        </a:rPr>
                        <m:t> =  0.1</m:t>
                      </m:r>
                    </m:oMath>
                  </m:oMathPara>
                </a14:m>
                <a:endParaRPr lang="en-US" altLang="ja-JP" sz="1200" b="1" dirty="0">
                  <a:latin typeface="+mn-ea"/>
                </a:endParaRPr>
              </a:p>
            </p:txBody>
          </p:sp>
        </mc:Choice>
        <mc:Fallback xmlns="">
          <p:sp>
            <p:nvSpPr>
              <p:cNvPr id="32" name="テキスト ボックス 31">
                <a:extLst>
                  <a:ext uri="{FF2B5EF4-FFF2-40B4-BE49-F238E27FC236}">
                    <a16:creationId xmlns:a16="http://schemas.microsoft.com/office/drawing/2014/main" id="{40AA8B7B-BF0E-0A6E-5E0E-9010A121D2D1}"/>
                  </a:ext>
                </a:extLst>
              </p:cNvPr>
              <p:cNvSpPr txBox="1">
                <a:spLocks noRot="1" noChangeAspect="1" noMove="1" noResize="1" noEditPoints="1" noAdjustHandles="1" noChangeArrowheads="1" noChangeShapeType="1" noTextEdit="1"/>
              </p:cNvSpPr>
              <p:nvPr/>
            </p:nvSpPr>
            <p:spPr>
              <a:xfrm>
                <a:off x="8893627" y="6572499"/>
                <a:ext cx="1428498" cy="321370"/>
              </a:xfrm>
              <a:prstGeom prst="rect">
                <a:avLst/>
              </a:prstGeom>
              <a:blipFill>
                <a:blip r:embed="rId13"/>
                <a:stretch>
                  <a:fillRect b="-9434"/>
                </a:stretch>
              </a:blipFill>
              <a:ln>
                <a:noFill/>
              </a:ln>
            </p:spPr>
            <p:txBody>
              <a:bodyPr/>
              <a:lstStyle/>
              <a:p>
                <a:r>
                  <a:rPr lang="ja-JP" altLang="en-US">
                    <a:noFill/>
                  </a:rPr>
                  <a:t> </a:t>
                </a:r>
              </a:p>
            </p:txBody>
          </p:sp>
        </mc:Fallback>
      </mc:AlternateContent>
    </p:spTree>
    <p:extLst>
      <p:ext uri="{BB962C8B-B14F-4D97-AF65-F5344CB8AC3E}">
        <p14:creationId xmlns:p14="http://schemas.microsoft.com/office/powerpoint/2010/main" val="2417129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7C365-9E3A-8048-C170-B23B340FC209}"/>
            </a:ext>
          </a:extLst>
        </p:cNvPr>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D3958D95-07F3-351B-7180-14A93025B9C5}"/>
              </a:ext>
            </a:extLst>
          </p:cNvPr>
          <p:cNvSpPr/>
          <p:nvPr/>
        </p:nvSpPr>
        <p:spPr>
          <a:xfrm>
            <a:off x="169062" y="1283946"/>
            <a:ext cx="11853876" cy="2206717"/>
          </a:xfrm>
          <a:prstGeom prst="rect">
            <a:avLst/>
          </a:prstGeom>
          <a:solidFill>
            <a:schemeClr val="bg1">
              <a:lumMod val="90000"/>
            </a:schemeClr>
          </a:solid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21" name="テキスト プレースホルダー 20">
            <a:extLst>
              <a:ext uri="{FF2B5EF4-FFF2-40B4-BE49-F238E27FC236}">
                <a16:creationId xmlns:a16="http://schemas.microsoft.com/office/drawing/2014/main" id="{10C85469-BBF5-9AD1-F29D-F9E51AADA9F4}"/>
              </a:ext>
            </a:extLst>
          </p:cNvPr>
          <p:cNvSpPr>
            <a:spLocks noGrp="1"/>
          </p:cNvSpPr>
          <p:nvPr>
            <p:ph type="body" sz="quarter" idx="11"/>
          </p:nvPr>
        </p:nvSpPr>
        <p:spPr/>
        <p:txBody>
          <a:bodyPr>
            <a:normAutofit fontScale="92500" lnSpcReduction="10000"/>
          </a:bodyPr>
          <a:lstStyle/>
          <a:p>
            <a:r>
              <a:rPr lang="ja-JP" altLang="en-US" b="1" dirty="0"/>
              <a:t>今後の研究の展望</a:t>
            </a:r>
          </a:p>
        </p:txBody>
      </p:sp>
      <p:grpSp>
        <p:nvGrpSpPr>
          <p:cNvPr id="3" name="グループ化 2">
            <a:extLst>
              <a:ext uri="{FF2B5EF4-FFF2-40B4-BE49-F238E27FC236}">
                <a16:creationId xmlns:a16="http://schemas.microsoft.com/office/drawing/2014/main" id="{250AC7F6-3E95-0070-0269-7D94D772823B}"/>
              </a:ext>
            </a:extLst>
          </p:cNvPr>
          <p:cNvGrpSpPr/>
          <p:nvPr/>
        </p:nvGrpSpPr>
        <p:grpSpPr>
          <a:xfrm>
            <a:off x="1409449" y="1382391"/>
            <a:ext cx="10438091" cy="1965910"/>
            <a:chOff x="1316626" y="744611"/>
            <a:chExt cx="10438091" cy="1965910"/>
          </a:xfrm>
        </p:grpSpPr>
        <p:grpSp>
          <p:nvGrpSpPr>
            <p:cNvPr id="4" name="グループ化 3">
              <a:extLst>
                <a:ext uri="{FF2B5EF4-FFF2-40B4-BE49-F238E27FC236}">
                  <a16:creationId xmlns:a16="http://schemas.microsoft.com/office/drawing/2014/main" id="{5CC361B7-C450-862D-C89E-3E3A269F547F}"/>
                </a:ext>
              </a:extLst>
            </p:cNvPr>
            <p:cNvGrpSpPr/>
            <p:nvPr/>
          </p:nvGrpSpPr>
          <p:grpSpPr>
            <a:xfrm>
              <a:off x="5384943" y="1229321"/>
              <a:ext cx="1223310" cy="1129220"/>
              <a:chOff x="5344998" y="1278045"/>
              <a:chExt cx="1223310" cy="1129220"/>
            </a:xfrm>
          </p:grpSpPr>
          <p:sp>
            <p:nvSpPr>
              <p:cNvPr id="49" name="矢印: 上 48">
                <a:extLst>
                  <a:ext uri="{FF2B5EF4-FFF2-40B4-BE49-F238E27FC236}">
                    <a16:creationId xmlns:a16="http://schemas.microsoft.com/office/drawing/2014/main" id="{2AA2B2A2-4462-EF9A-533B-FAED52E016A3}"/>
                  </a:ext>
                </a:extLst>
              </p:cNvPr>
              <p:cNvSpPr/>
              <p:nvPr/>
            </p:nvSpPr>
            <p:spPr>
              <a:xfrm>
                <a:off x="5344998" y="1278045"/>
                <a:ext cx="156365"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上 49">
                <a:extLst>
                  <a:ext uri="{FF2B5EF4-FFF2-40B4-BE49-F238E27FC236}">
                    <a16:creationId xmlns:a16="http://schemas.microsoft.com/office/drawing/2014/main" id="{3AD9E5C7-51C9-2DE3-0C2E-5F56575236E5}"/>
                  </a:ext>
                </a:extLst>
              </p:cNvPr>
              <p:cNvSpPr/>
              <p:nvPr/>
            </p:nvSpPr>
            <p:spPr>
              <a:xfrm rot="5400000">
                <a:off x="5951653" y="1790611"/>
                <a:ext cx="129227"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 name="グループ化 4">
              <a:extLst>
                <a:ext uri="{FF2B5EF4-FFF2-40B4-BE49-F238E27FC236}">
                  <a16:creationId xmlns:a16="http://schemas.microsoft.com/office/drawing/2014/main" id="{CB12B6F1-0334-67BE-EA91-BB659A70E376}"/>
                </a:ext>
              </a:extLst>
            </p:cNvPr>
            <p:cNvGrpSpPr/>
            <p:nvPr/>
          </p:nvGrpSpPr>
          <p:grpSpPr>
            <a:xfrm>
              <a:off x="1316626" y="744611"/>
              <a:ext cx="10438091" cy="1965910"/>
              <a:chOff x="1316626" y="744611"/>
              <a:chExt cx="10438091" cy="1965910"/>
            </a:xfrm>
          </p:grpSpPr>
          <p:sp>
            <p:nvSpPr>
              <p:cNvPr id="6" name="テキスト ボックス 5">
                <a:extLst>
                  <a:ext uri="{FF2B5EF4-FFF2-40B4-BE49-F238E27FC236}">
                    <a16:creationId xmlns:a16="http://schemas.microsoft.com/office/drawing/2014/main" id="{FB3C3633-9B73-FC17-79C7-F7685048E264}"/>
                  </a:ext>
                </a:extLst>
              </p:cNvPr>
              <p:cNvSpPr txBox="1"/>
              <p:nvPr/>
            </p:nvSpPr>
            <p:spPr>
              <a:xfrm>
                <a:off x="4040973" y="2064190"/>
                <a:ext cx="1158156" cy="646331"/>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クラスタリングで</a:t>
                </a:r>
                <a:endParaRPr lang="en-US" altLang="ja-JP" sz="1200" b="1" dirty="0">
                  <a:latin typeface="+mn-ea"/>
                </a:endParaRPr>
              </a:p>
              <a:p>
                <a:r>
                  <a:rPr lang="en-US" altLang="ja-JP" sz="1200" b="1" dirty="0">
                    <a:latin typeface="+mn-ea"/>
                  </a:rPr>
                  <a:t>  </a:t>
                </a:r>
                <a:r>
                  <a:rPr lang="ja-JP" altLang="en-US" sz="1200" b="1" dirty="0">
                    <a:latin typeface="+mn-ea"/>
                  </a:rPr>
                  <a:t>属性定義</a:t>
                </a:r>
                <a:endParaRPr lang="en-US" altLang="ja-JP" sz="1200" b="1" dirty="0">
                  <a:latin typeface="+mn-ea"/>
                </a:endParaRPr>
              </a:p>
              <a:p>
                <a:r>
                  <a:rPr lang="ja-JP" altLang="en-US" sz="1200" b="1" dirty="0">
                    <a:latin typeface="+mn-ea"/>
                  </a:rPr>
                  <a:t>（</a:t>
                </a:r>
                <a:r>
                  <a:rPr lang="en-US" altLang="ja-JP" sz="1200" b="1" dirty="0">
                    <a:latin typeface="+mn-ea"/>
                  </a:rPr>
                  <a:t>K-means</a:t>
                </a:r>
                <a:r>
                  <a:rPr lang="ja-JP" altLang="en-US" sz="1200" b="1" dirty="0">
                    <a:latin typeface="+mn-ea"/>
                  </a:rPr>
                  <a:t>）</a:t>
                </a:r>
                <a:endParaRPr lang="en-US" altLang="ja-JP" sz="1200" b="1" dirty="0">
                  <a:latin typeface="+mn-ea"/>
                </a:endParaRPr>
              </a:p>
            </p:txBody>
          </p:sp>
          <p:sp>
            <p:nvSpPr>
              <p:cNvPr id="7" name="テキスト ボックス 6">
                <a:extLst>
                  <a:ext uri="{FF2B5EF4-FFF2-40B4-BE49-F238E27FC236}">
                    <a16:creationId xmlns:a16="http://schemas.microsoft.com/office/drawing/2014/main" id="{40C94866-1781-4751-0727-72541DF0773A}"/>
                  </a:ext>
                </a:extLst>
              </p:cNvPr>
              <p:cNvSpPr txBox="1"/>
              <p:nvPr/>
            </p:nvSpPr>
            <p:spPr>
              <a:xfrm>
                <a:off x="5961132" y="885918"/>
                <a:ext cx="506637" cy="276998"/>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1200" b="1" dirty="0"/>
                  <a:t>清掃</a:t>
                </a:r>
                <a:endParaRPr kumimoji="1" lang="ja-JP" altLang="en-US" sz="1200" b="1" dirty="0"/>
              </a:p>
            </p:txBody>
          </p:sp>
          <p:grpSp>
            <p:nvGrpSpPr>
              <p:cNvPr id="8" name="グループ化 7">
                <a:extLst>
                  <a:ext uri="{FF2B5EF4-FFF2-40B4-BE49-F238E27FC236}">
                    <a16:creationId xmlns:a16="http://schemas.microsoft.com/office/drawing/2014/main" id="{D89490F8-D8D1-9914-087B-6C521C865913}"/>
                  </a:ext>
                </a:extLst>
              </p:cNvPr>
              <p:cNvGrpSpPr/>
              <p:nvPr/>
            </p:nvGrpSpPr>
            <p:grpSpPr>
              <a:xfrm>
                <a:off x="1316626" y="744611"/>
                <a:ext cx="10438091" cy="1773687"/>
                <a:chOff x="1316626" y="744611"/>
                <a:chExt cx="10438091" cy="1773687"/>
              </a:xfrm>
            </p:grpSpPr>
            <p:sp>
              <p:nvSpPr>
                <p:cNvPr id="12" name="テキスト ボックス 11">
                  <a:extLst>
                    <a:ext uri="{FF2B5EF4-FFF2-40B4-BE49-F238E27FC236}">
                      <a16:creationId xmlns:a16="http://schemas.microsoft.com/office/drawing/2014/main" id="{C2F1A04B-4C71-6017-A514-3B114BE50761}"/>
                    </a:ext>
                  </a:extLst>
                </p:cNvPr>
                <p:cNvSpPr txBox="1"/>
                <p:nvPr/>
              </p:nvSpPr>
              <p:spPr>
                <a:xfrm>
                  <a:off x="1316626" y="2056633"/>
                  <a:ext cx="1275745"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単語をベクトル化</a:t>
                  </a:r>
                  <a:endParaRPr lang="en-US" altLang="ja-JP" sz="1200" b="1" dirty="0">
                    <a:latin typeface="+mn-ea"/>
                  </a:endParaRPr>
                </a:p>
                <a:p>
                  <a:r>
                    <a:rPr lang="ja-JP" altLang="en-US" sz="1200" b="1" dirty="0">
                      <a:latin typeface="+mn-ea"/>
                    </a:rPr>
                    <a:t>（</a:t>
                  </a:r>
                  <a:r>
                    <a:rPr lang="en-US" altLang="ja-JP" sz="1200" b="1" dirty="0">
                      <a:latin typeface="+mn-ea"/>
                    </a:rPr>
                    <a:t>Word2vec</a:t>
                  </a:r>
                  <a:r>
                    <a:rPr lang="ja-JP" altLang="en-US" sz="1200" b="1" dirty="0">
                      <a:latin typeface="+mn-ea"/>
                    </a:rPr>
                    <a:t>）</a:t>
                  </a:r>
                  <a:endParaRPr lang="en-US" altLang="ja-JP" sz="1200" b="1" dirty="0">
                    <a:latin typeface="+mn-ea"/>
                  </a:endParaRPr>
                </a:p>
              </p:txBody>
            </p:sp>
            <p:sp>
              <p:nvSpPr>
                <p:cNvPr id="13" name="矢印: 右 12">
                  <a:extLst>
                    <a:ext uri="{FF2B5EF4-FFF2-40B4-BE49-F238E27FC236}">
                      <a16:creationId xmlns:a16="http://schemas.microsoft.com/office/drawing/2014/main" id="{5247BF45-637A-CE1B-515E-C3B8B4D471FF}"/>
                    </a:ext>
                  </a:extLst>
                </p:cNvPr>
                <p:cNvSpPr/>
                <p:nvPr/>
              </p:nvSpPr>
              <p:spPr>
                <a:xfrm>
                  <a:off x="1802366" y="14546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FD599AE-CE4C-D89A-649D-5C1B9638D951}"/>
                    </a:ext>
                  </a:extLst>
                </p:cNvPr>
                <p:cNvSpPr txBox="1"/>
                <p:nvPr/>
              </p:nvSpPr>
              <p:spPr>
                <a:xfrm>
                  <a:off x="2782630" y="1886828"/>
                  <a:ext cx="1077538"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美味しい</a:t>
                  </a:r>
                  <a:endParaRPr lang="en-US" altLang="ja-JP" sz="1400" b="1" dirty="0">
                    <a:latin typeface="+mn-ea"/>
                  </a:endParaRPr>
                </a:p>
                <a:p>
                  <a:r>
                    <a:rPr lang="en-US" altLang="ja-JP" sz="1400" b="1" dirty="0">
                      <a:latin typeface="+mn-ea"/>
                    </a:rPr>
                    <a:t>[1,2,3,1,2,5]</a:t>
                  </a:r>
                </a:p>
              </p:txBody>
            </p:sp>
            <p:sp>
              <p:nvSpPr>
                <p:cNvPr id="17" name="テキスト ボックス 16">
                  <a:extLst>
                    <a:ext uri="{FF2B5EF4-FFF2-40B4-BE49-F238E27FC236}">
                      <a16:creationId xmlns:a16="http://schemas.microsoft.com/office/drawing/2014/main" id="{370F6C4A-EC65-1514-3222-06E99F955EAB}"/>
                    </a:ext>
                  </a:extLst>
                </p:cNvPr>
                <p:cNvSpPr txBox="1"/>
                <p:nvPr/>
              </p:nvSpPr>
              <p:spPr>
                <a:xfrm>
                  <a:off x="2788498" y="1267885"/>
                  <a:ext cx="1071669"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きれい</a:t>
                  </a:r>
                  <a:endParaRPr lang="en-US" altLang="ja-JP" sz="1400" b="1" dirty="0">
                    <a:latin typeface="+mn-ea"/>
                  </a:endParaRPr>
                </a:p>
                <a:p>
                  <a:r>
                    <a:rPr lang="en-US" altLang="ja-JP" sz="1400" b="1" dirty="0">
                      <a:latin typeface="+mn-ea"/>
                    </a:rPr>
                    <a:t>[2,3,4,5,6]</a:t>
                  </a:r>
                </a:p>
              </p:txBody>
            </p:sp>
            <p:sp>
              <p:nvSpPr>
                <p:cNvPr id="18" name="矢印: 右 17">
                  <a:extLst>
                    <a:ext uri="{FF2B5EF4-FFF2-40B4-BE49-F238E27FC236}">
                      <a16:creationId xmlns:a16="http://schemas.microsoft.com/office/drawing/2014/main" id="{14C6C4F0-67AB-914A-C242-A41760A27282}"/>
                    </a:ext>
                  </a:extLst>
                </p:cNvPr>
                <p:cNvSpPr/>
                <p:nvPr/>
              </p:nvSpPr>
              <p:spPr>
                <a:xfrm>
                  <a:off x="4396326" y="1436544"/>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ローチャート: 結合子 18">
                  <a:extLst>
                    <a:ext uri="{FF2B5EF4-FFF2-40B4-BE49-F238E27FC236}">
                      <a16:creationId xmlns:a16="http://schemas.microsoft.com/office/drawing/2014/main" id="{8A71C71F-1FE9-8D1B-8412-C1DFFF4D16E6}"/>
                    </a:ext>
                  </a:extLst>
                </p:cNvPr>
                <p:cNvSpPr/>
                <p:nvPr/>
              </p:nvSpPr>
              <p:spPr>
                <a:xfrm flipH="1" flipV="1">
                  <a:off x="6074404" y="12971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ローチャート: 結合子 21">
                  <a:extLst>
                    <a:ext uri="{FF2B5EF4-FFF2-40B4-BE49-F238E27FC236}">
                      <a16:creationId xmlns:a16="http://schemas.microsoft.com/office/drawing/2014/main" id="{5FDE7397-7613-5FB8-1384-008BE88C0D58}"/>
                    </a:ext>
                  </a:extLst>
                </p:cNvPr>
                <p:cNvSpPr/>
                <p:nvPr/>
              </p:nvSpPr>
              <p:spPr>
                <a:xfrm flipH="1" flipV="1">
                  <a:off x="6246375" y="1251326"/>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ローチャート: 結合子 23">
                  <a:extLst>
                    <a:ext uri="{FF2B5EF4-FFF2-40B4-BE49-F238E27FC236}">
                      <a16:creationId xmlns:a16="http://schemas.microsoft.com/office/drawing/2014/main" id="{6B4AF7B5-F3E2-A6BE-8B3C-E381F6408873}"/>
                    </a:ext>
                  </a:extLst>
                </p:cNvPr>
                <p:cNvSpPr/>
                <p:nvPr/>
              </p:nvSpPr>
              <p:spPr>
                <a:xfrm flipH="1" flipV="1">
                  <a:off x="6220705" y="1440089"/>
                  <a:ext cx="94134" cy="10344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フローチャート: 結合子 24">
                  <a:extLst>
                    <a:ext uri="{FF2B5EF4-FFF2-40B4-BE49-F238E27FC236}">
                      <a16:creationId xmlns:a16="http://schemas.microsoft.com/office/drawing/2014/main" id="{4AFCEE39-54BD-5593-0D81-105458181BC6}"/>
                    </a:ext>
                  </a:extLst>
                </p:cNvPr>
                <p:cNvSpPr/>
                <p:nvPr/>
              </p:nvSpPr>
              <p:spPr>
                <a:xfrm rot="1497469" flipH="1" flipV="1">
                  <a:off x="6226804" y="14495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6A4F07B3-0823-E2EB-7F96-83876D2ED7A5}"/>
                    </a:ext>
                  </a:extLst>
                </p:cNvPr>
                <p:cNvGrpSpPr/>
                <p:nvPr/>
              </p:nvGrpSpPr>
              <p:grpSpPr>
                <a:xfrm>
                  <a:off x="5816898" y="1781124"/>
                  <a:ext cx="246534" cy="400012"/>
                  <a:chOff x="5816898" y="1781124"/>
                  <a:chExt cx="246534" cy="400012"/>
                </a:xfrm>
                <a:solidFill>
                  <a:srgbClr val="FFC000"/>
                </a:solidFill>
              </p:grpSpPr>
              <p:sp>
                <p:nvSpPr>
                  <p:cNvPr id="41" name="フローチャート: 結合子 40">
                    <a:extLst>
                      <a:ext uri="{FF2B5EF4-FFF2-40B4-BE49-F238E27FC236}">
                        <a16:creationId xmlns:a16="http://schemas.microsoft.com/office/drawing/2014/main" id="{51EC7C62-22EB-7534-F8E5-E3926EE3DCDC}"/>
                      </a:ext>
                    </a:extLst>
                  </p:cNvPr>
                  <p:cNvSpPr/>
                  <p:nvPr/>
                </p:nvSpPr>
                <p:spPr>
                  <a:xfrm flipH="1" flipV="1">
                    <a:off x="5816898" y="17811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フローチャート: 結合子 41">
                    <a:extLst>
                      <a:ext uri="{FF2B5EF4-FFF2-40B4-BE49-F238E27FC236}">
                        <a16:creationId xmlns:a16="http://schemas.microsoft.com/office/drawing/2014/main" id="{6CC5742E-60F8-068C-373D-EC5AA9ACA06F}"/>
                      </a:ext>
                    </a:extLst>
                  </p:cNvPr>
                  <p:cNvSpPr/>
                  <p:nvPr/>
                </p:nvSpPr>
                <p:spPr>
                  <a:xfrm rot="1497469" flipH="1" flipV="1">
                    <a:off x="5855643" y="1921152"/>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フローチャート: 結合子 43">
                    <a:extLst>
                      <a:ext uri="{FF2B5EF4-FFF2-40B4-BE49-F238E27FC236}">
                        <a16:creationId xmlns:a16="http://schemas.microsoft.com/office/drawing/2014/main" id="{E08EE08E-A41C-F55A-94EE-07B71FF883C7}"/>
                      </a:ext>
                    </a:extLst>
                  </p:cNvPr>
                  <p:cNvSpPr/>
                  <p:nvPr/>
                </p:nvSpPr>
                <p:spPr>
                  <a:xfrm flipH="1" flipV="1">
                    <a:off x="5969298" y="19335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ローチャート: 結合子 45">
                    <a:extLst>
                      <a:ext uri="{FF2B5EF4-FFF2-40B4-BE49-F238E27FC236}">
                        <a16:creationId xmlns:a16="http://schemas.microsoft.com/office/drawing/2014/main" id="{7461C4BF-FD88-743A-6C40-3E8C2FCDE4E8}"/>
                      </a:ext>
                    </a:extLst>
                  </p:cNvPr>
                  <p:cNvSpPr/>
                  <p:nvPr/>
                </p:nvSpPr>
                <p:spPr>
                  <a:xfrm flipH="1" flipV="1">
                    <a:off x="5922231" y="207769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0EC2F710-780F-FDF7-ED21-FE864BC3C5E0}"/>
                    </a:ext>
                  </a:extLst>
                </p:cNvPr>
                <p:cNvSpPr txBox="1"/>
                <p:nvPr/>
              </p:nvSpPr>
              <p:spPr>
                <a:xfrm>
                  <a:off x="5575391" y="1452530"/>
                  <a:ext cx="506637" cy="276999"/>
                </a:xfrm>
                <a:prstGeom prst="rect">
                  <a:avLst/>
                </a:prstGeom>
                <a:ln w="19050">
                  <a:solidFill>
                    <a:srgbClr val="FFC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200" b="1" dirty="0"/>
                    <a:t>食事</a:t>
                  </a:r>
                </a:p>
              </p:txBody>
            </p:sp>
            <p:sp>
              <p:nvSpPr>
                <p:cNvPr id="28" name="矢印: 右 27">
                  <a:extLst>
                    <a:ext uri="{FF2B5EF4-FFF2-40B4-BE49-F238E27FC236}">
                      <a16:creationId xmlns:a16="http://schemas.microsoft.com/office/drawing/2014/main" id="{5C94A502-8E27-5D19-9071-468DADC70025}"/>
                    </a:ext>
                  </a:extLst>
                </p:cNvPr>
                <p:cNvSpPr/>
                <p:nvPr/>
              </p:nvSpPr>
              <p:spPr>
                <a:xfrm>
                  <a:off x="7006434" y="1400565"/>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87F2DA85-6E62-0181-B3BB-831B863CD09D}"/>
                    </a:ext>
                  </a:extLst>
                </p:cNvPr>
                <p:cNvSpPr txBox="1"/>
                <p:nvPr/>
              </p:nvSpPr>
              <p:spPr>
                <a:xfrm>
                  <a:off x="6654433" y="2039625"/>
                  <a:ext cx="1308869"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30" name="グループ化 29">
                  <a:extLst>
                    <a:ext uri="{FF2B5EF4-FFF2-40B4-BE49-F238E27FC236}">
                      <a16:creationId xmlns:a16="http://schemas.microsoft.com/office/drawing/2014/main" id="{F00D9024-2D2D-E621-A48D-66249F7227D4}"/>
                    </a:ext>
                  </a:extLst>
                </p:cNvPr>
                <p:cNvGrpSpPr/>
                <p:nvPr/>
              </p:nvGrpSpPr>
              <p:grpSpPr>
                <a:xfrm>
                  <a:off x="8049186" y="744611"/>
                  <a:ext cx="1389631" cy="1580032"/>
                  <a:chOff x="1162717" y="2321495"/>
                  <a:chExt cx="2515774" cy="3184820"/>
                </a:xfrm>
              </p:grpSpPr>
              <p:pic>
                <p:nvPicPr>
                  <p:cNvPr id="38" name="図 37" descr="アイコン&#10;&#10;AI 生成コンテンツは誤りを含む可能性があります。">
                    <a:extLst>
                      <a:ext uri="{FF2B5EF4-FFF2-40B4-BE49-F238E27FC236}">
                        <a16:creationId xmlns:a16="http://schemas.microsoft.com/office/drawing/2014/main" id="{D3D64D16-83DE-5EE0-314A-84DFB3D0A7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39" name="テキスト ボックス 38">
                    <a:extLst>
                      <a:ext uri="{FF2B5EF4-FFF2-40B4-BE49-F238E27FC236}">
                        <a16:creationId xmlns:a16="http://schemas.microsoft.com/office/drawing/2014/main" id="{1BABF4E1-D7CD-A88F-EABE-BCB77350A6BC}"/>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31" name="テキスト ボックス 30">
                  <a:extLst>
                    <a:ext uri="{FF2B5EF4-FFF2-40B4-BE49-F238E27FC236}">
                      <a16:creationId xmlns:a16="http://schemas.microsoft.com/office/drawing/2014/main" id="{81E8C68A-6C6E-390E-D923-EA848ECE9D89}"/>
                    </a:ext>
                  </a:extLst>
                </p:cNvPr>
                <p:cNvSpPr txBox="1"/>
                <p:nvPr/>
              </p:nvSpPr>
              <p:spPr>
                <a:xfrm>
                  <a:off x="9162442" y="2039625"/>
                  <a:ext cx="11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a:t>
                  </a:r>
                  <a:endParaRPr lang="en-US" altLang="ja-JP" sz="1200" b="1" dirty="0">
                    <a:latin typeface="+mn-ea"/>
                  </a:endParaRPr>
                </a:p>
                <a:p>
                  <a:r>
                    <a:rPr lang="en-US" altLang="ja-JP" sz="1200" b="1" dirty="0">
                      <a:latin typeface="+mn-ea"/>
                    </a:rPr>
                    <a:t>    (IPCA)</a:t>
                  </a:r>
                </a:p>
              </p:txBody>
            </p:sp>
            <p:sp>
              <p:nvSpPr>
                <p:cNvPr id="32" name="矢印: 右 31">
                  <a:extLst>
                    <a:ext uri="{FF2B5EF4-FFF2-40B4-BE49-F238E27FC236}">
                      <a16:creationId xmlns:a16="http://schemas.microsoft.com/office/drawing/2014/main" id="{4AD7E221-D4E9-0131-534A-6800931A3CD8}"/>
                    </a:ext>
                  </a:extLst>
                </p:cNvPr>
                <p:cNvSpPr/>
                <p:nvPr/>
              </p:nvSpPr>
              <p:spPr>
                <a:xfrm>
                  <a:off x="9451824" y="1379932"/>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836AC52F-57DF-AED3-78CD-3FA61ECE741E}"/>
                    </a:ext>
                  </a:extLst>
                </p:cNvPr>
                <p:cNvSpPr txBox="1"/>
                <p:nvPr/>
              </p:nvSpPr>
              <p:spPr>
                <a:xfrm>
                  <a:off x="10534813" y="1120104"/>
                  <a:ext cx="1219904"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a:p>
                  <a:r>
                    <a:rPr lang="ja-JP" altLang="en-US" sz="1400" b="1" dirty="0">
                      <a:latin typeface="+mn-ea"/>
                    </a:rPr>
                    <a:t> </a:t>
                  </a:r>
                  <a:r>
                    <a:rPr lang="ja-JP" altLang="en-US" sz="1400" b="1" u="sng" dirty="0">
                      <a:latin typeface="+mn-ea"/>
                    </a:rPr>
                    <a:t>競合より高い</a:t>
                  </a:r>
                  <a:endParaRPr lang="en-US" altLang="ja-JP" sz="1400" b="1" u="sng" dirty="0">
                    <a:latin typeface="+mn-ea"/>
                  </a:endParaRPr>
                </a:p>
              </p:txBody>
            </p:sp>
            <p:sp>
              <p:nvSpPr>
                <p:cNvPr id="37" name="テキスト ボックス 36">
                  <a:extLst>
                    <a:ext uri="{FF2B5EF4-FFF2-40B4-BE49-F238E27FC236}">
                      <a16:creationId xmlns:a16="http://schemas.microsoft.com/office/drawing/2014/main" id="{B1D19E4D-6694-D29E-415F-AFC43A7FB2AB}"/>
                    </a:ext>
                  </a:extLst>
                </p:cNvPr>
                <p:cNvSpPr txBox="1"/>
                <p:nvPr/>
              </p:nvSpPr>
              <p:spPr>
                <a:xfrm>
                  <a:off x="10534812" y="1716354"/>
                  <a:ext cx="1219903"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a:p>
                  <a:r>
                    <a:rPr lang="ja-JP" altLang="en-US" sz="1400" b="1" u="sng" dirty="0">
                      <a:latin typeface="+mn-ea"/>
                    </a:rPr>
                    <a:t>競合より低い</a:t>
                  </a:r>
                  <a:endParaRPr lang="en-US" altLang="ja-JP" sz="1400" b="1" u="sng" dirty="0">
                    <a:latin typeface="+mn-ea"/>
                  </a:endParaRPr>
                </a:p>
              </p:txBody>
            </p:sp>
          </p:grpSp>
        </p:grpSp>
      </p:grpSp>
      <p:sp>
        <p:nvSpPr>
          <p:cNvPr id="54" name="矢印: 下 53">
            <a:extLst>
              <a:ext uri="{FF2B5EF4-FFF2-40B4-BE49-F238E27FC236}">
                <a16:creationId xmlns:a16="http://schemas.microsoft.com/office/drawing/2014/main" id="{D7A22074-3DD7-FC81-20D9-DF99D28C1B26}"/>
              </a:ext>
            </a:extLst>
          </p:cNvPr>
          <p:cNvSpPr/>
          <p:nvPr/>
        </p:nvSpPr>
        <p:spPr>
          <a:xfrm>
            <a:off x="6109188" y="3603895"/>
            <a:ext cx="1597549" cy="363924"/>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5" name="矢印: 右 154">
            <a:extLst>
              <a:ext uri="{FF2B5EF4-FFF2-40B4-BE49-F238E27FC236}">
                <a16:creationId xmlns:a16="http://schemas.microsoft.com/office/drawing/2014/main" id="{E52191E5-9C76-FF12-6B26-3FF92915F638}"/>
              </a:ext>
            </a:extLst>
          </p:cNvPr>
          <p:cNvSpPr/>
          <p:nvPr/>
        </p:nvSpPr>
        <p:spPr>
          <a:xfrm>
            <a:off x="2056515" y="48677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A7FC7E35-A41B-3301-6A30-155F1AB0C9FD}"/>
              </a:ext>
            </a:extLst>
          </p:cNvPr>
          <p:cNvSpPr txBox="1"/>
          <p:nvPr/>
        </p:nvSpPr>
        <p:spPr>
          <a:xfrm>
            <a:off x="1567295" y="5490106"/>
            <a:ext cx="1309230"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157" name="グループ化 156">
            <a:extLst>
              <a:ext uri="{FF2B5EF4-FFF2-40B4-BE49-F238E27FC236}">
                <a16:creationId xmlns:a16="http://schemas.microsoft.com/office/drawing/2014/main" id="{19133FFA-A857-4234-6419-22C80F974771}"/>
              </a:ext>
            </a:extLst>
          </p:cNvPr>
          <p:cNvGrpSpPr/>
          <p:nvPr/>
        </p:nvGrpSpPr>
        <p:grpSpPr>
          <a:xfrm>
            <a:off x="3077695" y="4209704"/>
            <a:ext cx="1389631" cy="1580032"/>
            <a:chOff x="1162717" y="2321495"/>
            <a:chExt cx="2515774" cy="3184820"/>
          </a:xfrm>
        </p:grpSpPr>
        <p:pic>
          <p:nvPicPr>
            <p:cNvPr id="162" name="図 161" descr="アイコン&#10;&#10;AI 生成コンテンツは誤りを含む可能性があります。">
              <a:extLst>
                <a:ext uri="{FF2B5EF4-FFF2-40B4-BE49-F238E27FC236}">
                  <a16:creationId xmlns:a16="http://schemas.microsoft.com/office/drawing/2014/main" id="{946C6EDB-EB81-6DEE-90BE-DCFDA1AFE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163" name="テキスト ボックス 162">
              <a:extLst>
                <a:ext uri="{FF2B5EF4-FFF2-40B4-BE49-F238E27FC236}">
                  <a16:creationId xmlns:a16="http://schemas.microsoft.com/office/drawing/2014/main" id="{1ACEB049-7298-23BE-8A31-96585A5FA7CC}"/>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158" name="テキスト ボックス 157">
            <a:extLst>
              <a:ext uri="{FF2B5EF4-FFF2-40B4-BE49-F238E27FC236}">
                <a16:creationId xmlns:a16="http://schemas.microsoft.com/office/drawing/2014/main" id="{FEFBDB4D-0E88-4D53-0AE8-FAA350DB68DE}"/>
              </a:ext>
            </a:extLst>
          </p:cNvPr>
          <p:cNvSpPr txBox="1"/>
          <p:nvPr/>
        </p:nvSpPr>
        <p:spPr>
          <a:xfrm>
            <a:off x="4039968" y="5737173"/>
            <a:ext cx="150115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競争力評価の拡張</a:t>
            </a:r>
            <a:endParaRPr lang="en-US" altLang="ja-JP" sz="1200" b="1" dirty="0">
              <a:latin typeface="+mn-ea"/>
            </a:endParaRPr>
          </a:p>
          <a:p>
            <a:r>
              <a:rPr lang="en-US" altLang="ja-JP" sz="1200" b="1" dirty="0">
                <a:latin typeface="+mn-ea"/>
              </a:rPr>
              <a:t>    (IPCA+</a:t>
            </a:r>
            <a:r>
              <a:rPr lang="ja-JP" altLang="en-US" sz="1200" b="1" u="sng" dirty="0">
                <a:solidFill>
                  <a:srgbClr val="C00000"/>
                </a:solidFill>
                <a:latin typeface="+mn-ea"/>
              </a:rPr>
              <a:t>感情分析</a:t>
            </a:r>
            <a:r>
              <a:rPr lang="en-US" altLang="ja-JP" sz="1200" b="1" dirty="0">
                <a:latin typeface="+mn-ea"/>
              </a:rPr>
              <a:t>)</a:t>
            </a:r>
          </a:p>
        </p:txBody>
      </p:sp>
      <p:sp>
        <p:nvSpPr>
          <p:cNvPr id="159" name="矢印: 右 158">
            <a:extLst>
              <a:ext uri="{FF2B5EF4-FFF2-40B4-BE49-F238E27FC236}">
                <a16:creationId xmlns:a16="http://schemas.microsoft.com/office/drawing/2014/main" id="{687A511D-077B-E754-C7B6-86B297EEFE2E}"/>
              </a:ext>
            </a:extLst>
          </p:cNvPr>
          <p:cNvSpPr/>
          <p:nvPr/>
        </p:nvSpPr>
        <p:spPr>
          <a:xfrm>
            <a:off x="4615063" y="479681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2" name="テキスト ボックス 171">
            <a:extLst>
              <a:ext uri="{FF2B5EF4-FFF2-40B4-BE49-F238E27FC236}">
                <a16:creationId xmlns:a16="http://schemas.microsoft.com/office/drawing/2014/main" id="{9DC90C05-9A6C-0B4C-19A0-27E561E6DD79}"/>
              </a:ext>
            </a:extLst>
          </p:cNvPr>
          <p:cNvSpPr txBox="1"/>
          <p:nvPr/>
        </p:nvSpPr>
        <p:spPr>
          <a:xfrm>
            <a:off x="73944" y="4867789"/>
            <a:ext cx="1511510" cy="584775"/>
          </a:xfrm>
          <a:prstGeom prst="rect">
            <a:avLst/>
          </a:prstGeom>
          <a:solidFill>
            <a:srgbClr val="002060"/>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rgbClr val="FFFFFF"/>
                </a:solidFill>
              </a:rPr>
              <a:t>既存研究 </a:t>
            </a:r>
            <a:r>
              <a:rPr kumimoji="1" lang="en-US" altLang="ja-JP" sz="1600" b="1" dirty="0">
                <a:solidFill>
                  <a:srgbClr val="FFFFFF"/>
                </a:solidFill>
              </a:rPr>
              <a:t>[1]</a:t>
            </a:r>
          </a:p>
          <a:p>
            <a:r>
              <a:rPr lang="ja-JP" altLang="en-US" sz="1600" b="1" dirty="0">
                <a:solidFill>
                  <a:srgbClr val="FFFFFF"/>
                </a:solidFill>
              </a:rPr>
              <a:t>による競合評価</a:t>
            </a:r>
            <a:endParaRPr kumimoji="1" lang="ja-JP" altLang="en-US" sz="1600" b="1" dirty="0">
              <a:solidFill>
                <a:srgbClr val="FFFFFF"/>
              </a:solidFill>
            </a:endParaRPr>
          </a:p>
        </p:txBody>
      </p:sp>
      <p:grpSp>
        <p:nvGrpSpPr>
          <p:cNvPr id="176" name="グループ化 175">
            <a:extLst>
              <a:ext uri="{FF2B5EF4-FFF2-40B4-BE49-F238E27FC236}">
                <a16:creationId xmlns:a16="http://schemas.microsoft.com/office/drawing/2014/main" id="{0FA90737-8FC0-E296-AC23-3B5E0BCD30C6}"/>
              </a:ext>
            </a:extLst>
          </p:cNvPr>
          <p:cNvGrpSpPr/>
          <p:nvPr/>
        </p:nvGrpSpPr>
        <p:grpSpPr>
          <a:xfrm>
            <a:off x="5810580" y="4313302"/>
            <a:ext cx="1719444" cy="1034882"/>
            <a:chOff x="7282287" y="3915617"/>
            <a:chExt cx="1719444" cy="1034882"/>
          </a:xfrm>
        </p:grpSpPr>
        <p:sp>
          <p:nvSpPr>
            <p:cNvPr id="160" name="テキスト ボックス 159">
              <a:extLst>
                <a:ext uri="{FF2B5EF4-FFF2-40B4-BE49-F238E27FC236}">
                  <a16:creationId xmlns:a16="http://schemas.microsoft.com/office/drawing/2014/main" id="{0B382F23-52C2-C09D-01EB-B53FCF592B70}"/>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p:txBody>
        </p:sp>
        <p:sp>
          <p:nvSpPr>
            <p:cNvPr id="173" name="テキスト ボックス 172">
              <a:extLst>
                <a:ext uri="{FF2B5EF4-FFF2-40B4-BE49-F238E27FC236}">
                  <a16:creationId xmlns:a16="http://schemas.microsoft.com/office/drawing/2014/main" id="{376AE660-2D06-610A-145C-F8F530213557}"/>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b="1" dirty="0"/>
                <a:t>風呂：競合より低い</a:t>
              </a:r>
              <a:endParaRPr kumimoji="1" lang="en-US" altLang="ja-JP" sz="1400" b="1" dirty="0"/>
            </a:p>
            <a:p>
              <a:r>
                <a:rPr lang="ja-JP" altLang="en-US" sz="1400" b="1" dirty="0"/>
                <a:t>ベッド：競合より高い</a:t>
              </a:r>
              <a:endParaRPr lang="en-US" altLang="ja-JP" sz="1400" b="1" dirty="0"/>
            </a:p>
            <a:p>
              <a:r>
                <a:rPr kumimoji="1" lang="ja-JP" altLang="en-US" sz="1400" b="1" dirty="0"/>
                <a:t>匂い：競合より高い</a:t>
              </a:r>
              <a:endParaRPr kumimoji="1" lang="en-US" altLang="ja-JP" sz="1400" b="1" dirty="0"/>
            </a:p>
          </p:txBody>
        </p:sp>
      </p:grpSp>
      <p:sp>
        <p:nvSpPr>
          <p:cNvPr id="175" name="テキスト ボックス 174">
            <a:extLst>
              <a:ext uri="{FF2B5EF4-FFF2-40B4-BE49-F238E27FC236}">
                <a16:creationId xmlns:a16="http://schemas.microsoft.com/office/drawing/2014/main" id="{187B9FCB-333E-0A4C-9809-713F9440A40C}"/>
              </a:ext>
            </a:extLst>
          </p:cNvPr>
          <p:cNvSpPr txBox="1"/>
          <p:nvPr/>
        </p:nvSpPr>
        <p:spPr>
          <a:xfrm>
            <a:off x="3075097" y="3805368"/>
            <a:ext cx="2650280" cy="276999"/>
          </a:xfrm>
          <a:prstGeom prst="rect">
            <a:avLst/>
          </a:prstGeom>
          <a:solidFill>
            <a:srgbClr val="FFC000"/>
          </a:solidFill>
          <a:ln w="3810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改善意思決定にまでつなげる形に拡張</a:t>
            </a:r>
            <a:endParaRPr lang="en-US" altLang="ja-JP" sz="1200" b="1" dirty="0">
              <a:latin typeface="+mn-ea"/>
            </a:endParaRPr>
          </a:p>
        </p:txBody>
      </p:sp>
      <p:grpSp>
        <p:nvGrpSpPr>
          <p:cNvPr id="177" name="グループ化 176">
            <a:extLst>
              <a:ext uri="{FF2B5EF4-FFF2-40B4-BE49-F238E27FC236}">
                <a16:creationId xmlns:a16="http://schemas.microsoft.com/office/drawing/2014/main" id="{B06131A2-4DCA-932B-4199-2D04ABD3B5B7}"/>
              </a:ext>
            </a:extLst>
          </p:cNvPr>
          <p:cNvGrpSpPr/>
          <p:nvPr/>
        </p:nvGrpSpPr>
        <p:grpSpPr>
          <a:xfrm>
            <a:off x="5785353" y="5461850"/>
            <a:ext cx="1719444" cy="1034882"/>
            <a:chOff x="7282287" y="3915617"/>
            <a:chExt cx="1719444" cy="1034882"/>
          </a:xfrm>
        </p:grpSpPr>
        <p:sp>
          <p:nvSpPr>
            <p:cNvPr id="178" name="テキスト ボックス 177">
              <a:extLst>
                <a:ext uri="{FF2B5EF4-FFF2-40B4-BE49-F238E27FC236}">
                  <a16:creationId xmlns:a16="http://schemas.microsoft.com/office/drawing/2014/main" id="{93FFDC73-7D27-5D44-1A63-DEA491D82184}"/>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p:txBody>
        </p:sp>
        <p:sp>
          <p:nvSpPr>
            <p:cNvPr id="179" name="テキスト ボックス 178">
              <a:extLst>
                <a:ext uri="{FF2B5EF4-FFF2-40B4-BE49-F238E27FC236}">
                  <a16:creationId xmlns:a16="http://schemas.microsoft.com/office/drawing/2014/main" id="{87B858D7-845A-9F0F-84A0-AFD87AF60C41}"/>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朝食</a:t>
              </a:r>
              <a:r>
                <a:rPr kumimoji="1" lang="ja-JP" altLang="en-US" sz="1400" b="1" dirty="0"/>
                <a:t>：競合より低い</a:t>
              </a:r>
              <a:endParaRPr kumimoji="1" lang="en-US" altLang="ja-JP" sz="1400" b="1" dirty="0"/>
            </a:p>
            <a:p>
              <a:r>
                <a:rPr lang="ja-JP" altLang="en-US" sz="1400" b="1" dirty="0"/>
                <a:t>カフェ：競合より高い</a:t>
              </a:r>
              <a:endParaRPr lang="en-US" altLang="ja-JP" sz="1400" b="1" dirty="0"/>
            </a:p>
            <a:p>
              <a:r>
                <a:rPr lang="ja-JP" altLang="en-US" sz="1400" b="1" dirty="0"/>
                <a:t>夕食</a:t>
              </a:r>
              <a:r>
                <a:rPr kumimoji="1" lang="ja-JP" altLang="en-US" sz="1400" b="1" dirty="0"/>
                <a:t>：競合より高い</a:t>
              </a:r>
              <a:endParaRPr kumimoji="1" lang="en-US" altLang="ja-JP" sz="1400" b="1" dirty="0"/>
            </a:p>
          </p:txBody>
        </p:sp>
      </p:grpSp>
      <p:sp>
        <p:nvSpPr>
          <p:cNvPr id="180" name="矢印: 右 179">
            <a:extLst>
              <a:ext uri="{FF2B5EF4-FFF2-40B4-BE49-F238E27FC236}">
                <a16:creationId xmlns:a16="http://schemas.microsoft.com/office/drawing/2014/main" id="{1A7D55DA-3E4A-C810-9DE2-9821E346FE03}"/>
              </a:ext>
            </a:extLst>
          </p:cNvPr>
          <p:cNvSpPr/>
          <p:nvPr/>
        </p:nvSpPr>
        <p:spPr>
          <a:xfrm>
            <a:off x="8233240" y="487115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8" name="グループ化 187">
            <a:extLst>
              <a:ext uri="{FF2B5EF4-FFF2-40B4-BE49-F238E27FC236}">
                <a16:creationId xmlns:a16="http://schemas.microsoft.com/office/drawing/2014/main" id="{786B1C42-B6EE-9B46-8E36-340C370E892C}"/>
              </a:ext>
            </a:extLst>
          </p:cNvPr>
          <p:cNvGrpSpPr/>
          <p:nvPr/>
        </p:nvGrpSpPr>
        <p:grpSpPr>
          <a:xfrm>
            <a:off x="9599790" y="4289161"/>
            <a:ext cx="1719444" cy="1379381"/>
            <a:chOff x="7282287" y="3786561"/>
            <a:chExt cx="1719444" cy="1379381"/>
          </a:xfrm>
        </p:grpSpPr>
        <p:sp>
          <p:nvSpPr>
            <p:cNvPr id="189" name="テキスト ボックス 188">
              <a:extLst>
                <a:ext uri="{FF2B5EF4-FFF2-40B4-BE49-F238E27FC236}">
                  <a16:creationId xmlns:a16="http://schemas.microsoft.com/office/drawing/2014/main" id="{B978A037-5D14-E02F-2FA1-49DFE843B8D0}"/>
                </a:ext>
              </a:extLst>
            </p:cNvPr>
            <p:cNvSpPr txBox="1"/>
            <p:nvPr/>
          </p:nvSpPr>
          <p:spPr>
            <a:xfrm>
              <a:off x="7358160" y="3786561"/>
              <a:ext cx="1563458" cy="461665"/>
            </a:xfrm>
            <a:prstGeom prst="rect">
              <a:avLst/>
            </a:prstGeom>
            <a:solidFill>
              <a:srgbClr val="FFC000"/>
            </a:solidFill>
            <a:ln w="28575">
              <a:solidFill>
                <a:schemeClr val="bg1">
                  <a:lumMod val="25000"/>
                </a:schemeClr>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200" b="1" dirty="0">
                  <a:solidFill>
                    <a:schemeClr val="bg1">
                      <a:lumMod val="25000"/>
                    </a:schemeClr>
                  </a:solidFill>
                  <a:latin typeface="+mn-ea"/>
                </a:rPr>
                <a:t>競合と比較した</a:t>
              </a:r>
              <a:endParaRPr lang="en-US" altLang="ja-JP" sz="1200" b="1" dirty="0">
                <a:solidFill>
                  <a:schemeClr val="bg1">
                    <a:lumMod val="25000"/>
                  </a:schemeClr>
                </a:solidFill>
                <a:latin typeface="+mn-ea"/>
              </a:endParaRPr>
            </a:p>
            <a:p>
              <a:r>
                <a:rPr lang="ja-JP" altLang="en-US" sz="1200" b="1" dirty="0">
                  <a:solidFill>
                    <a:schemeClr val="bg1">
                      <a:lumMod val="25000"/>
                    </a:schemeClr>
                  </a:solidFill>
                  <a:latin typeface="+mn-ea"/>
                </a:rPr>
                <a:t>明確な改善・訴求点</a:t>
              </a:r>
              <a:endParaRPr lang="en-US" altLang="ja-JP" sz="1200" b="1" dirty="0">
                <a:solidFill>
                  <a:schemeClr val="bg1">
                    <a:lumMod val="25000"/>
                  </a:schemeClr>
                </a:solidFill>
                <a:latin typeface="+mn-ea"/>
              </a:endParaRPr>
            </a:p>
          </p:txBody>
        </p:sp>
        <p:sp>
          <p:nvSpPr>
            <p:cNvPr id="190" name="テキスト ボックス 189">
              <a:extLst>
                <a:ext uri="{FF2B5EF4-FFF2-40B4-BE49-F238E27FC236}">
                  <a16:creationId xmlns:a16="http://schemas.microsoft.com/office/drawing/2014/main" id="{8663F7C8-CCEE-DBB7-7841-BABA699FF23E}"/>
                </a:ext>
              </a:extLst>
            </p:cNvPr>
            <p:cNvSpPr txBox="1"/>
            <p:nvPr/>
          </p:nvSpPr>
          <p:spPr>
            <a:xfrm>
              <a:off x="7282287" y="4211835"/>
              <a:ext cx="1719444" cy="954107"/>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400" b="1" dirty="0"/>
                <a:t>~~~~~~~~~~~~~~~~~~~~~~~~~~~~~~~~~~~~~~~~~~~~~~~~</a:t>
              </a:r>
            </a:p>
          </p:txBody>
        </p:sp>
      </p:grpSp>
      <p:sp>
        <p:nvSpPr>
          <p:cNvPr id="191" name="正方形/長方形 190">
            <a:extLst>
              <a:ext uri="{FF2B5EF4-FFF2-40B4-BE49-F238E27FC236}">
                <a16:creationId xmlns:a16="http://schemas.microsoft.com/office/drawing/2014/main" id="{9D11402E-D7EC-D9C7-75CF-C29FB32DAD8F}"/>
              </a:ext>
            </a:extLst>
          </p:cNvPr>
          <p:cNvSpPr/>
          <p:nvPr/>
        </p:nvSpPr>
        <p:spPr>
          <a:xfrm>
            <a:off x="3075097" y="4085754"/>
            <a:ext cx="8544093" cy="2676995"/>
          </a:xfrm>
          <a:prstGeom prst="rect">
            <a:avLst/>
          </a:prstGeom>
          <a:noFill/>
          <a:ln w="38100" cap="flat" cmpd="sng" algn="ctr">
            <a:solidFill>
              <a:schemeClr val="accent4">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198" name="グループ化 197">
            <a:extLst>
              <a:ext uri="{FF2B5EF4-FFF2-40B4-BE49-F238E27FC236}">
                <a16:creationId xmlns:a16="http://schemas.microsoft.com/office/drawing/2014/main" id="{205D0590-37CD-3BEA-AC92-93878EA3BB64}"/>
              </a:ext>
            </a:extLst>
          </p:cNvPr>
          <p:cNvGrpSpPr/>
          <p:nvPr/>
        </p:nvGrpSpPr>
        <p:grpSpPr>
          <a:xfrm>
            <a:off x="7986574" y="4192183"/>
            <a:ext cx="910000" cy="705901"/>
            <a:chOff x="8099250" y="4269364"/>
            <a:chExt cx="910000" cy="705901"/>
          </a:xfrm>
        </p:grpSpPr>
        <p:pic>
          <p:nvPicPr>
            <p:cNvPr id="186" name="グラフィックス 185" descr="頭の中の脳 単色塗りつぶし">
              <a:extLst>
                <a:ext uri="{FF2B5EF4-FFF2-40B4-BE49-F238E27FC236}">
                  <a16:creationId xmlns:a16="http://schemas.microsoft.com/office/drawing/2014/main" id="{13D7DE4C-FB4C-FCA4-7F7E-FFFB95D6E9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53920" y="4269364"/>
              <a:ext cx="465142" cy="465142"/>
            </a:xfrm>
            <a:prstGeom prst="rect">
              <a:avLst/>
            </a:prstGeom>
          </p:spPr>
        </p:pic>
        <p:sp>
          <p:nvSpPr>
            <p:cNvPr id="197" name="テキスト ボックス 196">
              <a:extLst>
                <a:ext uri="{FF2B5EF4-FFF2-40B4-BE49-F238E27FC236}">
                  <a16:creationId xmlns:a16="http://schemas.microsoft.com/office/drawing/2014/main" id="{A280AE76-F2A1-B8F3-30B4-820F348D6731}"/>
                </a:ext>
              </a:extLst>
            </p:cNvPr>
            <p:cNvSpPr txBox="1"/>
            <p:nvPr/>
          </p:nvSpPr>
          <p:spPr>
            <a:xfrm>
              <a:off x="8099250" y="4698266"/>
              <a:ext cx="910000" cy="276999"/>
            </a:xfrm>
            <a:prstGeom prst="rect">
              <a:avLst/>
            </a:prstGeom>
            <a:noFill/>
            <a:ln w="19050">
              <a:noFill/>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a:t>
              </a:r>
              <a:r>
                <a:rPr lang="en-US" altLang="ja-JP" sz="1200" b="1" dirty="0">
                  <a:latin typeface="+mn-ea"/>
                </a:rPr>
                <a:t>ML</a:t>
              </a:r>
            </a:p>
          </p:txBody>
        </p:sp>
      </p:grpSp>
      <p:sp>
        <p:nvSpPr>
          <p:cNvPr id="200" name="テキスト ボックス 199">
            <a:extLst>
              <a:ext uri="{FF2B5EF4-FFF2-40B4-BE49-F238E27FC236}">
                <a16:creationId xmlns:a16="http://schemas.microsoft.com/office/drawing/2014/main" id="{7350612B-3E6D-6C57-A693-94F49B283AB6}"/>
              </a:ext>
            </a:extLst>
          </p:cNvPr>
          <p:cNvSpPr txBox="1"/>
          <p:nvPr/>
        </p:nvSpPr>
        <p:spPr>
          <a:xfrm>
            <a:off x="4034538" y="5471184"/>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nvGrpSpPr>
          <p:cNvPr id="203" name="グループ化 202">
            <a:extLst>
              <a:ext uri="{FF2B5EF4-FFF2-40B4-BE49-F238E27FC236}">
                <a16:creationId xmlns:a16="http://schemas.microsoft.com/office/drawing/2014/main" id="{4F73CCF9-8D5F-F6F1-BE19-5A016CAD3CFE}"/>
              </a:ext>
            </a:extLst>
          </p:cNvPr>
          <p:cNvGrpSpPr/>
          <p:nvPr/>
        </p:nvGrpSpPr>
        <p:grpSpPr>
          <a:xfrm>
            <a:off x="7716566" y="5469628"/>
            <a:ext cx="1788273" cy="746310"/>
            <a:chOff x="7570550" y="5120077"/>
            <a:chExt cx="1788273" cy="746310"/>
          </a:xfrm>
        </p:grpSpPr>
        <p:sp>
          <p:nvSpPr>
            <p:cNvPr id="181" name="テキスト ボックス 180">
              <a:extLst>
                <a:ext uri="{FF2B5EF4-FFF2-40B4-BE49-F238E27FC236}">
                  <a16:creationId xmlns:a16="http://schemas.microsoft.com/office/drawing/2014/main" id="{863385D8-9CAC-4D51-1A03-50E6F254568E}"/>
                </a:ext>
              </a:extLst>
            </p:cNvPr>
            <p:cNvSpPr txBox="1"/>
            <p:nvPr/>
          </p:nvSpPr>
          <p:spPr>
            <a:xfrm>
              <a:off x="7570550" y="5404722"/>
              <a:ext cx="1788273"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他のあらゆる観点を含めて　 改善・訴求点を 解析</a:t>
              </a:r>
              <a:endParaRPr lang="en-US" altLang="ja-JP" sz="1200" b="1" dirty="0">
                <a:latin typeface="+mn-ea"/>
              </a:endParaRPr>
            </a:p>
          </p:txBody>
        </p:sp>
        <p:sp>
          <p:nvSpPr>
            <p:cNvPr id="201" name="テキスト ボックス 200">
              <a:extLst>
                <a:ext uri="{FF2B5EF4-FFF2-40B4-BE49-F238E27FC236}">
                  <a16:creationId xmlns:a16="http://schemas.microsoft.com/office/drawing/2014/main" id="{635B907A-2A19-8D21-DB8A-D9FB85F6F36E}"/>
                </a:ext>
              </a:extLst>
            </p:cNvPr>
            <p:cNvSpPr txBox="1"/>
            <p:nvPr/>
          </p:nvSpPr>
          <p:spPr>
            <a:xfrm>
              <a:off x="7574755" y="5120077"/>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sp>
        <p:nvSpPr>
          <p:cNvPr id="210" name="テキスト ボックス 209">
            <a:extLst>
              <a:ext uri="{FF2B5EF4-FFF2-40B4-BE49-F238E27FC236}">
                <a16:creationId xmlns:a16="http://schemas.microsoft.com/office/drawing/2014/main" id="{82100EC2-E850-C8DF-DC6A-36002CA9F659}"/>
              </a:ext>
            </a:extLst>
          </p:cNvPr>
          <p:cNvSpPr txBox="1"/>
          <p:nvPr/>
        </p:nvSpPr>
        <p:spPr>
          <a:xfrm>
            <a:off x="165361" y="642787"/>
            <a:ext cx="6001866" cy="646331"/>
          </a:xfrm>
          <a:prstGeom prst="rect">
            <a:avLst/>
          </a:prstGeom>
          <a:solidFill>
            <a:srgbClr val="882312"/>
          </a:solidFill>
        </p:spPr>
        <p:txBody>
          <a:bodyPr wrap="square">
            <a:spAutoFit/>
          </a:bodyPr>
          <a:lstStyle/>
          <a:p>
            <a:pPr marL="0" indent="0">
              <a:buNone/>
            </a:pPr>
            <a:r>
              <a:rPr lang="ja-JP" altLang="en-US" b="1" dirty="0">
                <a:solidFill>
                  <a:schemeClr val="bg1"/>
                </a:solidFill>
              </a:rPr>
              <a:t>課題：「具体的な意思決定につながる形が求められている」</a:t>
            </a:r>
            <a:br>
              <a:rPr lang="en-US" altLang="ja-JP" b="1" dirty="0">
                <a:solidFill>
                  <a:schemeClr val="bg1"/>
                </a:solidFill>
                <a:latin typeface="+mn-lt"/>
              </a:rPr>
            </a:br>
            <a:r>
              <a:rPr lang="en-US" altLang="ja-JP" b="1" dirty="0">
                <a:solidFill>
                  <a:schemeClr val="bg1"/>
                </a:solidFill>
                <a:latin typeface="+mn-lt"/>
              </a:rPr>
              <a:t>           </a:t>
            </a:r>
            <a:r>
              <a:rPr lang="ja-JP" altLang="en-US" b="1" dirty="0">
                <a:solidFill>
                  <a:schemeClr val="bg1"/>
                </a:solidFill>
                <a:latin typeface="+mn-lt"/>
              </a:rPr>
              <a:t>「属性レベルだけでは最適な強み・弱みは特定できない」</a:t>
            </a:r>
            <a:r>
              <a:rPr lang="ja-JP" altLang="en-US" b="1" dirty="0">
                <a:solidFill>
                  <a:schemeClr val="bg1"/>
                </a:solidFill>
                <a:latin typeface="+mn-ea"/>
              </a:rPr>
              <a:t>　　　　　　　　　　　　　　　　　　　　　　　　　　　　　</a:t>
            </a:r>
            <a:endParaRPr lang="en-US" altLang="ja-JP" b="1" dirty="0">
              <a:solidFill>
                <a:schemeClr val="bg1"/>
              </a:solidFill>
              <a:latin typeface="+mn-ea"/>
            </a:endParaRPr>
          </a:p>
        </p:txBody>
      </p:sp>
      <p:grpSp>
        <p:nvGrpSpPr>
          <p:cNvPr id="2" name="グループ化 1">
            <a:extLst>
              <a:ext uri="{FF2B5EF4-FFF2-40B4-BE49-F238E27FC236}">
                <a16:creationId xmlns:a16="http://schemas.microsoft.com/office/drawing/2014/main" id="{9FBFD037-BBA1-EC10-DD80-4DA82307FDC2}"/>
              </a:ext>
            </a:extLst>
          </p:cNvPr>
          <p:cNvGrpSpPr/>
          <p:nvPr/>
        </p:nvGrpSpPr>
        <p:grpSpPr>
          <a:xfrm>
            <a:off x="241407" y="1618521"/>
            <a:ext cx="1897430" cy="1125579"/>
            <a:chOff x="198905" y="1762540"/>
            <a:chExt cx="2789905" cy="1397118"/>
          </a:xfrm>
        </p:grpSpPr>
        <p:sp>
          <p:nvSpPr>
            <p:cNvPr id="9" name="テキスト ボックス 8">
              <a:extLst>
                <a:ext uri="{FF2B5EF4-FFF2-40B4-BE49-F238E27FC236}">
                  <a16:creationId xmlns:a16="http://schemas.microsoft.com/office/drawing/2014/main" id="{1C792ABF-FCCF-A94C-4A25-50738E8B2BA8}"/>
                </a:ext>
              </a:extLst>
            </p:cNvPr>
            <p:cNvSpPr txBox="1"/>
            <p:nvPr/>
          </p:nvSpPr>
          <p:spPr>
            <a:xfrm>
              <a:off x="358186" y="2586619"/>
              <a:ext cx="1978963" cy="573039"/>
            </a:xfrm>
            <a:prstGeom prst="rect">
              <a:avLst/>
            </a:prstGeom>
            <a:noFill/>
          </p:spPr>
          <p:txBody>
            <a:bodyPr wrap="square" rtlCol="0">
              <a:spAutoFit/>
            </a:bodyPr>
            <a:lstStyle/>
            <a:p>
              <a:r>
                <a:rPr lang="ja-JP" altLang="en-US" sz="1200" b="1" dirty="0"/>
                <a:t>インタビュー情報</a:t>
              </a:r>
              <a:endParaRPr lang="en-US" altLang="ja-JP" sz="1200" b="1" dirty="0"/>
            </a:p>
            <a:p>
              <a:r>
                <a:rPr lang="en-US" altLang="ja-JP" sz="1200" b="1" dirty="0"/>
                <a:t>(</a:t>
              </a:r>
              <a:r>
                <a:rPr lang="ja-JP" altLang="en-US" sz="1200" b="1" dirty="0"/>
                <a:t>口コミではない</a:t>
              </a:r>
              <a:r>
                <a:rPr lang="en-US" altLang="ja-JP" sz="1200" b="1" dirty="0"/>
                <a:t>)</a:t>
              </a:r>
            </a:p>
          </p:txBody>
        </p:sp>
        <p:grpSp>
          <p:nvGrpSpPr>
            <p:cNvPr id="10" name="グループ化 9">
              <a:extLst>
                <a:ext uri="{FF2B5EF4-FFF2-40B4-BE49-F238E27FC236}">
                  <a16:creationId xmlns:a16="http://schemas.microsoft.com/office/drawing/2014/main" id="{AAB1F8AB-575B-1E50-AD6F-D85B37624C85}"/>
                </a:ext>
              </a:extLst>
            </p:cNvPr>
            <p:cNvGrpSpPr/>
            <p:nvPr/>
          </p:nvGrpSpPr>
          <p:grpSpPr>
            <a:xfrm>
              <a:off x="198905" y="1762540"/>
              <a:ext cx="2789905" cy="814707"/>
              <a:chOff x="1104368" y="5724958"/>
              <a:chExt cx="2789905" cy="814707"/>
            </a:xfrm>
          </p:grpSpPr>
          <p:grpSp>
            <p:nvGrpSpPr>
              <p:cNvPr id="14" name="グループ化 13">
                <a:extLst>
                  <a:ext uri="{FF2B5EF4-FFF2-40B4-BE49-F238E27FC236}">
                    <a16:creationId xmlns:a16="http://schemas.microsoft.com/office/drawing/2014/main" id="{25FC7273-4A30-644E-96E3-E106140CF892}"/>
                  </a:ext>
                </a:extLst>
              </p:cNvPr>
              <p:cNvGrpSpPr/>
              <p:nvPr/>
            </p:nvGrpSpPr>
            <p:grpSpPr>
              <a:xfrm>
                <a:off x="1104368" y="5855141"/>
                <a:ext cx="2289499" cy="684524"/>
                <a:chOff x="944987" y="4767419"/>
                <a:chExt cx="2218459" cy="684524"/>
              </a:xfrm>
              <a:solidFill>
                <a:schemeClr val="accent3">
                  <a:lumMod val="20000"/>
                  <a:lumOff val="80000"/>
                </a:schemeClr>
              </a:solidFill>
            </p:grpSpPr>
            <p:sp>
              <p:nvSpPr>
                <p:cNvPr id="20" name="四角形: 角を丸くする 19">
                  <a:extLst>
                    <a:ext uri="{FF2B5EF4-FFF2-40B4-BE49-F238E27FC236}">
                      <a16:creationId xmlns:a16="http://schemas.microsoft.com/office/drawing/2014/main" id="{46F5DA98-477B-7B14-BF8C-D3E58F12C56A}"/>
                    </a:ext>
                  </a:extLst>
                </p:cNvPr>
                <p:cNvSpPr/>
                <p:nvPr/>
              </p:nvSpPr>
              <p:spPr>
                <a:xfrm>
                  <a:off x="944987" y="4767419"/>
                  <a:ext cx="2218459"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23" name="図 22">
                  <a:extLst>
                    <a:ext uri="{FF2B5EF4-FFF2-40B4-BE49-F238E27FC236}">
                      <a16:creationId xmlns:a16="http://schemas.microsoft.com/office/drawing/2014/main" id="{F580D14C-03C0-B88C-93C5-0DFDA9E9E5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03EADF06-8DAA-283F-D9ED-980E52AC9CA9}"/>
                  </a:ext>
                </a:extLst>
              </p:cNvPr>
              <p:cNvSpPr txBox="1"/>
              <p:nvPr/>
            </p:nvSpPr>
            <p:spPr>
              <a:xfrm>
                <a:off x="1604774" y="5724958"/>
                <a:ext cx="2289499" cy="716299"/>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050" b="1" dirty="0">
                  <a:latin typeface="+mn-ea"/>
                </a:endParaRPr>
              </a:p>
              <a:p>
                <a:r>
                  <a:rPr lang="ja-JP" altLang="en-US" sz="1050" b="1" dirty="0">
                    <a:latin typeface="+mn-ea"/>
                  </a:rPr>
                  <a:t>「部屋はきれいだが</a:t>
                </a:r>
                <a:endParaRPr lang="en-US" altLang="ja-JP" sz="1050" b="1" dirty="0">
                  <a:latin typeface="+mn-ea"/>
                </a:endParaRPr>
              </a:p>
              <a:p>
                <a:r>
                  <a:rPr lang="ja-JP" altLang="en-US" sz="1050" b="1" dirty="0">
                    <a:latin typeface="+mn-ea"/>
                  </a:rPr>
                  <a:t>食事は微妙だった」</a:t>
                </a:r>
                <a:endParaRPr lang="en-US" altLang="ja-JP" sz="1050" b="1" dirty="0">
                  <a:latin typeface="+mn-ea"/>
                </a:endParaRPr>
              </a:p>
            </p:txBody>
          </p:sp>
        </p:grpSp>
      </p:grpSp>
      <p:sp>
        <p:nvSpPr>
          <p:cNvPr id="35" name="テキスト ボックス 34">
            <a:extLst>
              <a:ext uri="{FF2B5EF4-FFF2-40B4-BE49-F238E27FC236}">
                <a16:creationId xmlns:a16="http://schemas.microsoft.com/office/drawing/2014/main" id="{F8B81B95-58D4-94A5-DBD3-85E96C6666E7}"/>
              </a:ext>
            </a:extLst>
          </p:cNvPr>
          <p:cNvSpPr txBox="1"/>
          <p:nvPr/>
        </p:nvSpPr>
        <p:spPr>
          <a:xfrm>
            <a:off x="6149034" y="646176"/>
            <a:ext cx="5873904" cy="646331"/>
          </a:xfrm>
          <a:prstGeom prst="rect">
            <a:avLst/>
          </a:prstGeom>
          <a:solidFill>
            <a:schemeClr val="accent1">
              <a:lumMod val="75000"/>
            </a:schemeClr>
          </a:solidFill>
        </p:spPr>
        <p:txBody>
          <a:bodyPr wrap="square">
            <a:spAutoFit/>
          </a:bodyPr>
          <a:lstStyle/>
          <a:p>
            <a:r>
              <a:rPr lang="ja-JP" altLang="en-US" b="1" dirty="0">
                <a:solidFill>
                  <a:schemeClr val="bg1"/>
                </a:solidFill>
                <a:latin typeface="+mn-ea"/>
              </a:rPr>
              <a:t>個人の考察：「インタビューの手間が非常に大きい」　</a:t>
            </a:r>
            <a:endParaRPr lang="en-US" altLang="ja-JP" b="1" dirty="0">
              <a:solidFill>
                <a:schemeClr val="bg1"/>
              </a:solidFill>
              <a:latin typeface="+mn-ea"/>
            </a:endParaRPr>
          </a:p>
          <a:p>
            <a:r>
              <a:rPr lang="ja-JP" altLang="en-US" b="1" dirty="0">
                <a:solidFill>
                  <a:schemeClr val="bg1"/>
                </a:solidFill>
                <a:latin typeface="+mn-ea"/>
              </a:rPr>
              <a:t>　　　　　　「インタビューの評価って正しい？」　</a:t>
            </a:r>
            <a:endParaRPr lang="ja-JP" altLang="en-US" dirty="0"/>
          </a:p>
        </p:txBody>
      </p:sp>
    </p:spTree>
    <p:extLst>
      <p:ext uri="{BB962C8B-B14F-4D97-AF65-F5344CB8AC3E}">
        <p14:creationId xmlns:p14="http://schemas.microsoft.com/office/powerpoint/2010/main" val="399089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1A2D-BC5D-DCA2-B0C5-91057D0EA655}"/>
            </a:ext>
          </a:extLst>
        </p:cNvPr>
        <p:cNvGrpSpPr/>
        <p:nvPr/>
      </p:nvGrpSpPr>
      <p:grpSpPr>
        <a:xfrm>
          <a:off x="0" y="0"/>
          <a:ext cx="0" cy="0"/>
          <a:chOff x="0" y="0"/>
          <a:chExt cx="0" cy="0"/>
        </a:xfrm>
      </p:grpSpPr>
      <p:sp>
        <p:nvSpPr>
          <p:cNvPr id="21" name="テキスト プレースホルダー 20">
            <a:extLst>
              <a:ext uri="{FF2B5EF4-FFF2-40B4-BE49-F238E27FC236}">
                <a16:creationId xmlns:a16="http://schemas.microsoft.com/office/drawing/2014/main" id="{5795963D-99B9-F8DC-7417-BC61CA8D8978}"/>
              </a:ext>
            </a:extLst>
          </p:cNvPr>
          <p:cNvSpPr>
            <a:spLocks noGrp="1"/>
          </p:cNvSpPr>
          <p:nvPr>
            <p:ph type="body" sz="quarter" idx="11"/>
          </p:nvPr>
        </p:nvSpPr>
        <p:spPr/>
        <p:txBody>
          <a:bodyPr>
            <a:normAutofit fontScale="92500" lnSpcReduction="10000"/>
          </a:bodyPr>
          <a:lstStyle/>
          <a:p>
            <a:r>
              <a:rPr lang="ja-JP" altLang="en-US" b="1" dirty="0"/>
              <a:t>今後の研究の展望</a:t>
            </a:r>
          </a:p>
        </p:txBody>
      </p:sp>
      <p:grpSp>
        <p:nvGrpSpPr>
          <p:cNvPr id="2" name="グループ化 1">
            <a:extLst>
              <a:ext uri="{FF2B5EF4-FFF2-40B4-BE49-F238E27FC236}">
                <a16:creationId xmlns:a16="http://schemas.microsoft.com/office/drawing/2014/main" id="{607E474F-179A-DD1D-F591-389D393EEB6B}"/>
              </a:ext>
            </a:extLst>
          </p:cNvPr>
          <p:cNvGrpSpPr/>
          <p:nvPr/>
        </p:nvGrpSpPr>
        <p:grpSpPr>
          <a:xfrm>
            <a:off x="237179" y="1220306"/>
            <a:ext cx="11545246" cy="2957381"/>
            <a:chOff x="73944" y="3805368"/>
            <a:chExt cx="11545246" cy="2957381"/>
          </a:xfrm>
        </p:grpSpPr>
        <p:sp>
          <p:nvSpPr>
            <p:cNvPr id="155" name="矢印: 右 154">
              <a:extLst>
                <a:ext uri="{FF2B5EF4-FFF2-40B4-BE49-F238E27FC236}">
                  <a16:creationId xmlns:a16="http://schemas.microsoft.com/office/drawing/2014/main" id="{8F896832-4EF2-6D08-1B53-A5C84D084EEC}"/>
                </a:ext>
              </a:extLst>
            </p:cNvPr>
            <p:cNvSpPr/>
            <p:nvPr/>
          </p:nvSpPr>
          <p:spPr>
            <a:xfrm>
              <a:off x="2056515" y="48677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50485381-3E1E-7684-3033-C6B47534CE05}"/>
                </a:ext>
              </a:extLst>
            </p:cNvPr>
            <p:cNvSpPr txBox="1"/>
            <p:nvPr/>
          </p:nvSpPr>
          <p:spPr>
            <a:xfrm>
              <a:off x="1567295" y="5490106"/>
              <a:ext cx="1309230"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157" name="グループ化 156">
              <a:extLst>
                <a:ext uri="{FF2B5EF4-FFF2-40B4-BE49-F238E27FC236}">
                  <a16:creationId xmlns:a16="http://schemas.microsoft.com/office/drawing/2014/main" id="{09518C69-16D5-084C-FE7B-F9435399E4E0}"/>
                </a:ext>
              </a:extLst>
            </p:cNvPr>
            <p:cNvGrpSpPr/>
            <p:nvPr/>
          </p:nvGrpSpPr>
          <p:grpSpPr>
            <a:xfrm>
              <a:off x="3077695" y="4209704"/>
              <a:ext cx="1389631" cy="1580032"/>
              <a:chOff x="1162717" y="2321495"/>
              <a:chExt cx="2515774" cy="3184820"/>
            </a:xfrm>
          </p:grpSpPr>
          <p:pic>
            <p:nvPicPr>
              <p:cNvPr id="162" name="図 161" descr="アイコン&#10;&#10;AI 生成コンテンツは誤りを含む可能性があります。">
                <a:extLst>
                  <a:ext uri="{FF2B5EF4-FFF2-40B4-BE49-F238E27FC236}">
                    <a16:creationId xmlns:a16="http://schemas.microsoft.com/office/drawing/2014/main" id="{7069996A-D82F-A71B-8D0E-6111CFA2F0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163" name="テキスト ボックス 162">
                <a:extLst>
                  <a:ext uri="{FF2B5EF4-FFF2-40B4-BE49-F238E27FC236}">
                    <a16:creationId xmlns:a16="http://schemas.microsoft.com/office/drawing/2014/main" id="{BC7A3BCF-5075-D371-0D52-C308241DD467}"/>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158" name="テキスト ボックス 157">
              <a:extLst>
                <a:ext uri="{FF2B5EF4-FFF2-40B4-BE49-F238E27FC236}">
                  <a16:creationId xmlns:a16="http://schemas.microsoft.com/office/drawing/2014/main" id="{38E4DA8F-1FF6-B570-6702-7AA8F262A1AF}"/>
                </a:ext>
              </a:extLst>
            </p:cNvPr>
            <p:cNvSpPr txBox="1"/>
            <p:nvPr/>
          </p:nvSpPr>
          <p:spPr>
            <a:xfrm>
              <a:off x="4039968" y="5737173"/>
              <a:ext cx="150115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競争力評価の拡張</a:t>
              </a:r>
              <a:endParaRPr lang="en-US" altLang="ja-JP" sz="1200" b="1" dirty="0">
                <a:latin typeface="+mn-ea"/>
              </a:endParaRPr>
            </a:p>
            <a:p>
              <a:r>
                <a:rPr lang="en-US" altLang="ja-JP" sz="1200" b="1" dirty="0">
                  <a:latin typeface="+mn-ea"/>
                </a:rPr>
                <a:t>    (IPCA+</a:t>
              </a:r>
              <a:r>
                <a:rPr lang="ja-JP" altLang="en-US" sz="1200" b="1" u="sng" dirty="0">
                  <a:solidFill>
                    <a:srgbClr val="C00000"/>
                  </a:solidFill>
                  <a:latin typeface="+mn-ea"/>
                </a:rPr>
                <a:t>感情分析</a:t>
              </a:r>
              <a:r>
                <a:rPr lang="en-US" altLang="ja-JP" sz="1200" b="1" dirty="0">
                  <a:latin typeface="+mn-ea"/>
                </a:rPr>
                <a:t>)</a:t>
              </a:r>
            </a:p>
          </p:txBody>
        </p:sp>
        <p:sp>
          <p:nvSpPr>
            <p:cNvPr id="159" name="矢印: 右 158">
              <a:extLst>
                <a:ext uri="{FF2B5EF4-FFF2-40B4-BE49-F238E27FC236}">
                  <a16:creationId xmlns:a16="http://schemas.microsoft.com/office/drawing/2014/main" id="{9494E34A-F0EC-F69E-7E3E-3F63D4DF6C88}"/>
                </a:ext>
              </a:extLst>
            </p:cNvPr>
            <p:cNvSpPr/>
            <p:nvPr/>
          </p:nvSpPr>
          <p:spPr>
            <a:xfrm>
              <a:off x="4615063" y="479681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2" name="テキスト ボックス 171">
              <a:extLst>
                <a:ext uri="{FF2B5EF4-FFF2-40B4-BE49-F238E27FC236}">
                  <a16:creationId xmlns:a16="http://schemas.microsoft.com/office/drawing/2014/main" id="{89D2E2E8-AA84-5B75-F887-6E76339A2D7D}"/>
                </a:ext>
              </a:extLst>
            </p:cNvPr>
            <p:cNvSpPr txBox="1"/>
            <p:nvPr/>
          </p:nvSpPr>
          <p:spPr>
            <a:xfrm>
              <a:off x="73944" y="4867789"/>
              <a:ext cx="1511510" cy="584775"/>
            </a:xfrm>
            <a:prstGeom prst="rect">
              <a:avLst/>
            </a:prstGeom>
            <a:solidFill>
              <a:srgbClr val="002060"/>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rgbClr val="FFFFFF"/>
                  </a:solidFill>
                </a:rPr>
                <a:t>既存研究 </a:t>
              </a:r>
              <a:r>
                <a:rPr kumimoji="1" lang="en-US" altLang="ja-JP" sz="1600" b="1" dirty="0">
                  <a:solidFill>
                    <a:srgbClr val="FFFFFF"/>
                  </a:solidFill>
                </a:rPr>
                <a:t>[1]</a:t>
              </a:r>
            </a:p>
            <a:p>
              <a:r>
                <a:rPr lang="ja-JP" altLang="en-US" sz="1600" b="1" dirty="0">
                  <a:solidFill>
                    <a:srgbClr val="FFFFFF"/>
                  </a:solidFill>
                </a:rPr>
                <a:t>による競合評価</a:t>
              </a:r>
              <a:endParaRPr kumimoji="1" lang="ja-JP" altLang="en-US" sz="1600" b="1" dirty="0">
                <a:solidFill>
                  <a:srgbClr val="FFFFFF"/>
                </a:solidFill>
              </a:endParaRPr>
            </a:p>
          </p:txBody>
        </p:sp>
        <p:grpSp>
          <p:nvGrpSpPr>
            <p:cNvPr id="176" name="グループ化 175">
              <a:extLst>
                <a:ext uri="{FF2B5EF4-FFF2-40B4-BE49-F238E27FC236}">
                  <a16:creationId xmlns:a16="http://schemas.microsoft.com/office/drawing/2014/main" id="{3382819A-415C-B02A-DFBF-E1A7B3C1A8B0}"/>
                </a:ext>
              </a:extLst>
            </p:cNvPr>
            <p:cNvGrpSpPr/>
            <p:nvPr/>
          </p:nvGrpSpPr>
          <p:grpSpPr>
            <a:xfrm>
              <a:off x="5810580" y="4313302"/>
              <a:ext cx="1719444" cy="1034882"/>
              <a:chOff x="7282287" y="3915617"/>
              <a:chExt cx="1719444" cy="1034882"/>
            </a:xfrm>
          </p:grpSpPr>
          <p:sp>
            <p:nvSpPr>
              <p:cNvPr id="160" name="テキスト ボックス 159">
                <a:extLst>
                  <a:ext uri="{FF2B5EF4-FFF2-40B4-BE49-F238E27FC236}">
                    <a16:creationId xmlns:a16="http://schemas.microsoft.com/office/drawing/2014/main" id="{F223853A-08DE-CBB4-61A3-242109D1B2A4}"/>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p:txBody>
          </p:sp>
          <p:sp>
            <p:nvSpPr>
              <p:cNvPr id="173" name="テキスト ボックス 172">
                <a:extLst>
                  <a:ext uri="{FF2B5EF4-FFF2-40B4-BE49-F238E27FC236}">
                    <a16:creationId xmlns:a16="http://schemas.microsoft.com/office/drawing/2014/main" id="{71476ED4-D255-2D50-887B-D84270DF6BD6}"/>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b="1" dirty="0"/>
                  <a:t>風呂：競合より低い</a:t>
                </a:r>
                <a:endParaRPr kumimoji="1" lang="en-US" altLang="ja-JP" sz="1400" b="1" dirty="0"/>
              </a:p>
              <a:p>
                <a:r>
                  <a:rPr lang="ja-JP" altLang="en-US" sz="1400" b="1" dirty="0"/>
                  <a:t>ベッド：競合より高い</a:t>
                </a:r>
                <a:endParaRPr lang="en-US" altLang="ja-JP" sz="1400" b="1" dirty="0"/>
              </a:p>
              <a:p>
                <a:r>
                  <a:rPr kumimoji="1" lang="ja-JP" altLang="en-US" sz="1400" b="1" dirty="0"/>
                  <a:t>匂い：競合より高い</a:t>
                </a:r>
                <a:endParaRPr kumimoji="1" lang="en-US" altLang="ja-JP" sz="1400" b="1" dirty="0"/>
              </a:p>
            </p:txBody>
          </p:sp>
        </p:grpSp>
        <p:sp>
          <p:nvSpPr>
            <p:cNvPr id="175" name="テキスト ボックス 174">
              <a:extLst>
                <a:ext uri="{FF2B5EF4-FFF2-40B4-BE49-F238E27FC236}">
                  <a16:creationId xmlns:a16="http://schemas.microsoft.com/office/drawing/2014/main" id="{E7084342-FD4F-10C1-07F8-A6E36E9A8925}"/>
                </a:ext>
              </a:extLst>
            </p:cNvPr>
            <p:cNvSpPr txBox="1"/>
            <p:nvPr/>
          </p:nvSpPr>
          <p:spPr>
            <a:xfrm>
              <a:off x="3075097" y="3805368"/>
              <a:ext cx="2650280" cy="276999"/>
            </a:xfrm>
            <a:prstGeom prst="rect">
              <a:avLst/>
            </a:prstGeom>
            <a:solidFill>
              <a:srgbClr val="FFC000"/>
            </a:solidFill>
            <a:ln w="3810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改善意思決定にまでつなげる形に拡張</a:t>
              </a:r>
              <a:endParaRPr lang="en-US" altLang="ja-JP" sz="1200" b="1" dirty="0">
                <a:latin typeface="+mn-ea"/>
              </a:endParaRPr>
            </a:p>
          </p:txBody>
        </p:sp>
        <p:grpSp>
          <p:nvGrpSpPr>
            <p:cNvPr id="177" name="グループ化 176">
              <a:extLst>
                <a:ext uri="{FF2B5EF4-FFF2-40B4-BE49-F238E27FC236}">
                  <a16:creationId xmlns:a16="http://schemas.microsoft.com/office/drawing/2014/main" id="{D0CB3B3D-4F2D-7833-EC1A-ADAA4B38A0B5}"/>
                </a:ext>
              </a:extLst>
            </p:cNvPr>
            <p:cNvGrpSpPr/>
            <p:nvPr/>
          </p:nvGrpSpPr>
          <p:grpSpPr>
            <a:xfrm>
              <a:off x="5785353" y="5461850"/>
              <a:ext cx="1719444" cy="1034882"/>
              <a:chOff x="7282287" y="3915617"/>
              <a:chExt cx="1719444" cy="1034882"/>
            </a:xfrm>
          </p:grpSpPr>
          <p:sp>
            <p:nvSpPr>
              <p:cNvPr id="178" name="テキスト ボックス 177">
                <a:extLst>
                  <a:ext uri="{FF2B5EF4-FFF2-40B4-BE49-F238E27FC236}">
                    <a16:creationId xmlns:a16="http://schemas.microsoft.com/office/drawing/2014/main" id="{635E9EC6-4391-2323-D484-6D3757ED9A37}"/>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p:txBody>
          </p:sp>
          <p:sp>
            <p:nvSpPr>
              <p:cNvPr id="179" name="テキスト ボックス 178">
                <a:extLst>
                  <a:ext uri="{FF2B5EF4-FFF2-40B4-BE49-F238E27FC236}">
                    <a16:creationId xmlns:a16="http://schemas.microsoft.com/office/drawing/2014/main" id="{C422DC8A-C6B0-99A6-6A2E-876C7A0F9B44}"/>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朝食</a:t>
                </a:r>
                <a:r>
                  <a:rPr kumimoji="1" lang="ja-JP" altLang="en-US" sz="1400" b="1" dirty="0"/>
                  <a:t>：競合より低い</a:t>
                </a:r>
                <a:endParaRPr kumimoji="1" lang="en-US" altLang="ja-JP" sz="1400" b="1" dirty="0"/>
              </a:p>
              <a:p>
                <a:r>
                  <a:rPr lang="ja-JP" altLang="en-US" sz="1400" b="1" dirty="0"/>
                  <a:t>カフェ：競合より高い</a:t>
                </a:r>
                <a:endParaRPr lang="en-US" altLang="ja-JP" sz="1400" b="1" dirty="0"/>
              </a:p>
              <a:p>
                <a:r>
                  <a:rPr lang="ja-JP" altLang="en-US" sz="1400" b="1" dirty="0"/>
                  <a:t>夕食</a:t>
                </a:r>
                <a:r>
                  <a:rPr kumimoji="1" lang="ja-JP" altLang="en-US" sz="1400" b="1" dirty="0"/>
                  <a:t>：競合より高い</a:t>
                </a:r>
                <a:endParaRPr kumimoji="1" lang="en-US" altLang="ja-JP" sz="1400" b="1" dirty="0"/>
              </a:p>
            </p:txBody>
          </p:sp>
        </p:grpSp>
        <p:sp>
          <p:nvSpPr>
            <p:cNvPr id="180" name="矢印: 右 179">
              <a:extLst>
                <a:ext uri="{FF2B5EF4-FFF2-40B4-BE49-F238E27FC236}">
                  <a16:creationId xmlns:a16="http://schemas.microsoft.com/office/drawing/2014/main" id="{506AB89C-C95B-322A-69FC-9D5696766089}"/>
                </a:ext>
              </a:extLst>
            </p:cNvPr>
            <p:cNvSpPr/>
            <p:nvPr/>
          </p:nvSpPr>
          <p:spPr>
            <a:xfrm>
              <a:off x="8233240" y="487115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8" name="グループ化 187">
              <a:extLst>
                <a:ext uri="{FF2B5EF4-FFF2-40B4-BE49-F238E27FC236}">
                  <a16:creationId xmlns:a16="http://schemas.microsoft.com/office/drawing/2014/main" id="{D071E85A-7685-C68C-06B6-F5517AE922A9}"/>
                </a:ext>
              </a:extLst>
            </p:cNvPr>
            <p:cNvGrpSpPr/>
            <p:nvPr/>
          </p:nvGrpSpPr>
          <p:grpSpPr>
            <a:xfrm>
              <a:off x="9599790" y="4289161"/>
              <a:ext cx="1719444" cy="1379381"/>
              <a:chOff x="7282287" y="3786561"/>
              <a:chExt cx="1719444" cy="1379381"/>
            </a:xfrm>
          </p:grpSpPr>
          <p:sp>
            <p:nvSpPr>
              <p:cNvPr id="189" name="テキスト ボックス 188">
                <a:extLst>
                  <a:ext uri="{FF2B5EF4-FFF2-40B4-BE49-F238E27FC236}">
                    <a16:creationId xmlns:a16="http://schemas.microsoft.com/office/drawing/2014/main" id="{016B3692-F235-3FB3-7E33-1A10406F4E80}"/>
                  </a:ext>
                </a:extLst>
              </p:cNvPr>
              <p:cNvSpPr txBox="1"/>
              <p:nvPr/>
            </p:nvSpPr>
            <p:spPr>
              <a:xfrm>
                <a:off x="7358160" y="3786561"/>
                <a:ext cx="1563458" cy="461665"/>
              </a:xfrm>
              <a:prstGeom prst="rect">
                <a:avLst/>
              </a:prstGeom>
              <a:solidFill>
                <a:srgbClr val="FFC000"/>
              </a:solidFill>
              <a:ln w="28575">
                <a:solidFill>
                  <a:schemeClr val="bg1">
                    <a:lumMod val="25000"/>
                  </a:schemeClr>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200" b="1" dirty="0">
                    <a:solidFill>
                      <a:schemeClr val="bg1">
                        <a:lumMod val="25000"/>
                      </a:schemeClr>
                    </a:solidFill>
                    <a:latin typeface="+mn-ea"/>
                  </a:rPr>
                  <a:t>競合と比較した</a:t>
                </a:r>
                <a:endParaRPr lang="en-US" altLang="ja-JP" sz="1200" b="1" dirty="0">
                  <a:solidFill>
                    <a:schemeClr val="bg1">
                      <a:lumMod val="25000"/>
                    </a:schemeClr>
                  </a:solidFill>
                  <a:latin typeface="+mn-ea"/>
                </a:endParaRPr>
              </a:p>
              <a:p>
                <a:r>
                  <a:rPr lang="ja-JP" altLang="en-US" sz="1200" b="1" dirty="0">
                    <a:solidFill>
                      <a:schemeClr val="bg1">
                        <a:lumMod val="25000"/>
                      </a:schemeClr>
                    </a:solidFill>
                    <a:latin typeface="+mn-ea"/>
                  </a:rPr>
                  <a:t>明確な改善・訴求点</a:t>
                </a:r>
                <a:endParaRPr lang="en-US" altLang="ja-JP" sz="1200" b="1" dirty="0">
                  <a:solidFill>
                    <a:schemeClr val="bg1">
                      <a:lumMod val="25000"/>
                    </a:schemeClr>
                  </a:solidFill>
                  <a:latin typeface="+mn-ea"/>
                </a:endParaRPr>
              </a:p>
            </p:txBody>
          </p:sp>
          <p:sp>
            <p:nvSpPr>
              <p:cNvPr id="190" name="テキスト ボックス 189">
                <a:extLst>
                  <a:ext uri="{FF2B5EF4-FFF2-40B4-BE49-F238E27FC236}">
                    <a16:creationId xmlns:a16="http://schemas.microsoft.com/office/drawing/2014/main" id="{B638C45C-807D-59E8-80CB-3E6D981B4EE8}"/>
                  </a:ext>
                </a:extLst>
              </p:cNvPr>
              <p:cNvSpPr txBox="1"/>
              <p:nvPr/>
            </p:nvSpPr>
            <p:spPr>
              <a:xfrm>
                <a:off x="7282287" y="4211835"/>
                <a:ext cx="1719444" cy="954107"/>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400" b="1" dirty="0"/>
                  <a:t>~~~~~~~~~~~~~~~~~~~~~~~~~~~~~~~~~~~~~~~~~~~~~~~~</a:t>
                </a:r>
              </a:p>
            </p:txBody>
          </p:sp>
        </p:grpSp>
        <p:sp>
          <p:nvSpPr>
            <p:cNvPr id="191" name="正方形/長方形 190">
              <a:extLst>
                <a:ext uri="{FF2B5EF4-FFF2-40B4-BE49-F238E27FC236}">
                  <a16:creationId xmlns:a16="http://schemas.microsoft.com/office/drawing/2014/main" id="{CBED234C-1E19-81E5-25DD-143486ADC518}"/>
                </a:ext>
              </a:extLst>
            </p:cNvPr>
            <p:cNvSpPr/>
            <p:nvPr/>
          </p:nvSpPr>
          <p:spPr>
            <a:xfrm>
              <a:off x="3075097" y="4085754"/>
              <a:ext cx="8544093" cy="2676995"/>
            </a:xfrm>
            <a:prstGeom prst="rect">
              <a:avLst/>
            </a:prstGeom>
            <a:noFill/>
            <a:ln w="38100" cap="flat" cmpd="sng" algn="ctr">
              <a:solidFill>
                <a:schemeClr val="accent4">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198" name="グループ化 197">
              <a:extLst>
                <a:ext uri="{FF2B5EF4-FFF2-40B4-BE49-F238E27FC236}">
                  <a16:creationId xmlns:a16="http://schemas.microsoft.com/office/drawing/2014/main" id="{6E7930F2-A19C-EE07-0863-527259F0DDD9}"/>
                </a:ext>
              </a:extLst>
            </p:cNvPr>
            <p:cNvGrpSpPr/>
            <p:nvPr/>
          </p:nvGrpSpPr>
          <p:grpSpPr>
            <a:xfrm>
              <a:off x="7986574" y="4192183"/>
              <a:ext cx="910000" cy="705901"/>
              <a:chOff x="8099250" y="4269364"/>
              <a:chExt cx="910000" cy="705901"/>
            </a:xfrm>
          </p:grpSpPr>
          <p:pic>
            <p:nvPicPr>
              <p:cNvPr id="186" name="グラフィックス 185" descr="頭の中の脳 単色塗りつぶし">
                <a:extLst>
                  <a:ext uri="{FF2B5EF4-FFF2-40B4-BE49-F238E27FC236}">
                    <a16:creationId xmlns:a16="http://schemas.microsoft.com/office/drawing/2014/main" id="{877D156C-2E9E-19AC-C5DB-1C4845BF90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53920" y="4269364"/>
                <a:ext cx="465142" cy="465142"/>
              </a:xfrm>
              <a:prstGeom prst="rect">
                <a:avLst/>
              </a:prstGeom>
            </p:spPr>
          </p:pic>
          <p:sp>
            <p:nvSpPr>
              <p:cNvPr id="197" name="テキスト ボックス 196">
                <a:extLst>
                  <a:ext uri="{FF2B5EF4-FFF2-40B4-BE49-F238E27FC236}">
                    <a16:creationId xmlns:a16="http://schemas.microsoft.com/office/drawing/2014/main" id="{E637D108-C9D8-39F5-E001-D3E2B2591644}"/>
                  </a:ext>
                </a:extLst>
              </p:cNvPr>
              <p:cNvSpPr txBox="1"/>
              <p:nvPr/>
            </p:nvSpPr>
            <p:spPr>
              <a:xfrm>
                <a:off x="8099250" y="4698266"/>
                <a:ext cx="910000" cy="276999"/>
              </a:xfrm>
              <a:prstGeom prst="rect">
                <a:avLst/>
              </a:prstGeom>
              <a:noFill/>
              <a:ln w="19050">
                <a:noFill/>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a:t>
                </a:r>
                <a:r>
                  <a:rPr lang="en-US" altLang="ja-JP" sz="1200" b="1" dirty="0">
                    <a:latin typeface="+mn-ea"/>
                  </a:rPr>
                  <a:t>ML</a:t>
                </a:r>
              </a:p>
            </p:txBody>
          </p:sp>
        </p:grpSp>
        <p:sp>
          <p:nvSpPr>
            <p:cNvPr id="200" name="テキスト ボックス 199">
              <a:extLst>
                <a:ext uri="{FF2B5EF4-FFF2-40B4-BE49-F238E27FC236}">
                  <a16:creationId xmlns:a16="http://schemas.microsoft.com/office/drawing/2014/main" id="{0DA24A46-08B5-D31E-603B-B64539C235A5}"/>
                </a:ext>
              </a:extLst>
            </p:cNvPr>
            <p:cNvSpPr txBox="1"/>
            <p:nvPr/>
          </p:nvSpPr>
          <p:spPr>
            <a:xfrm>
              <a:off x="4034538" y="5471184"/>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nvGrpSpPr>
            <p:cNvPr id="203" name="グループ化 202">
              <a:extLst>
                <a:ext uri="{FF2B5EF4-FFF2-40B4-BE49-F238E27FC236}">
                  <a16:creationId xmlns:a16="http://schemas.microsoft.com/office/drawing/2014/main" id="{DC81E8C0-DEE9-578A-2676-45222E9BB8E1}"/>
                </a:ext>
              </a:extLst>
            </p:cNvPr>
            <p:cNvGrpSpPr/>
            <p:nvPr/>
          </p:nvGrpSpPr>
          <p:grpSpPr>
            <a:xfrm>
              <a:off x="7716566" y="5469628"/>
              <a:ext cx="1788273" cy="746310"/>
              <a:chOff x="7570550" y="5120077"/>
              <a:chExt cx="1788273" cy="746310"/>
            </a:xfrm>
          </p:grpSpPr>
          <p:sp>
            <p:nvSpPr>
              <p:cNvPr id="181" name="テキスト ボックス 180">
                <a:extLst>
                  <a:ext uri="{FF2B5EF4-FFF2-40B4-BE49-F238E27FC236}">
                    <a16:creationId xmlns:a16="http://schemas.microsoft.com/office/drawing/2014/main" id="{AEF98E2E-8C17-FA62-86BD-3A374A0149C6}"/>
                  </a:ext>
                </a:extLst>
              </p:cNvPr>
              <p:cNvSpPr txBox="1"/>
              <p:nvPr/>
            </p:nvSpPr>
            <p:spPr>
              <a:xfrm>
                <a:off x="7570550" y="5404722"/>
                <a:ext cx="1788273"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他のあらゆる観点を含めて　 改善・訴求点を 解析</a:t>
                </a:r>
                <a:endParaRPr lang="en-US" altLang="ja-JP" sz="1200" b="1" dirty="0">
                  <a:latin typeface="+mn-ea"/>
                </a:endParaRPr>
              </a:p>
            </p:txBody>
          </p:sp>
          <p:sp>
            <p:nvSpPr>
              <p:cNvPr id="201" name="テキスト ボックス 200">
                <a:extLst>
                  <a:ext uri="{FF2B5EF4-FFF2-40B4-BE49-F238E27FC236}">
                    <a16:creationId xmlns:a16="http://schemas.microsoft.com/office/drawing/2014/main" id="{FA3597C8-DB00-6C06-0614-D01DC5414A74}"/>
                  </a:ext>
                </a:extLst>
              </p:cNvPr>
              <p:cNvSpPr txBox="1"/>
              <p:nvPr/>
            </p:nvSpPr>
            <p:spPr>
              <a:xfrm>
                <a:off x="7574755" y="5120077"/>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grpSp>
      <p:sp>
        <p:nvSpPr>
          <p:cNvPr id="9" name="テキスト ボックス 8">
            <a:extLst>
              <a:ext uri="{FF2B5EF4-FFF2-40B4-BE49-F238E27FC236}">
                <a16:creationId xmlns:a16="http://schemas.microsoft.com/office/drawing/2014/main" id="{B5CDF5EB-6CAB-A519-1EB7-F780A8379B99}"/>
              </a:ext>
            </a:extLst>
          </p:cNvPr>
          <p:cNvSpPr txBox="1"/>
          <p:nvPr/>
        </p:nvSpPr>
        <p:spPr>
          <a:xfrm>
            <a:off x="297154" y="4357489"/>
            <a:ext cx="1309231" cy="369332"/>
          </a:xfrm>
          <a:prstGeom prst="rect">
            <a:avLst/>
          </a:prstGeom>
          <a:solidFill>
            <a:schemeClr val="accent4">
              <a:lumMod val="50000"/>
            </a:schemeClr>
          </a:solidFill>
        </p:spPr>
        <p:txBody>
          <a:bodyPr wrap="square" rtlCol="0">
            <a:spAutoFit/>
          </a:bodyPr>
          <a:lstStyle/>
          <a:p>
            <a:r>
              <a:rPr lang="ja-JP" altLang="en-US" b="1" dirty="0">
                <a:solidFill>
                  <a:schemeClr val="bg1"/>
                </a:solidFill>
              </a:rPr>
              <a:t>今後の流れ</a:t>
            </a:r>
            <a:endParaRPr kumimoji="1" lang="ja-JP" altLang="en-US" b="1" dirty="0">
              <a:solidFill>
                <a:schemeClr val="bg1"/>
              </a:solidFill>
            </a:endParaRPr>
          </a:p>
        </p:txBody>
      </p:sp>
      <p:sp>
        <p:nvSpPr>
          <p:cNvPr id="10" name="テキスト ボックス 9">
            <a:extLst>
              <a:ext uri="{FF2B5EF4-FFF2-40B4-BE49-F238E27FC236}">
                <a16:creationId xmlns:a16="http://schemas.microsoft.com/office/drawing/2014/main" id="{82920E43-7457-7CAF-8829-9782D588D4A1}"/>
              </a:ext>
            </a:extLst>
          </p:cNvPr>
          <p:cNvSpPr txBox="1"/>
          <p:nvPr/>
        </p:nvSpPr>
        <p:spPr>
          <a:xfrm>
            <a:off x="306882" y="4717093"/>
            <a:ext cx="10510275" cy="2062103"/>
          </a:xfrm>
          <a:prstGeom prst="rect">
            <a:avLst/>
          </a:prstGeom>
          <a:ln w="28575">
            <a:solidFill>
              <a:schemeClr val="accent4">
                <a:lumMod val="75000"/>
              </a:schemeClr>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ja-JP" sz="1600" b="1" dirty="0"/>
              <a:t>STEP1</a:t>
            </a:r>
            <a:r>
              <a:rPr lang="ja-JP" altLang="en-US" sz="1600" b="1" dirty="0"/>
              <a:t> 競争力評価に感情分析取り入れることでの最終出力結果の有意性を示す</a:t>
            </a:r>
            <a:r>
              <a:rPr lang="en-US" altLang="ja-JP" sz="1600" b="1" dirty="0"/>
              <a:t>.</a:t>
            </a:r>
            <a:r>
              <a:rPr lang="ja-JP" altLang="en-US" sz="1600" b="1" dirty="0"/>
              <a:t>そのため、以下のシナリオで出力検証を行う</a:t>
            </a:r>
            <a:r>
              <a:rPr lang="en-US" altLang="ja-JP" sz="1600" b="1" dirty="0"/>
              <a:t>.</a:t>
            </a:r>
          </a:p>
          <a:p>
            <a:endParaRPr lang="en-US" altLang="ja-JP" sz="1600" dirty="0"/>
          </a:p>
          <a:p>
            <a:r>
              <a:rPr lang="ja-JP" altLang="en-US" sz="1600" b="1" dirty="0"/>
              <a:t>・ シナリオ</a:t>
            </a:r>
            <a:r>
              <a:rPr lang="en-US" altLang="ja-JP" sz="1600" b="1" dirty="0"/>
              <a:t>1: </a:t>
            </a:r>
            <a:r>
              <a:rPr lang="ja-JP" altLang="en-US" sz="1600" b="1" dirty="0"/>
              <a:t>口コミ文 → </a:t>
            </a:r>
            <a:r>
              <a:rPr lang="en-US" altLang="ja-JP" sz="1600" b="1" dirty="0"/>
              <a:t>LLM</a:t>
            </a:r>
            <a:r>
              <a:rPr lang="ja-JP" altLang="en-US" sz="1600" b="1" dirty="0"/>
              <a:t> 　</a:t>
            </a:r>
            <a:endParaRPr lang="en-US" altLang="ja-JP" sz="1600" b="1" dirty="0"/>
          </a:p>
          <a:p>
            <a:r>
              <a:rPr lang="ja-JP" altLang="en-US" sz="1600" u="sng" dirty="0">
                <a:solidFill>
                  <a:srgbClr val="882312"/>
                </a:solidFill>
              </a:rPr>
              <a:t>仮説：そのまま入れてもよい結果になる</a:t>
            </a:r>
            <a:endParaRPr lang="en-US" altLang="ja-JP" sz="1600" u="sng" dirty="0">
              <a:solidFill>
                <a:srgbClr val="882312"/>
              </a:solidFill>
            </a:endParaRPr>
          </a:p>
          <a:p>
            <a:r>
              <a:rPr lang="ja-JP" altLang="en-US" sz="1600" b="1" dirty="0"/>
              <a:t>・ シナリオ</a:t>
            </a:r>
            <a:r>
              <a:rPr lang="en-US" altLang="ja-JP" sz="1600" b="1" dirty="0"/>
              <a:t>2: </a:t>
            </a:r>
            <a:r>
              <a:rPr lang="ja-JP" altLang="en-US" sz="1600" b="1" dirty="0"/>
              <a:t>口コミ文 → </a:t>
            </a:r>
            <a:r>
              <a:rPr lang="en-US" altLang="ja-JP" sz="1600" b="1" dirty="0"/>
              <a:t>IPCA + </a:t>
            </a:r>
            <a:r>
              <a:rPr lang="ja-JP" altLang="en-US" sz="1600" b="1" dirty="0"/>
              <a:t>感情分析 → </a:t>
            </a:r>
            <a:r>
              <a:rPr lang="en-US" altLang="ja-JP" sz="1600" b="1" dirty="0"/>
              <a:t>LLM</a:t>
            </a:r>
            <a:r>
              <a:rPr lang="ja-JP" altLang="en-US" sz="1600" b="1" dirty="0"/>
              <a:t>　</a:t>
            </a:r>
            <a:endParaRPr lang="en-US" altLang="ja-JP" sz="1600" b="1" dirty="0"/>
          </a:p>
          <a:p>
            <a:r>
              <a:rPr lang="ja-JP" altLang="en-US" sz="1600" u="sng" dirty="0">
                <a:solidFill>
                  <a:srgbClr val="882312"/>
                </a:solidFill>
              </a:rPr>
              <a:t>仮説：明確な評価指標を挟むことで、さらに明確な出力になる</a:t>
            </a:r>
            <a:endParaRPr lang="en-US" altLang="ja-JP" sz="1600" u="sng" dirty="0">
              <a:solidFill>
                <a:srgbClr val="882312"/>
              </a:solidFill>
            </a:endParaRPr>
          </a:p>
          <a:p>
            <a:r>
              <a:rPr lang="ja-JP" altLang="en-US" sz="1600" b="1" dirty="0"/>
              <a:t>・ シナリオ</a:t>
            </a:r>
            <a:r>
              <a:rPr lang="en-US" altLang="ja-JP" sz="1600" b="1" dirty="0"/>
              <a:t>3: </a:t>
            </a:r>
            <a:r>
              <a:rPr lang="ja-JP" altLang="en-US" sz="1600" b="1" dirty="0"/>
              <a:t>口コミ文＋</a:t>
            </a:r>
            <a:r>
              <a:rPr lang="en-US" altLang="ja-JP" sz="1600" b="1" dirty="0"/>
              <a:t>SNS</a:t>
            </a:r>
            <a:r>
              <a:rPr lang="ja-JP" altLang="en-US" sz="1600" b="1" dirty="0"/>
              <a:t>情報 →  </a:t>
            </a:r>
            <a:r>
              <a:rPr lang="en-US" altLang="ja-JP" sz="1600" b="1" dirty="0"/>
              <a:t>IPCA + </a:t>
            </a:r>
            <a:r>
              <a:rPr lang="ja-JP" altLang="en-US" sz="1600" b="1" dirty="0"/>
              <a:t>感情分析 → </a:t>
            </a:r>
            <a:r>
              <a:rPr lang="en-US" altLang="ja-JP" sz="1600" b="1" dirty="0"/>
              <a:t>LLM</a:t>
            </a:r>
            <a:r>
              <a:rPr lang="ja-JP" altLang="en-US" sz="1600" b="1" dirty="0"/>
              <a:t>　</a:t>
            </a:r>
            <a:endParaRPr lang="en-US" altLang="ja-JP" sz="1600" b="1" dirty="0"/>
          </a:p>
          <a:p>
            <a:r>
              <a:rPr lang="ja-JP" altLang="en-US" sz="1600" u="sng" dirty="0">
                <a:solidFill>
                  <a:srgbClr val="882312"/>
                </a:solidFill>
              </a:rPr>
              <a:t>仮説：</a:t>
            </a:r>
            <a:r>
              <a:rPr lang="en-US" altLang="ja-JP" sz="1600" u="sng" dirty="0">
                <a:solidFill>
                  <a:srgbClr val="882312"/>
                </a:solidFill>
              </a:rPr>
              <a:t>SNS</a:t>
            </a:r>
            <a:r>
              <a:rPr lang="ja-JP" altLang="en-US" sz="1600" u="sng" dirty="0">
                <a:solidFill>
                  <a:srgbClr val="882312"/>
                </a:solidFill>
              </a:rPr>
              <a:t>情報等の情報を取り入れることで、さらに明確な出力になる</a:t>
            </a:r>
            <a:endParaRPr lang="en-US" altLang="ja-JP" sz="1600" u="sng" dirty="0">
              <a:solidFill>
                <a:srgbClr val="882312"/>
              </a:solidFill>
            </a:endParaRPr>
          </a:p>
        </p:txBody>
      </p:sp>
      <p:sp>
        <p:nvSpPr>
          <p:cNvPr id="16" name="テキスト ボックス 15">
            <a:extLst>
              <a:ext uri="{FF2B5EF4-FFF2-40B4-BE49-F238E27FC236}">
                <a16:creationId xmlns:a16="http://schemas.microsoft.com/office/drawing/2014/main" id="{51D4E693-9D7F-5CDD-A16C-A2AB4A03D8FE}"/>
              </a:ext>
            </a:extLst>
          </p:cNvPr>
          <p:cNvSpPr txBox="1"/>
          <p:nvPr/>
        </p:nvSpPr>
        <p:spPr>
          <a:xfrm>
            <a:off x="152748" y="633524"/>
            <a:ext cx="11786209" cy="369332"/>
          </a:xfrm>
          <a:prstGeom prst="rect">
            <a:avLst/>
          </a:prstGeom>
          <a:noFill/>
        </p:spPr>
        <p:txBody>
          <a:bodyPr wrap="square">
            <a:spAutoFit/>
          </a:bodyPr>
          <a:lstStyle/>
          <a:p>
            <a:r>
              <a:rPr lang="ja-JP" altLang="en-US" b="1" dirty="0"/>
              <a:t>口コミ感情を活用することで、</a:t>
            </a:r>
            <a:r>
              <a:rPr lang="ja-JP" altLang="en-US" b="1" u="sng" dirty="0"/>
              <a:t>より低コスト</a:t>
            </a:r>
            <a:r>
              <a:rPr lang="en-US" altLang="ja-JP" b="1" u="sng" dirty="0"/>
              <a:t>(</a:t>
            </a:r>
            <a:r>
              <a:rPr lang="ja-JP" altLang="en-US" b="1" u="sng" dirty="0"/>
              <a:t>インタビュー不要</a:t>
            </a:r>
            <a:r>
              <a:rPr lang="en-US" altLang="ja-JP" b="1" u="sng" dirty="0"/>
              <a:t>)</a:t>
            </a:r>
            <a:r>
              <a:rPr lang="ja-JP" altLang="en-US" b="1" u="sng" dirty="0"/>
              <a:t>、よりリアルな顧客の評価</a:t>
            </a:r>
            <a:r>
              <a:rPr lang="ja-JP" altLang="en-US" b="1" dirty="0"/>
              <a:t>で改善・訴求点を図ることを目的とする。</a:t>
            </a:r>
            <a:endParaRPr lang="en-US" altLang="ja-JP" sz="1800" b="1" dirty="0"/>
          </a:p>
        </p:txBody>
      </p:sp>
    </p:spTree>
    <p:extLst>
      <p:ext uri="{BB962C8B-B14F-4D97-AF65-F5344CB8AC3E}">
        <p14:creationId xmlns:p14="http://schemas.microsoft.com/office/powerpoint/2010/main" val="4172929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895EB-072A-A7B6-6C97-8A76234D9FEE}"/>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45CF7AF1-012D-8B59-BB9D-32980A27F8D0}"/>
              </a:ext>
            </a:extLst>
          </p:cNvPr>
          <p:cNvSpPr/>
          <p:nvPr/>
        </p:nvSpPr>
        <p:spPr>
          <a:xfrm>
            <a:off x="97849" y="1428288"/>
            <a:ext cx="11964449" cy="4842945"/>
          </a:xfrm>
          <a:prstGeom prst="rect">
            <a:avLst/>
          </a:prstGeom>
          <a:noFill/>
          <a:ln w="12700">
            <a:solidFill>
              <a:srgbClr val="1F494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308723EE-8E36-0D5D-F725-DA079BE72F4A}"/>
              </a:ext>
            </a:extLst>
          </p:cNvPr>
          <p:cNvSpPr>
            <a:spLocks noGrp="1"/>
          </p:cNvSpPr>
          <p:nvPr>
            <p:ph idx="1"/>
          </p:nvPr>
        </p:nvSpPr>
        <p:spPr>
          <a:xfrm>
            <a:off x="260834" y="606223"/>
            <a:ext cx="11349318" cy="618573"/>
          </a:xfrm>
        </p:spPr>
        <p:txBody>
          <a:bodyPr>
            <a:normAutofit lnSpcReduction="10000"/>
          </a:bodyPr>
          <a:lstStyle/>
          <a:p>
            <a:r>
              <a:rPr lang="ja-JP" altLang="en-US" sz="2400" dirty="0"/>
              <a:t>口コミからホテルの評価を測定し、価格設定に活用するモデルを開発している。</a:t>
            </a:r>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F3701A34-6FC2-0A0F-088C-CCF0FE0BA297}"/>
              </a:ext>
            </a:extLst>
          </p:cNvPr>
          <p:cNvSpPr>
            <a:spLocks noGrp="1"/>
          </p:cNvSpPr>
          <p:nvPr>
            <p:ph type="body" sz="quarter" idx="11"/>
          </p:nvPr>
        </p:nvSpPr>
        <p:spPr/>
        <p:txBody>
          <a:bodyPr>
            <a:normAutofit fontScale="92500" lnSpcReduction="10000"/>
          </a:bodyPr>
          <a:lstStyle/>
          <a:p>
            <a:r>
              <a:rPr lang="ja-JP" altLang="en-US" b="1" dirty="0"/>
              <a:t>価格最適化モデルの全体構成</a:t>
            </a:r>
            <a:endParaRPr kumimoji="1" lang="ja-JP" altLang="en-US" b="1" dirty="0"/>
          </a:p>
        </p:txBody>
      </p:sp>
      <p:sp>
        <p:nvSpPr>
          <p:cNvPr id="14" name="矢印: 右 13">
            <a:extLst>
              <a:ext uri="{FF2B5EF4-FFF2-40B4-BE49-F238E27FC236}">
                <a16:creationId xmlns:a16="http://schemas.microsoft.com/office/drawing/2014/main" id="{7F5D851C-29E4-00E9-F0E1-D294B242853D}"/>
              </a:ext>
            </a:extLst>
          </p:cNvPr>
          <p:cNvSpPr/>
          <p:nvPr/>
        </p:nvSpPr>
        <p:spPr>
          <a:xfrm>
            <a:off x="2445752" y="2485732"/>
            <a:ext cx="1817336" cy="338554"/>
          </a:xfrm>
          <a:prstGeom prst="rightArrow">
            <a:avLst/>
          </a:prstGeom>
          <a:solidFill>
            <a:schemeClr val="accent4">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44F4B85-5915-C4FA-34BA-95EB1A3620CF}"/>
              </a:ext>
            </a:extLst>
          </p:cNvPr>
          <p:cNvSpPr txBox="1"/>
          <p:nvPr/>
        </p:nvSpPr>
        <p:spPr>
          <a:xfrm>
            <a:off x="2712855" y="3294344"/>
            <a:ext cx="1817336" cy="523220"/>
          </a:xfrm>
          <a:prstGeom prst="rect">
            <a:avLst/>
          </a:prstGeom>
          <a:noFill/>
        </p:spPr>
        <p:txBody>
          <a:bodyPr wrap="square" rtlCol="0">
            <a:spAutoFit/>
          </a:bodyPr>
          <a:lstStyle/>
          <a:p>
            <a:r>
              <a:rPr kumimoji="1" lang="ja-JP" altLang="en-US" sz="1400" b="1" dirty="0">
                <a:solidFill>
                  <a:srgbClr val="1F4944"/>
                </a:solidFill>
              </a:rPr>
              <a:t>感情分析モデル </a:t>
            </a:r>
            <a:endParaRPr lang="en-US" altLang="ja-JP" sz="1400" b="1" dirty="0">
              <a:solidFill>
                <a:srgbClr val="1F4944"/>
              </a:solidFill>
            </a:endParaRPr>
          </a:p>
          <a:p>
            <a:r>
              <a:rPr kumimoji="1" lang="ja-JP" altLang="en-US" sz="1400" b="1" dirty="0">
                <a:solidFill>
                  <a:srgbClr val="1F4944"/>
                </a:solidFill>
              </a:rPr>
              <a:t>  </a:t>
            </a:r>
            <a:r>
              <a:rPr kumimoji="1" lang="en-US" altLang="ja-JP" sz="1400" dirty="0">
                <a:solidFill>
                  <a:srgbClr val="1F4944"/>
                </a:solidFill>
              </a:rPr>
              <a:t>LLM</a:t>
            </a:r>
            <a:r>
              <a:rPr kumimoji="1" lang="ja-JP" altLang="en-US" sz="1400" dirty="0">
                <a:solidFill>
                  <a:srgbClr val="1F4944"/>
                </a:solidFill>
              </a:rPr>
              <a:t>・</a:t>
            </a:r>
            <a:r>
              <a:rPr kumimoji="1" lang="en-US" altLang="ja-JP" sz="1400" dirty="0">
                <a:solidFill>
                  <a:srgbClr val="1F4944"/>
                </a:solidFill>
              </a:rPr>
              <a:t>BERT</a:t>
            </a:r>
            <a:endParaRPr kumimoji="1" lang="ja-JP" altLang="en-US" sz="1400" dirty="0">
              <a:solidFill>
                <a:srgbClr val="1F4944"/>
              </a:solidFill>
            </a:endParaRPr>
          </a:p>
        </p:txBody>
      </p:sp>
      <p:grpSp>
        <p:nvGrpSpPr>
          <p:cNvPr id="94" name="グループ化 93">
            <a:extLst>
              <a:ext uri="{FF2B5EF4-FFF2-40B4-BE49-F238E27FC236}">
                <a16:creationId xmlns:a16="http://schemas.microsoft.com/office/drawing/2014/main" id="{AF23975D-0404-A86C-1939-04400465EF6C}"/>
              </a:ext>
            </a:extLst>
          </p:cNvPr>
          <p:cNvGrpSpPr/>
          <p:nvPr/>
        </p:nvGrpSpPr>
        <p:grpSpPr>
          <a:xfrm>
            <a:off x="198905" y="1762540"/>
            <a:ext cx="2258055" cy="1192890"/>
            <a:chOff x="198905" y="1762540"/>
            <a:chExt cx="2258055" cy="1192890"/>
          </a:xfrm>
        </p:grpSpPr>
        <p:sp>
          <p:nvSpPr>
            <p:cNvPr id="8" name="テキスト ボックス 7">
              <a:extLst>
                <a:ext uri="{FF2B5EF4-FFF2-40B4-BE49-F238E27FC236}">
                  <a16:creationId xmlns:a16="http://schemas.microsoft.com/office/drawing/2014/main" id="{82BAA332-DCC7-1F9C-0C34-4F373A3F53B2}"/>
                </a:ext>
              </a:extLst>
            </p:cNvPr>
            <p:cNvSpPr txBox="1"/>
            <p:nvPr/>
          </p:nvSpPr>
          <p:spPr>
            <a:xfrm>
              <a:off x="452275" y="2616876"/>
              <a:ext cx="1725594" cy="338554"/>
            </a:xfrm>
            <a:prstGeom prst="rect">
              <a:avLst/>
            </a:prstGeom>
            <a:noFill/>
          </p:spPr>
          <p:txBody>
            <a:bodyPr wrap="square" rtlCol="0">
              <a:spAutoFit/>
            </a:bodyPr>
            <a:lstStyle/>
            <a:p>
              <a:r>
                <a:rPr lang="ja-JP" altLang="en-US" sz="1600" b="1" dirty="0"/>
                <a:t>予約サイト口コミ</a:t>
              </a:r>
              <a:endParaRPr lang="en-US" altLang="ja-JP" sz="1600" b="1" dirty="0"/>
            </a:p>
          </p:txBody>
        </p:sp>
        <p:grpSp>
          <p:nvGrpSpPr>
            <p:cNvPr id="78" name="グループ化 77">
              <a:extLst>
                <a:ext uri="{FF2B5EF4-FFF2-40B4-BE49-F238E27FC236}">
                  <a16:creationId xmlns:a16="http://schemas.microsoft.com/office/drawing/2014/main" id="{FB78C308-3147-4591-5E4A-D9BD21B4F19C}"/>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3FA8B006-E800-453F-9316-7BF8137C6CFB}"/>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6067C5E6-09FA-7828-1038-77BE3D1B961A}"/>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AE276C42-4BF2-BE1D-7981-705DE8B643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564CF29B-CC5D-14C6-7436-9576958D3CA6}"/>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AC5AF534-AF9D-D1CF-3A04-8BE23CC50437}"/>
              </a:ext>
            </a:extLst>
          </p:cNvPr>
          <p:cNvGraphicFramePr>
            <a:graphicFrameLocks noGrp="1"/>
          </p:cNvGraphicFramePr>
          <p:nvPr/>
        </p:nvGraphicFramePr>
        <p:xfrm>
          <a:off x="4645896" y="2206871"/>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1" dirty="0"/>
                        <a:t>清掃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600" b="1" dirty="0"/>
                        <a:t>食事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8567066"/>
                  </a:ext>
                </a:extLst>
              </a:tr>
              <a:tr h="323166">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101AE377-C530-4557-58BF-A698A97CD89D}"/>
              </a:ext>
            </a:extLst>
          </p:cNvPr>
          <p:cNvSpPr txBox="1"/>
          <p:nvPr/>
        </p:nvSpPr>
        <p:spPr>
          <a:xfrm>
            <a:off x="2520637" y="2075659"/>
            <a:ext cx="1698851"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観点別に定量化</a:t>
            </a:r>
            <a:endParaRPr kumimoji="1" lang="ja-JP" altLang="en-US" sz="1600" b="1" dirty="0"/>
          </a:p>
        </p:txBody>
      </p:sp>
      <p:sp>
        <p:nvSpPr>
          <p:cNvPr id="37" name="テキスト ボックス 36">
            <a:extLst>
              <a:ext uri="{FF2B5EF4-FFF2-40B4-BE49-F238E27FC236}">
                <a16:creationId xmlns:a16="http://schemas.microsoft.com/office/drawing/2014/main" id="{8EFF0E59-E0F0-06A4-5316-1AE11D12ED6F}"/>
              </a:ext>
            </a:extLst>
          </p:cNvPr>
          <p:cNvSpPr txBox="1"/>
          <p:nvPr/>
        </p:nvSpPr>
        <p:spPr>
          <a:xfrm>
            <a:off x="3849317" y="4198123"/>
            <a:ext cx="1967980"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将来の稼働率を予測</a:t>
            </a:r>
            <a:endParaRPr kumimoji="1" lang="ja-JP" altLang="en-US" sz="1600" b="1" dirty="0"/>
          </a:p>
        </p:txBody>
      </p:sp>
      <p:grpSp>
        <p:nvGrpSpPr>
          <p:cNvPr id="55" name="グループ化 54">
            <a:extLst>
              <a:ext uri="{FF2B5EF4-FFF2-40B4-BE49-F238E27FC236}">
                <a16:creationId xmlns:a16="http://schemas.microsoft.com/office/drawing/2014/main" id="{F72A2ADA-05E2-72F6-7BBC-7D0A939DDA7B}"/>
              </a:ext>
            </a:extLst>
          </p:cNvPr>
          <p:cNvGrpSpPr/>
          <p:nvPr/>
        </p:nvGrpSpPr>
        <p:grpSpPr>
          <a:xfrm>
            <a:off x="9966603" y="2761661"/>
            <a:ext cx="1941162" cy="1685556"/>
            <a:chOff x="9062645" y="2023293"/>
            <a:chExt cx="1941162" cy="1685556"/>
          </a:xfrm>
        </p:grpSpPr>
        <p:pic>
          <p:nvPicPr>
            <p:cNvPr id="56" name="図 55" descr="アイコン&#10;&#10;AI 生成コンテンツは誤りを含む可能性があります。">
              <a:extLst>
                <a:ext uri="{FF2B5EF4-FFF2-40B4-BE49-F238E27FC236}">
                  <a16:creationId xmlns:a16="http://schemas.microsoft.com/office/drawing/2014/main" id="{0A68DAE2-47ED-2ED7-BC87-4A1A4CE9CAB8}"/>
                </a:ext>
              </a:extLst>
            </p:cNvPr>
            <p:cNvPicPr>
              <a:picLocks noChangeAspect="1"/>
            </p:cNvPicPr>
            <p:nvPr/>
          </p:nvPicPr>
          <p:blipFill>
            <a:blip r:embed="rId4" cstate="print">
              <a:extLst>
                <a:ext uri="{28A0092B-C50C-407E-A947-70E740481C1C}">
                  <a14:useLocalDpi xmlns:a14="http://schemas.microsoft.com/office/drawing/2010/main" val="0"/>
                </a:ext>
              </a:extLst>
            </a:blip>
            <a:srcRect l="25864" t="51762" r="6336" b="-2321"/>
            <a:stretch>
              <a:fillRect/>
            </a:stretch>
          </p:blipFill>
          <p:spPr>
            <a:xfrm>
              <a:off x="9175266" y="2630778"/>
              <a:ext cx="1062042" cy="773173"/>
            </a:xfrm>
            <a:prstGeom prst="rect">
              <a:avLst/>
            </a:prstGeom>
          </p:spPr>
        </p:pic>
        <p:sp>
          <p:nvSpPr>
            <p:cNvPr id="57" name="吹き出し: 四角形 56">
              <a:extLst>
                <a:ext uri="{FF2B5EF4-FFF2-40B4-BE49-F238E27FC236}">
                  <a16:creationId xmlns:a16="http://schemas.microsoft.com/office/drawing/2014/main" id="{AD71FB02-4F38-7AE3-A595-AC0F0DEAAC95}"/>
                </a:ext>
              </a:extLst>
            </p:cNvPr>
            <p:cNvSpPr/>
            <p:nvPr/>
          </p:nvSpPr>
          <p:spPr>
            <a:xfrm>
              <a:off x="9561649" y="2023293"/>
              <a:ext cx="1407180" cy="576856"/>
            </a:xfrm>
            <a:prstGeom prst="wedgeRectCallout">
              <a:avLst>
                <a:gd name="adj1" fmla="val -26210"/>
                <a:gd name="adj2" fmla="val 7805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700E2C8F-1B0B-1813-7A0A-B15EAD80558A}"/>
                </a:ext>
              </a:extLst>
            </p:cNvPr>
            <p:cNvSpPr txBox="1"/>
            <p:nvPr/>
          </p:nvSpPr>
          <p:spPr>
            <a:xfrm>
              <a:off x="9062645" y="3401072"/>
              <a:ext cx="1841214" cy="307777"/>
            </a:xfrm>
            <a:prstGeom prst="rect">
              <a:avLst/>
            </a:prstGeom>
            <a:noFill/>
          </p:spPr>
          <p:txBody>
            <a:bodyPr wrap="square" rtlCol="0">
              <a:spAutoFit/>
            </a:bodyPr>
            <a:lstStyle/>
            <a:p>
              <a:r>
                <a:rPr lang="ja-JP" altLang="en-US" sz="1400" b="1" dirty="0"/>
                <a:t>価格提案</a:t>
              </a:r>
              <a:r>
                <a:rPr lang="en-US" altLang="ja-JP" sz="1400" b="1" dirty="0"/>
                <a:t>AI</a:t>
              </a:r>
            </a:p>
          </p:txBody>
        </p:sp>
        <p:sp>
          <p:nvSpPr>
            <p:cNvPr id="59" name="テキスト ボックス 58">
              <a:extLst>
                <a:ext uri="{FF2B5EF4-FFF2-40B4-BE49-F238E27FC236}">
                  <a16:creationId xmlns:a16="http://schemas.microsoft.com/office/drawing/2014/main" id="{46E8A7AB-BDBD-4F62-A8F6-A0ABEB58D0DB}"/>
                </a:ext>
              </a:extLst>
            </p:cNvPr>
            <p:cNvSpPr txBox="1"/>
            <p:nvPr/>
          </p:nvSpPr>
          <p:spPr>
            <a:xfrm>
              <a:off x="9596627" y="2047785"/>
              <a:ext cx="140718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latin typeface="+mn-ea"/>
                </a:rPr>
                <a:t>部屋価格は</a:t>
              </a:r>
              <a:endParaRPr lang="en-US" altLang="ja-JP" sz="1400" b="1">
                <a:latin typeface="+mn-ea"/>
              </a:endParaRPr>
            </a:p>
            <a:p>
              <a:r>
                <a:rPr lang="en-US" altLang="ja-JP" sz="1400" b="1">
                  <a:latin typeface="+mn-ea"/>
                </a:rPr>
                <a:t>16000</a:t>
              </a:r>
              <a:r>
                <a:rPr lang="ja-JP" altLang="en-US" sz="1400" b="1">
                  <a:latin typeface="+mn-ea"/>
                </a:rPr>
                <a:t>円</a:t>
              </a:r>
              <a:r>
                <a:rPr lang="ja-JP" altLang="en-US" sz="1400" b="1" dirty="0">
                  <a:latin typeface="+mn-ea"/>
                </a:rPr>
                <a:t>を提案</a:t>
              </a:r>
              <a:endParaRPr lang="en-US" altLang="ja-JP" sz="1400" b="1" dirty="0">
                <a:latin typeface="+mn-ea"/>
              </a:endParaRPr>
            </a:p>
          </p:txBody>
        </p:sp>
      </p:grpSp>
      <p:pic>
        <p:nvPicPr>
          <p:cNvPr id="64" name="図 63">
            <a:extLst>
              <a:ext uri="{FF2B5EF4-FFF2-40B4-BE49-F238E27FC236}">
                <a16:creationId xmlns:a16="http://schemas.microsoft.com/office/drawing/2014/main" id="{F57FE232-CEE6-3A71-1EDB-305FEE17E3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1443" y="2766748"/>
            <a:ext cx="479884" cy="520497"/>
          </a:xfrm>
          <a:prstGeom prst="rect">
            <a:avLst/>
          </a:prstGeom>
        </p:spPr>
      </p:pic>
      <p:grpSp>
        <p:nvGrpSpPr>
          <p:cNvPr id="54" name="グループ化 53">
            <a:extLst>
              <a:ext uri="{FF2B5EF4-FFF2-40B4-BE49-F238E27FC236}">
                <a16:creationId xmlns:a16="http://schemas.microsoft.com/office/drawing/2014/main" id="{98019D1F-993D-641F-2C9F-9350C881B8D2}"/>
              </a:ext>
            </a:extLst>
          </p:cNvPr>
          <p:cNvGrpSpPr/>
          <p:nvPr/>
        </p:nvGrpSpPr>
        <p:grpSpPr>
          <a:xfrm>
            <a:off x="9454539" y="5101935"/>
            <a:ext cx="2155612" cy="886522"/>
            <a:chOff x="3566159" y="5151120"/>
            <a:chExt cx="2155612" cy="978785"/>
          </a:xfrm>
          <a:noFill/>
        </p:grpSpPr>
        <p:sp>
          <p:nvSpPr>
            <p:cNvPr id="52" name="四角形: 角を丸くする 51">
              <a:extLst>
                <a:ext uri="{FF2B5EF4-FFF2-40B4-BE49-F238E27FC236}">
                  <a16:creationId xmlns:a16="http://schemas.microsoft.com/office/drawing/2014/main" id="{B5EEBC97-6E6F-D247-5CA6-2D0C2532CDF7}"/>
                </a:ext>
              </a:extLst>
            </p:cNvPr>
            <p:cNvSpPr/>
            <p:nvPr/>
          </p:nvSpPr>
          <p:spPr>
            <a:xfrm>
              <a:off x="3566159" y="5151120"/>
              <a:ext cx="2155611" cy="978785"/>
            </a:xfrm>
            <a:prstGeom prst="wedgeRectCallout">
              <a:avLst>
                <a:gd name="adj1" fmla="val -27897"/>
                <a:gd name="adj2" fmla="val 62500"/>
              </a:avLst>
            </a:prstGeom>
            <a:grpFill/>
            <a:ln w="1905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71" name="テキスト ボックス 70">
              <a:extLst>
                <a:ext uri="{FF2B5EF4-FFF2-40B4-BE49-F238E27FC236}">
                  <a16:creationId xmlns:a16="http://schemas.microsoft.com/office/drawing/2014/main" id="{35709187-72A0-130E-4C44-991B6CD32369}"/>
                </a:ext>
              </a:extLst>
            </p:cNvPr>
            <p:cNvSpPr txBox="1"/>
            <p:nvPr/>
          </p:nvSpPr>
          <p:spPr>
            <a:xfrm>
              <a:off x="3729528" y="5207263"/>
              <a:ext cx="1992243" cy="917481"/>
            </a:xfrm>
            <a:prstGeom prst="wedgeRectCallout">
              <a:avLst/>
            </a:prstGeom>
            <a:grp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latin typeface="+mn-ea"/>
                </a:rPr>
                <a:t>顧客の評価と</a:t>
              </a:r>
              <a:endParaRPr lang="en-US" altLang="ja-JP" sz="1600" b="1" dirty="0">
                <a:latin typeface="+mn-ea"/>
              </a:endParaRPr>
            </a:p>
            <a:p>
              <a:r>
                <a:rPr lang="ja-JP" altLang="en-US" sz="1600" b="1" dirty="0">
                  <a:latin typeface="+mn-ea"/>
                </a:rPr>
                <a:t>需要を考慮した</a:t>
              </a:r>
              <a:endParaRPr lang="en-US" altLang="ja-JP" sz="1600" b="1" dirty="0">
                <a:latin typeface="+mn-ea"/>
              </a:endParaRPr>
            </a:p>
            <a:p>
              <a:r>
                <a:rPr lang="ja-JP" altLang="en-US" sz="1600" b="1" dirty="0">
                  <a:latin typeface="+mn-ea"/>
                </a:rPr>
                <a:t>価格設定が可能に！</a:t>
              </a:r>
              <a:endParaRPr lang="en-US" altLang="ja-JP" sz="1600" b="1" dirty="0">
                <a:latin typeface="+mn-ea"/>
              </a:endParaRPr>
            </a:p>
          </p:txBody>
        </p:sp>
      </p:grpSp>
      <p:grpSp>
        <p:nvGrpSpPr>
          <p:cNvPr id="6" name="グループ化 5">
            <a:extLst>
              <a:ext uri="{FF2B5EF4-FFF2-40B4-BE49-F238E27FC236}">
                <a16:creationId xmlns:a16="http://schemas.microsoft.com/office/drawing/2014/main" id="{604BE1CB-8540-2657-282A-FA3AEC48DEC5}"/>
              </a:ext>
            </a:extLst>
          </p:cNvPr>
          <p:cNvGrpSpPr/>
          <p:nvPr/>
        </p:nvGrpSpPr>
        <p:grpSpPr>
          <a:xfrm>
            <a:off x="5713616" y="4982661"/>
            <a:ext cx="1367806" cy="1143619"/>
            <a:chOff x="9277860" y="2602440"/>
            <a:chExt cx="1212105" cy="1016679"/>
          </a:xfrm>
        </p:grpSpPr>
        <p:sp>
          <p:nvSpPr>
            <p:cNvPr id="48" name="テキスト ボックス 47">
              <a:extLst>
                <a:ext uri="{FF2B5EF4-FFF2-40B4-BE49-F238E27FC236}">
                  <a16:creationId xmlns:a16="http://schemas.microsoft.com/office/drawing/2014/main" id="{D13ED25E-9DAB-A227-4C5F-A55789090376}"/>
                </a:ext>
              </a:extLst>
            </p:cNvPr>
            <p:cNvSpPr txBox="1"/>
            <p:nvPr/>
          </p:nvSpPr>
          <p:spPr>
            <a:xfrm>
              <a:off x="9277860" y="3126614"/>
              <a:ext cx="1212105" cy="492505"/>
            </a:xfrm>
            <a:prstGeom prst="rect">
              <a:avLst/>
            </a:prstGeom>
            <a:noFill/>
          </p:spPr>
          <p:txBody>
            <a:bodyPr wrap="square" rtlCol="0">
              <a:spAutoFit/>
            </a:bodyPr>
            <a:lstStyle/>
            <a:p>
              <a:r>
                <a:rPr lang="ja-JP" altLang="en-US" sz="1600" b="1" dirty="0">
                  <a:latin typeface="+mn-ea"/>
                </a:rPr>
                <a:t> </a:t>
              </a:r>
              <a:r>
                <a:rPr lang="ja-JP" altLang="en-US" sz="1400" b="1" dirty="0">
                  <a:latin typeface="+mn-ea"/>
                </a:rPr>
                <a:t>稼働率</a:t>
              </a:r>
              <a:br>
                <a:rPr lang="en-US" altLang="ja-JP" sz="1400" b="1" dirty="0">
                  <a:latin typeface="+mn-ea"/>
                </a:rPr>
              </a:br>
              <a:r>
                <a:rPr lang="ja-JP" altLang="en-US" sz="1400" b="1" dirty="0">
                  <a:latin typeface="+mn-ea"/>
                </a:rPr>
                <a:t>予測結果</a:t>
              </a:r>
              <a:endParaRPr lang="en-US" altLang="ja-JP" sz="1400" b="1" dirty="0">
                <a:latin typeface="+mn-ea"/>
              </a:endParaRPr>
            </a:p>
          </p:txBody>
        </p:sp>
        <p:pic>
          <p:nvPicPr>
            <p:cNvPr id="76" name="図 75">
              <a:extLst>
                <a:ext uri="{FF2B5EF4-FFF2-40B4-BE49-F238E27FC236}">
                  <a16:creationId xmlns:a16="http://schemas.microsoft.com/office/drawing/2014/main" id="{8E23D156-EACB-967C-60F9-801ABC29D5CD}"/>
                </a:ext>
              </a:extLst>
            </p:cNvPr>
            <p:cNvPicPr>
              <a:picLocks noChangeAspect="1"/>
            </p:cNvPicPr>
            <p:nvPr/>
          </p:nvPicPr>
          <p:blipFill>
            <a:blip r:embed="rId6" cstate="print">
              <a:extLst>
                <a:ext uri="{28A0092B-C50C-407E-A947-70E740481C1C}">
                  <a14:useLocalDpi xmlns:a14="http://schemas.microsoft.com/office/drawing/2010/main" val="0"/>
                </a:ext>
              </a:extLst>
            </a:blip>
            <a:srcRect l="-1755" t="65812" r="60843" b="-516"/>
            <a:stretch>
              <a:fillRect/>
            </a:stretch>
          </p:blipFill>
          <p:spPr>
            <a:xfrm>
              <a:off x="9305384" y="2602440"/>
              <a:ext cx="726022" cy="582314"/>
            </a:xfrm>
            <a:prstGeom prst="rect">
              <a:avLst/>
            </a:prstGeom>
          </p:spPr>
        </p:pic>
      </p:grpSp>
      <p:cxnSp>
        <p:nvCxnSpPr>
          <p:cNvPr id="105" name="コネクタ: カギ線 104">
            <a:extLst>
              <a:ext uri="{FF2B5EF4-FFF2-40B4-BE49-F238E27FC236}">
                <a16:creationId xmlns:a16="http://schemas.microsoft.com/office/drawing/2014/main" id="{76A0B757-01BC-3C02-01D5-69B901B210F3}"/>
              </a:ext>
            </a:extLst>
          </p:cNvPr>
          <p:cNvCxnSpPr>
            <a:cxnSpLocks/>
            <a:stCxn id="13" idx="3"/>
            <a:endCxn id="56" idx="1"/>
          </p:cNvCxnSpPr>
          <p:nvPr/>
        </p:nvCxnSpPr>
        <p:spPr>
          <a:xfrm>
            <a:off x="7641978" y="2658701"/>
            <a:ext cx="2437246" cy="1097032"/>
          </a:xfrm>
          <a:prstGeom prst="bentConnector3">
            <a:avLst>
              <a:gd name="adj1" fmla="val 12333"/>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sp>
        <p:nvSpPr>
          <p:cNvPr id="136" name="テキスト ボックス 135">
            <a:extLst>
              <a:ext uri="{FF2B5EF4-FFF2-40B4-BE49-F238E27FC236}">
                <a16:creationId xmlns:a16="http://schemas.microsoft.com/office/drawing/2014/main" id="{B6CD95DC-3EDC-5CC2-0606-4C3135789721}"/>
              </a:ext>
            </a:extLst>
          </p:cNvPr>
          <p:cNvSpPr txBox="1"/>
          <p:nvPr/>
        </p:nvSpPr>
        <p:spPr>
          <a:xfrm>
            <a:off x="8542024" y="4410451"/>
            <a:ext cx="1350122" cy="307777"/>
          </a:xfrm>
          <a:prstGeom prst="rect">
            <a:avLst/>
          </a:prstGeom>
          <a:noFill/>
        </p:spPr>
        <p:txBody>
          <a:bodyPr wrap="square" rtlCol="0">
            <a:spAutoFit/>
          </a:bodyPr>
          <a:lstStyle/>
          <a:p>
            <a:r>
              <a:rPr lang="ja-JP" altLang="en-US" sz="1400" b="1" dirty="0">
                <a:solidFill>
                  <a:srgbClr val="882312"/>
                </a:solidFill>
              </a:rPr>
              <a:t>価格提案モデル</a:t>
            </a:r>
          </a:p>
        </p:txBody>
      </p:sp>
      <p:pic>
        <p:nvPicPr>
          <p:cNvPr id="137" name="図 136">
            <a:extLst>
              <a:ext uri="{FF2B5EF4-FFF2-40B4-BE49-F238E27FC236}">
                <a16:creationId xmlns:a16="http://schemas.microsoft.com/office/drawing/2014/main" id="{A8F168F4-1117-E732-C6D2-22D68D8B316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6541" y="3944954"/>
            <a:ext cx="413511" cy="467829"/>
          </a:xfrm>
          <a:prstGeom prst="rect">
            <a:avLst/>
          </a:prstGeom>
        </p:spPr>
      </p:pic>
      <p:sp>
        <p:nvSpPr>
          <p:cNvPr id="150" name="テキスト ボックス 149">
            <a:extLst>
              <a:ext uri="{FF2B5EF4-FFF2-40B4-BE49-F238E27FC236}">
                <a16:creationId xmlns:a16="http://schemas.microsoft.com/office/drawing/2014/main" id="{2DED2891-4642-2C3B-FF58-91F2B1D03BC5}"/>
              </a:ext>
            </a:extLst>
          </p:cNvPr>
          <p:cNvSpPr txBox="1"/>
          <p:nvPr/>
        </p:nvSpPr>
        <p:spPr>
          <a:xfrm>
            <a:off x="2508612" y="1790437"/>
            <a:ext cx="734400"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endParaRPr kumimoji="1" lang="ja-JP" altLang="en-US" sz="1600" b="1" dirty="0">
              <a:solidFill>
                <a:schemeClr val="bg1"/>
              </a:solidFill>
            </a:endParaRPr>
          </a:p>
        </p:txBody>
      </p:sp>
      <p:sp>
        <p:nvSpPr>
          <p:cNvPr id="151" name="テキスト ボックス 150">
            <a:extLst>
              <a:ext uri="{FF2B5EF4-FFF2-40B4-BE49-F238E27FC236}">
                <a16:creationId xmlns:a16="http://schemas.microsoft.com/office/drawing/2014/main" id="{B7ECF725-4DA1-93DE-D8E3-1E4EDF55A936}"/>
              </a:ext>
            </a:extLst>
          </p:cNvPr>
          <p:cNvSpPr txBox="1"/>
          <p:nvPr/>
        </p:nvSpPr>
        <p:spPr>
          <a:xfrm>
            <a:off x="3835339" y="3905056"/>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a:t>
            </a:r>
            <a:endParaRPr kumimoji="1" lang="ja-JP" altLang="en-US" sz="1600" b="1" dirty="0">
              <a:solidFill>
                <a:schemeClr val="bg1"/>
              </a:solidFill>
            </a:endParaRPr>
          </a:p>
        </p:txBody>
      </p:sp>
      <p:grpSp>
        <p:nvGrpSpPr>
          <p:cNvPr id="35" name="グループ化 34">
            <a:extLst>
              <a:ext uri="{FF2B5EF4-FFF2-40B4-BE49-F238E27FC236}">
                <a16:creationId xmlns:a16="http://schemas.microsoft.com/office/drawing/2014/main" id="{012F549F-CC5A-68C6-990C-BC3C72183018}"/>
              </a:ext>
            </a:extLst>
          </p:cNvPr>
          <p:cNvGrpSpPr/>
          <p:nvPr/>
        </p:nvGrpSpPr>
        <p:grpSpPr>
          <a:xfrm>
            <a:off x="8191170" y="2965014"/>
            <a:ext cx="1771701" cy="626309"/>
            <a:chOff x="7621355" y="2997247"/>
            <a:chExt cx="1771701" cy="626309"/>
          </a:xfrm>
        </p:grpSpPr>
        <p:sp>
          <p:nvSpPr>
            <p:cNvPr id="62" name="テキスト ボックス 61">
              <a:extLst>
                <a:ext uri="{FF2B5EF4-FFF2-40B4-BE49-F238E27FC236}">
                  <a16:creationId xmlns:a16="http://schemas.microsoft.com/office/drawing/2014/main" id="{FF58298B-F7A6-55D7-AF61-7F1EFBE4B3DD}"/>
                </a:ext>
              </a:extLst>
            </p:cNvPr>
            <p:cNvSpPr txBox="1"/>
            <p:nvPr/>
          </p:nvSpPr>
          <p:spPr>
            <a:xfrm>
              <a:off x="7635060" y="3285002"/>
              <a:ext cx="1757996"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適切な価格を提案</a:t>
              </a:r>
              <a:endParaRPr kumimoji="1" lang="en-US" altLang="ja-JP" sz="1600" b="1" dirty="0"/>
            </a:p>
          </p:txBody>
        </p:sp>
        <p:sp>
          <p:nvSpPr>
            <p:cNvPr id="152" name="テキスト ボックス 151">
              <a:extLst>
                <a:ext uri="{FF2B5EF4-FFF2-40B4-BE49-F238E27FC236}">
                  <a16:creationId xmlns:a16="http://schemas.microsoft.com/office/drawing/2014/main" id="{D361588D-88FE-C549-69C2-3850CE870A62}"/>
                </a:ext>
              </a:extLst>
            </p:cNvPr>
            <p:cNvSpPr txBox="1"/>
            <p:nvPr/>
          </p:nvSpPr>
          <p:spPr>
            <a:xfrm>
              <a:off x="7621355" y="2997247"/>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a:t>
              </a:r>
              <a:endParaRPr kumimoji="1" lang="ja-JP" altLang="en-US" sz="1600" b="1" dirty="0">
                <a:solidFill>
                  <a:schemeClr val="bg1"/>
                </a:solidFill>
              </a:endParaRPr>
            </a:p>
          </p:txBody>
        </p:sp>
      </p:grpSp>
      <p:grpSp>
        <p:nvGrpSpPr>
          <p:cNvPr id="81" name="グループ化 80">
            <a:extLst>
              <a:ext uri="{FF2B5EF4-FFF2-40B4-BE49-F238E27FC236}">
                <a16:creationId xmlns:a16="http://schemas.microsoft.com/office/drawing/2014/main" id="{02290D64-B3F1-79A9-749E-FAA8D70F51BA}"/>
              </a:ext>
            </a:extLst>
          </p:cNvPr>
          <p:cNvGrpSpPr/>
          <p:nvPr/>
        </p:nvGrpSpPr>
        <p:grpSpPr>
          <a:xfrm>
            <a:off x="4484597" y="1598819"/>
            <a:ext cx="3503000" cy="1792524"/>
            <a:chOff x="4620787" y="1598819"/>
            <a:chExt cx="3503000" cy="1792524"/>
          </a:xfrm>
        </p:grpSpPr>
        <p:sp>
          <p:nvSpPr>
            <p:cNvPr id="29" name="テキスト ボックス 28">
              <a:extLst>
                <a:ext uri="{FF2B5EF4-FFF2-40B4-BE49-F238E27FC236}">
                  <a16:creationId xmlns:a16="http://schemas.microsoft.com/office/drawing/2014/main" id="{0CD710B0-FC6E-D8C7-890E-5C1AD321C864}"/>
                </a:ext>
              </a:extLst>
            </p:cNvPr>
            <p:cNvSpPr txBox="1"/>
            <p:nvPr/>
          </p:nvSpPr>
          <p:spPr>
            <a:xfrm>
              <a:off x="6664880" y="2880516"/>
              <a:ext cx="1458907" cy="307777"/>
            </a:xfrm>
            <a:prstGeom prst="rect">
              <a:avLst/>
            </a:prstGeom>
            <a:noFill/>
          </p:spPr>
          <p:txBody>
            <a:bodyPr wrap="square" rtlCol="0">
              <a:spAutoFit/>
            </a:bodyPr>
            <a:lstStyle/>
            <a:p>
              <a:r>
                <a:rPr lang="ja-JP" altLang="en-US" sz="1400" b="1" dirty="0"/>
                <a:t>経営データ</a:t>
              </a:r>
              <a:endParaRPr lang="en-US" altLang="ja-JP" sz="1400" b="1" dirty="0"/>
            </a:p>
          </p:txBody>
        </p:sp>
        <p:pic>
          <p:nvPicPr>
            <p:cNvPr id="74" name="図 73">
              <a:extLst>
                <a:ext uri="{FF2B5EF4-FFF2-40B4-BE49-F238E27FC236}">
                  <a16:creationId xmlns:a16="http://schemas.microsoft.com/office/drawing/2014/main" id="{E4C3AF7E-473B-9E4E-8298-387C766E950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646" y="2267831"/>
              <a:ext cx="583032" cy="599106"/>
            </a:xfrm>
            <a:prstGeom prst="rect">
              <a:avLst/>
            </a:prstGeom>
          </p:spPr>
        </p:pic>
        <p:sp>
          <p:nvSpPr>
            <p:cNvPr id="11" name="テキスト ボックス 10">
              <a:extLst>
                <a:ext uri="{FF2B5EF4-FFF2-40B4-BE49-F238E27FC236}">
                  <a16:creationId xmlns:a16="http://schemas.microsoft.com/office/drawing/2014/main" id="{46F43D72-5A7C-6CC3-5BD4-F0F7A183A7E9}"/>
                </a:ext>
              </a:extLst>
            </p:cNvPr>
            <p:cNvSpPr txBox="1"/>
            <p:nvPr/>
          </p:nvSpPr>
          <p:spPr>
            <a:xfrm>
              <a:off x="4751306" y="2872223"/>
              <a:ext cx="1674678" cy="307777"/>
            </a:xfrm>
            <a:prstGeom prst="rect">
              <a:avLst/>
            </a:prstGeom>
            <a:noFill/>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6635D40D-EEEB-FFCB-7726-2F9AFA1BC94F}"/>
                </a:ext>
              </a:extLst>
            </p:cNvPr>
            <p:cNvSpPr/>
            <p:nvPr/>
          </p:nvSpPr>
          <p:spPr>
            <a:xfrm>
              <a:off x="4620787" y="1926058"/>
              <a:ext cx="3157381" cy="1465285"/>
            </a:xfrm>
            <a:prstGeom prst="roundRect">
              <a:avLst/>
            </a:prstGeom>
            <a:noFill/>
            <a:ln w="19050" cap="flat" cmpd="sng" algn="ctr">
              <a:solidFill>
                <a:schemeClr val="accent4">
                  <a:lumMod val="75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A6AACAB-E01B-D4DA-C82C-57F5D7E38723}"/>
                </a:ext>
              </a:extLst>
            </p:cNvPr>
            <p:cNvSpPr txBox="1"/>
            <p:nvPr/>
          </p:nvSpPr>
          <p:spPr>
            <a:xfrm>
              <a:off x="5524020" y="1598819"/>
              <a:ext cx="1303508" cy="338554"/>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宿泊施設</a:t>
              </a:r>
              <a:r>
                <a:rPr kumimoji="1" lang="en-US" altLang="ja-JP" sz="1600" b="1" dirty="0">
                  <a:solidFill>
                    <a:schemeClr val="bg1"/>
                  </a:solidFill>
                </a:rPr>
                <a:t>DB</a:t>
              </a:r>
              <a:endParaRPr kumimoji="1" lang="ja-JP" altLang="en-US" sz="1600" b="1" dirty="0">
                <a:solidFill>
                  <a:schemeClr val="bg1"/>
                </a:solidFill>
              </a:endParaRPr>
            </a:p>
          </p:txBody>
        </p:sp>
      </p:grpSp>
      <p:sp>
        <p:nvSpPr>
          <p:cNvPr id="26" name="矢印: 右 25">
            <a:extLst>
              <a:ext uri="{FF2B5EF4-FFF2-40B4-BE49-F238E27FC236}">
                <a16:creationId xmlns:a16="http://schemas.microsoft.com/office/drawing/2014/main" id="{6675FA9E-CEF2-21AA-8CE2-50A51FABE59A}"/>
              </a:ext>
            </a:extLst>
          </p:cNvPr>
          <p:cNvSpPr/>
          <p:nvPr/>
        </p:nvSpPr>
        <p:spPr>
          <a:xfrm rot="5400000">
            <a:off x="5421917" y="4076563"/>
            <a:ext cx="1394774" cy="338554"/>
          </a:xfrm>
          <a:prstGeom prst="rightArrow">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12B6683F-C2ED-7BE0-B9A1-38730FA31563}"/>
              </a:ext>
            </a:extLst>
          </p:cNvPr>
          <p:cNvGrpSpPr/>
          <p:nvPr/>
        </p:nvGrpSpPr>
        <p:grpSpPr>
          <a:xfrm>
            <a:off x="6319727" y="3629943"/>
            <a:ext cx="1523390" cy="1018993"/>
            <a:chOff x="6355405" y="3486074"/>
            <a:chExt cx="1523390" cy="1018993"/>
          </a:xfrm>
        </p:grpSpPr>
        <p:sp>
          <p:nvSpPr>
            <p:cNvPr id="38" name="テキスト ボックス 37">
              <a:extLst>
                <a:ext uri="{FF2B5EF4-FFF2-40B4-BE49-F238E27FC236}">
                  <a16:creationId xmlns:a16="http://schemas.microsoft.com/office/drawing/2014/main" id="{45013725-1A51-EE31-1F51-2786C2CF65C5}"/>
                </a:ext>
              </a:extLst>
            </p:cNvPr>
            <p:cNvSpPr txBox="1"/>
            <p:nvPr/>
          </p:nvSpPr>
          <p:spPr>
            <a:xfrm>
              <a:off x="6355405" y="3981847"/>
              <a:ext cx="1523390" cy="523220"/>
            </a:xfrm>
            <a:prstGeom prst="rect">
              <a:avLst/>
            </a:prstGeom>
            <a:noFill/>
          </p:spPr>
          <p:txBody>
            <a:bodyPr wrap="square" rtlCol="0">
              <a:spAutoFit/>
            </a:bodyPr>
            <a:lstStyle/>
            <a:p>
              <a:r>
                <a:rPr lang="ja-JP" altLang="en-US" sz="1400" b="1" dirty="0">
                  <a:solidFill>
                    <a:srgbClr val="002060"/>
                  </a:solidFill>
                </a:rPr>
                <a:t>需要予測モデル</a:t>
              </a:r>
              <a:endParaRPr lang="en-US" altLang="ja-JP" sz="1400" b="1" dirty="0">
                <a:solidFill>
                  <a:srgbClr val="002060"/>
                </a:solidFill>
              </a:endParaRPr>
            </a:p>
            <a:p>
              <a:r>
                <a:rPr kumimoji="1" lang="en-US" altLang="ja-JP" sz="1400" dirty="0">
                  <a:solidFill>
                    <a:srgbClr val="002060"/>
                  </a:solidFill>
                </a:rPr>
                <a:t>    </a:t>
              </a:r>
              <a:r>
                <a:rPr kumimoji="1" lang="en-US" altLang="ja-JP" sz="1400" dirty="0" err="1">
                  <a:solidFill>
                    <a:srgbClr val="002060"/>
                  </a:solidFill>
                </a:rPr>
                <a:t>Catboost</a:t>
              </a:r>
              <a:endParaRPr kumimoji="1" lang="ja-JP" altLang="en-US" sz="1400" dirty="0">
                <a:solidFill>
                  <a:srgbClr val="002060"/>
                </a:solidFill>
              </a:endParaRPr>
            </a:p>
          </p:txBody>
        </p:sp>
        <p:pic>
          <p:nvPicPr>
            <p:cNvPr id="77" name="グラフィックス 76" descr="統計 枠線">
              <a:extLst>
                <a:ext uri="{FF2B5EF4-FFF2-40B4-BE49-F238E27FC236}">
                  <a16:creationId xmlns:a16="http://schemas.microsoft.com/office/drawing/2014/main" id="{DD562FF3-0D6F-888C-6D6A-FE0E21BED79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8427" y="3486074"/>
              <a:ext cx="605454" cy="524735"/>
            </a:xfrm>
            <a:prstGeom prst="rect">
              <a:avLst/>
            </a:prstGeom>
          </p:spPr>
        </p:pic>
      </p:grpSp>
      <p:cxnSp>
        <p:nvCxnSpPr>
          <p:cNvPr id="30" name="コネクタ: カギ線 29">
            <a:extLst>
              <a:ext uri="{FF2B5EF4-FFF2-40B4-BE49-F238E27FC236}">
                <a16:creationId xmlns:a16="http://schemas.microsoft.com/office/drawing/2014/main" id="{C578EE47-D00D-7232-42C5-FAEDD71E6669}"/>
              </a:ext>
            </a:extLst>
          </p:cNvPr>
          <p:cNvCxnSpPr>
            <a:cxnSpLocks/>
            <a:stCxn id="76" idx="3"/>
            <a:endCxn id="56" idx="1"/>
          </p:cNvCxnSpPr>
          <p:nvPr/>
        </p:nvCxnSpPr>
        <p:spPr>
          <a:xfrm flipV="1">
            <a:off x="6563959" y="3755733"/>
            <a:ext cx="3515265" cy="1554438"/>
          </a:xfrm>
          <a:prstGeom prst="bentConnector3">
            <a:avLst>
              <a:gd name="adj1" fmla="val 39208"/>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grpSp>
        <p:nvGrpSpPr>
          <p:cNvPr id="63" name="グループ化 62">
            <a:extLst>
              <a:ext uri="{FF2B5EF4-FFF2-40B4-BE49-F238E27FC236}">
                <a16:creationId xmlns:a16="http://schemas.microsoft.com/office/drawing/2014/main" id="{8D85BAD4-C1F9-0CE8-4D33-622FDE2E1961}"/>
              </a:ext>
            </a:extLst>
          </p:cNvPr>
          <p:cNvGrpSpPr/>
          <p:nvPr/>
        </p:nvGrpSpPr>
        <p:grpSpPr>
          <a:xfrm>
            <a:off x="8306319" y="5251926"/>
            <a:ext cx="1296396" cy="1535621"/>
            <a:chOff x="8213364" y="5125466"/>
            <a:chExt cx="1296396" cy="1535621"/>
          </a:xfrm>
        </p:grpSpPr>
        <p:sp>
          <p:nvSpPr>
            <p:cNvPr id="72" name="テキスト ボックス 71">
              <a:extLst>
                <a:ext uri="{FF2B5EF4-FFF2-40B4-BE49-F238E27FC236}">
                  <a16:creationId xmlns:a16="http://schemas.microsoft.com/office/drawing/2014/main" id="{EBBAD94B-6B91-97F0-8375-4344B9B97099}"/>
                </a:ext>
              </a:extLst>
            </p:cNvPr>
            <p:cNvSpPr txBox="1"/>
            <p:nvPr/>
          </p:nvSpPr>
          <p:spPr>
            <a:xfrm>
              <a:off x="8213364" y="6322533"/>
              <a:ext cx="1296396" cy="338554"/>
            </a:xfrm>
            <a:prstGeom prst="rect">
              <a:avLst/>
            </a:prstGeom>
            <a:noFill/>
          </p:spPr>
          <p:txBody>
            <a:bodyPr wrap="square" rtlCol="0">
              <a:spAutoFit/>
            </a:bodyPr>
            <a:lstStyle/>
            <a:p>
              <a:r>
                <a:rPr lang="ja-JP" altLang="en-US" sz="1600" b="1" dirty="0"/>
                <a:t>ホテル運営者</a:t>
              </a:r>
              <a:endParaRPr lang="en-US" altLang="ja-JP" sz="1600" b="1" dirty="0"/>
            </a:p>
          </p:txBody>
        </p:sp>
        <p:pic>
          <p:nvPicPr>
            <p:cNvPr id="50" name="図 49" descr="アイコン&#10;&#10;AI 生成コンテンツは誤りを含む可能性があります。">
              <a:extLst>
                <a:ext uri="{FF2B5EF4-FFF2-40B4-BE49-F238E27FC236}">
                  <a16:creationId xmlns:a16="http://schemas.microsoft.com/office/drawing/2014/main" id="{CCFF78C8-A57D-E462-2E3E-B7A9A6A23AD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10755" y="5125466"/>
              <a:ext cx="819283" cy="1200346"/>
            </a:xfrm>
            <a:prstGeom prst="rect">
              <a:avLst/>
            </a:prstGeom>
          </p:spPr>
        </p:pic>
      </p:grpSp>
    </p:spTree>
    <p:extLst>
      <p:ext uri="{BB962C8B-B14F-4D97-AF65-F5344CB8AC3E}">
        <p14:creationId xmlns:p14="http://schemas.microsoft.com/office/powerpoint/2010/main" val="171004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299A-5C9E-4D89-F7D0-33D1E8371E7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487F14F-2793-54C1-1641-2C7962347903}"/>
              </a:ext>
            </a:extLst>
          </p:cNvPr>
          <p:cNvSpPr>
            <a:spLocks noGrp="1"/>
          </p:cNvSpPr>
          <p:nvPr>
            <p:ph type="body" sz="quarter" idx="11"/>
          </p:nvPr>
        </p:nvSpPr>
        <p:spPr/>
        <p:txBody>
          <a:bodyPr>
            <a:normAutofit fontScale="92500" lnSpcReduction="10000"/>
          </a:bodyPr>
          <a:lstStyle/>
          <a:p>
            <a:r>
              <a:rPr kumimoji="1" lang="ja-JP" altLang="en-US" b="1" dirty="0"/>
              <a:t>感情分析における既存研究</a:t>
            </a:r>
          </a:p>
        </p:txBody>
      </p:sp>
      <p:cxnSp>
        <p:nvCxnSpPr>
          <p:cNvPr id="5" name="直線コネクタ 4">
            <a:extLst>
              <a:ext uri="{FF2B5EF4-FFF2-40B4-BE49-F238E27FC236}">
                <a16:creationId xmlns:a16="http://schemas.microsoft.com/office/drawing/2014/main" id="{60751758-A1A5-8135-4EB3-449A89502549}"/>
              </a:ext>
            </a:extLst>
          </p:cNvPr>
          <p:cNvCxnSpPr/>
          <p:nvPr/>
        </p:nvCxnSpPr>
        <p:spPr>
          <a:xfrm>
            <a:off x="5862188" y="568960"/>
            <a:ext cx="48989" cy="6289040"/>
          </a:xfrm>
          <a:prstGeom prst="line">
            <a:avLst/>
          </a:prstGeom>
          <a:ln w="38100">
            <a:solidFill>
              <a:srgbClr val="1F4944"/>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41E65601-A82B-21B5-4A6B-86E373448663}"/>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1536910E-B2A0-8B07-8435-4A9A61FCD4B8}"/>
              </a:ext>
            </a:extLst>
          </p:cNvPr>
          <p:cNvSpPr txBox="1"/>
          <p:nvPr/>
        </p:nvSpPr>
        <p:spPr>
          <a:xfrm>
            <a:off x="1096002" y="577982"/>
            <a:ext cx="331455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rgbClr val="FFFFFF"/>
                </a:solidFill>
              </a:rPr>
              <a:t>[1] </a:t>
            </a:r>
            <a:r>
              <a:rPr lang="ja-JP" altLang="en-US" sz="1600" b="1" dirty="0">
                <a:solidFill>
                  <a:srgbClr val="FFFFFF"/>
                </a:solidFill>
              </a:rPr>
              <a:t>競合を考慮したホテル競争力評価</a:t>
            </a:r>
            <a:endParaRPr kumimoji="1" lang="ja-JP" altLang="en-US" sz="1600" b="1" dirty="0">
              <a:solidFill>
                <a:srgbClr val="FFFFFF"/>
              </a:solidFill>
            </a:endParaRPr>
          </a:p>
        </p:txBody>
      </p:sp>
      <p:sp>
        <p:nvSpPr>
          <p:cNvPr id="23" name="テキスト ボックス 22">
            <a:extLst>
              <a:ext uri="{FF2B5EF4-FFF2-40B4-BE49-F238E27FC236}">
                <a16:creationId xmlns:a16="http://schemas.microsoft.com/office/drawing/2014/main" id="{847F8262-0C22-E200-5090-CF9698F9F0EC}"/>
              </a:ext>
            </a:extLst>
          </p:cNvPr>
          <p:cNvSpPr txBox="1"/>
          <p:nvPr/>
        </p:nvSpPr>
        <p:spPr>
          <a:xfrm>
            <a:off x="1688586" y="3696176"/>
            <a:ext cx="2571961"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  </a:t>
            </a:r>
            <a:r>
              <a:rPr kumimoji="1" lang="en-US" altLang="ja-JP" sz="1600" b="1" dirty="0">
                <a:solidFill>
                  <a:schemeClr val="bg1"/>
                </a:solidFill>
              </a:rPr>
              <a:t>[2] </a:t>
            </a:r>
            <a:r>
              <a:rPr kumimoji="1" lang="ja-JP" altLang="en-US" sz="1600" b="1" dirty="0">
                <a:solidFill>
                  <a:schemeClr val="bg1"/>
                </a:solidFill>
              </a:rPr>
              <a:t>競争力評価（</a:t>
            </a:r>
            <a:r>
              <a:rPr kumimoji="1" lang="en-US" altLang="ja-JP" sz="1600" b="1" dirty="0">
                <a:solidFill>
                  <a:schemeClr val="bg1"/>
                </a:solidFill>
              </a:rPr>
              <a:t>IPCA</a:t>
            </a:r>
            <a:r>
              <a:rPr kumimoji="1" lang="ja-JP" altLang="en-US" sz="1600" b="1" dirty="0">
                <a:solidFill>
                  <a:schemeClr val="bg1"/>
                </a:solidFill>
              </a:rPr>
              <a:t>）</a:t>
            </a:r>
          </a:p>
        </p:txBody>
      </p:sp>
      <p:sp>
        <p:nvSpPr>
          <p:cNvPr id="24" name="テキスト ボックス 23">
            <a:extLst>
              <a:ext uri="{FF2B5EF4-FFF2-40B4-BE49-F238E27FC236}">
                <a16:creationId xmlns:a16="http://schemas.microsoft.com/office/drawing/2014/main" id="{C0AC7409-4DD7-E581-9FB0-099E77D918D1}"/>
              </a:ext>
            </a:extLst>
          </p:cNvPr>
          <p:cNvSpPr txBox="1"/>
          <p:nvPr/>
        </p:nvSpPr>
        <p:spPr>
          <a:xfrm>
            <a:off x="7777828" y="577982"/>
            <a:ext cx="2818675"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[3] LLM</a:t>
            </a:r>
            <a:r>
              <a:rPr lang="ja-JP" altLang="en-US" sz="1600" b="1" dirty="0">
                <a:solidFill>
                  <a:schemeClr val="bg1"/>
                </a:solidFill>
              </a:rPr>
              <a:t>による苦情レビュー分析</a:t>
            </a:r>
            <a:endParaRPr kumimoji="1" lang="ja-JP" altLang="en-US" sz="1600" b="1" dirty="0">
              <a:solidFill>
                <a:schemeClr val="bg1"/>
              </a:solidFill>
            </a:endParaRPr>
          </a:p>
        </p:txBody>
      </p:sp>
      <p:sp>
        <p:nvSpPr>
          <p:cNvPr id="29" name="テキスト ボックス 28">
            <a:extLst>
              <a:ext uri="{FF2B5EF4-FFF2-40B4-BE49-F238E27FC236}">
                <a16:creationId xmlns:a16="http://schemas.microsoft.com/office/drawing/2014/main" id="{7BDB015E-C677-A15A-AD3B-08ED15CA9085}"/>
              </a:ext>
            </a:extLst>
          </p:cNvPr>
          <p:cNvSpPr txBox="1"/>
          <p:nvPr/>
        </p:nvSpPr>
        <p:spPr>
          <a:xfrm>
            <a:off x="169062" y="3056451"/>
            <a:ext cx="5742114" cy="584775"/>
          </a:xfrm>
          <a:prstGeom prst="rect">
            <a:avLst/>
          </a:prstGeom>
          <a:noFill/>
        </p:spPr>
        <p:txBody>
          <a:bodyPr wrap="square" rtlCol="0">
            <a:spAutoFit/>
          </a:bodyPr>
          <a:lstStyle/>
          <a:p>
            <a:r>
              <a:rPr lang="ja-JP" altLang="en-US" sz="1600" b="1" dirty="0"/>
              <a:t>     →  需要予測だけでは</a:t>
            </a:r>
            <a:r>
              <a:rPr lang="ja-JP" altLang="en-US" sz="1600" b="1" u="sng" dirty="0">
                <a:solidFill>
                  <a:srgbClr val="882312"/>
                </a:solidFill>
              </a:rPr>
              <a:t>価格判断の根拠が弱い</a:t>
            </a:r>
            <a:br>
              <a:rPr lang="en-US" altLang="ja-JP" sz="1600" u="sng" dirty="0">
                <a:solidFill>
                  <a:srgbClr val="882312"/>
                </a:solidFill>
              </a:rPr>
            </a:br>
            <a:r>
              <a:rPr lang="ja-JP" altLang="en-US" sz="1600" dirty="0"/>
              <a:t>           </a:t>
            </a:r>
            <a:r>
              <a:rPr lang="en-US" altLang="ja-JP" sz="1600" dirty="0"/>
              <a:t>(</a:t>
            </a:r>
            <a:r>
              <a:rPr lang="ja-JP" altLang="en-US" sz="1600" dirty="0"/>
              <a:t>実際、価格</a:t>
            </a:r>
            <a:r>
              <a:rPr lang="en-US" altLang="ja-JP" sz="1600" dirty="0"/>
              <a:t>×</a:t>
            </a:r>
            <a:r>
              <a:rPr lang="ja-JP" altLang="en-US" sz="1600" dirty="0"/>
              <a:t>需要の相関が低く、他要因を無視できない</a:t>
            </a:r>
            <a:r>
              <a:rPr lang="en-US" altLang="ja-JP" sz="1600" dirty="0"/>
              <a:t>)</a:t>
            </a:r>
            <a:endParaRPr lang="ja-JP" altLang="en-US" sz="1600" dirty="0">
              <a:latin typeface="+mn-ea"/>
            </a:endParaRPr>
          </a:p>
        </p:txBody>
      </p:sp>
      <p:sp>
        <p:nvSpPr>
          <p:cNvPr id="43" name="コンテンツ プレースホルダー 1">
            <a:extLst>
              <a:ext uri="{FF2B5EF4-FFF2-40B4-BE49-F238E27FC236}">
                <a16:creationId xmlns:a16="http://schemas.microsoft.com/office/drawing/2014/main" id="{7E07998A-281C-5A5C-BC23-8E32D5C4AF79}"/>
              </a:ext>
            </a:extLst>
          </p:cNvPr>
          <p:cNvSpPr txBox="1">
            <a:spLocks/>
          </p:cNvSpPr>
          <p:nvPr/>
        </p:nvSpPr>
        <p:spPr>
          <a:xfrm>
            <a:off x="382482" y="845448"/>
            <a:ext cx="5646627"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問題設定：最適な競合相手を正確に特定し評価できない</a:t>
            </a:r>
            <a:endParaRPr lang="en-US" altLang="ja-JP" sz="1600" dirty="0">
              <a:latin typeface="+mn-ea"/>
            </a:endParaRPr>
          </a:p>
        </p:txBody>
      </p:sp>
      <p:sp>
        <p:nvSpPr>
          <p:cNvPr id="45" name="コンテンツ プレースホルダー 1">
            <a:extLst>
              <a:ext uri="{FF2B5EF4-FFF2-40B4-BE49-F238E27FC236}">
                <a16:creationId xmlns:a16="http://schemas.microsoft.com/office/drawing/2014/main" id="{99AAD424-195D-C7FC-E439-47057AC2949B}"/>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47" name="テキスト ボックス 46">
            <a:extLst>
              <a:ext uri="{FF2B5EF4-FFF2-40B4-BE49-F238E27FC236}">
                <a16:creationId xmlns:a16="http://schemas.microsoft.com/office/drawing/2014/main" id="{3A0D3865-48A8-CEF7-613D-A3CDEED39598}"/>
              </a:ext>
            </a:extLst>
          </p:cNvPr>
          <p:cNvSpPr txBox="1"/>
          <p:nvPr/>
        </p:nvSpPr>
        <p:spPr>
          <a:xfrm>
            <a:off x="6029109" y="3816923"/>
            <a:ext cx="6126425" cy="3139321"/>
          </a:xfrm>
          <a:prstGeom prst="rect">
            <a:avLst/>
          </a:prstGeom>
          <a:noFill/>
        </p:spPr>
        <p:txBody>
          <a:bodyPr wrap="square" rtlCol="0">
            <a:spAutoFit/>
          </a:bodyPr>
          <a:lstStyle/>
          <a:p>
            <a:r>
              <a:rPr kumimoji="1" lang="ja-JP" altLang="en-US" b="1" dirty="0"/>
              <a:t>結果・考察</a:t>
            </a:r>
            <a:endParaRPr kumimoji="1" lang="en-US" altLang="ja-JP" b="1" dirty="0"/>
          </a:p>
          <a:p>
            <a:endParaRPr lang="en-US" altLang="ja-JP" b="1" dirty="0"/>
          </a:p>
          <a:p>
            <a:r>
              <a:rPr lang="ja-JP" altLang="en-US" dirty="0"/>
              <a:t>・需要予測のみでは価格と需要の相関が低く、</a:t>
            </a:r>
            <a:endParaRPr lang="en-US" altLang="ja-JP" dirty="0"/>
          </a:p>
          <a:p>
            <a:r>
              <a:rPr lang="en-US" altLang="ja-JP" dirty="0"/>
              <a:t>                         </a:t>
            </a:r>
            <a:r>
              <a:rPr lang="ja-JP" altLang="en-US" dirty="0"/>
              <a:t>価格判断の根拠が不足する</a:t>
            </a:r>
            <a:br>
              <a:rPr lang="ja-JP" altLang="en-US" dirty="0"/>
            </a:br>
            <a:r>
              <a:rPr lang="ja-JP" altLang="en-US" dirty="0"/>
              <a:t>・</a:t>
            </a:r>
            <a:r>
              <a:rPr lang="en-US" altLang="ja-JP" dirty="0"/>
              <a:t>LLM</a:t>
            </a:r>
            <a:r>
              <a:rPr lang="ja-JP" altLang="en-US" dirty="0"/>
              <a:t>を活用することで、口コミ感情や競合状況など</a:t>
            </a:r>
            <a:endParaRPr lang="en-US" altLang="ja-JP" dirty="0"/>
          </a:p>
          <a:p>
            <a:r>
              <a:rPr lang="en-US" altLang="ja-JP" dirty="0"/>
              <a:t>  </a:t>
            </a:r>
            <a:r>
              <a:rPr lang="ja-JP" altLang="en-US" dirty="0"/>
              <a:t>複数要因を考慮した</a:t>
            </a:r>
            <a:endParaRPr lang="en-US" altLang="ja-JP" dirty="0"/>
          </a:p>
          <a:p>
            <a:r>
              <a:rPr lang="ja-JP" altLang="en-US" dirty="0"/>
              <a:t>  根拠ある価格提案が実現できると考えられる</a:t>
            </a:r>
            <a:endParaRPr lang="en-US" altLang="ja-JP" dirty="0"/>
          </a:p>
          <a:p>
            <a:endParaRPr lang="ja-JP" altLang="en-US" dirty="0"/>
          </a:p>
          <a:p>
            <a:r>
              <a:rPr lang="ja-JP" altLang="en-US" b="1" dirty="0"/>
              <a:t>→ </a:t>
            </a:r>
            <a:r>
              <a:rPr lang="ja-JP" altLang="en-US" b="1" u="sng" dirty="0"/>
              <a:t>価格意思決定支援における</a:t>
            </a:r>
            <a:r>
              <a:rPr lang="en-US" altLang="ja-JP" b="1" u="sng" dirty="0"/>
              <a:t>LLM</a:t>
            </a:r>
            <a:r>
              <a:rPr lang="ja-JP" altLang="en-US" b="1" u="sng" dirty="0"/>
              <a:t>活用の有用性を確認</a:t>
            </a:r>
            <a:endParaRPr kumimoji="1" lang="en-US" altLang="ja-JP" b="1" u="sng" dirty="0"/>
          </a:p>
          <a:p>
            <a:endParaRPr kumimoji="1" lang="en-US" altLang="ja-JP" dirty="0"/>
          </a:p>
          <a:p>
            <a:endParaRPr kumimoji="1" lang="en-US" altLang="ja-JP" dirty="0"/>
          </a:p>
        </p:txBody>
      </p:sp>
      <p:pic>
        <p:nvPicPr>
          <p:cNvPr id="6" name="図 5">
            <a:extLst>
              <a:ext uri="{FF2B5EF4-FFF2-40B4-BE49-F238E27FC236}">
                <a16:creationId xmlns:a16="http://schemas.microsoft.com/office/drawing/2014/main" id="{9506D289-C4ED-A868-AE1F-86185725EB27}"/>
              </a:ext>
            </a:extLst>
          </p:cNvPr>
          <p:cNvPicPr>
            <a:picLocks noChangeAspect="1"/>
          </p:cNvPicPr>
          <p:nvPr/>
        </p:nvPicPr>
        <p:blipFill>
          <a:blip r:embed="rId2" cstate="print">
            <a:extLst>
              <a:ext uri="{28A0092B-C50C-407E-A947-70E740481C1C}">
                <a14:useLocalDpi xmlns:a14="http://schemas.microsoft.com/office/drawing/2010/main" val="0"/>
              </a:ext>
            </a:extLst>
          </a:blip>
          <a:srcRect l="-1755" t="65812" r="60843" b="-516"/>
          <a:stretch>
            <a:fillRect/>
          </a:stretch>
        </p:blipFill>
        <p:spPr>
          <a:xfrm>
            <a:off x="2417017" y="1420113"/>
            <a:ext cx="864167" cy="690906"/>
          </a:xfrm>
          <a:prstGeom prst="rect">
            <a:avLst/>
          </a:prstGeom>
        </p:spPr>
      </p:pic>
      <p:sp>
        <p:nvSpPr>
          <p:cNvPr id="7" name="テキスト ボックス 6">
            <a:extLst>
              <a:ext uri="{FF2B5EF4-FFF2-40B4-BE49-F238E27FC236}">
                <a16:creationId xmlns:a16="http://schemas.microsoft.com/office/drawing/2014/main" id="{D2D99016-53F4-4839-3D10-C02491D46DD7}"/>
              </a:ext>
            </a:extLst>
          </p:cNvPr>
          <p:cNvSpPr txBox="1"/>
          <p:nvPr/>
        </p:nvSpPr>
        <p:spPr>
          <a:xfrm>
            <a:off x="2278885" y="2112243"/>
            <a:ext cx="1638064" cy="584775"/>
          </a:xfrm>
          <a:prstGeom prst="rect">
            <a:avLst/>
          </a:prstGeom>
          <a:noFill/>
        </p:spPr>
        <p:txBody>
          <a:bodyPr wrap="square" rtlCol="0">
            <a:spAutoFit/>
          </a:bodyPr>
          <a:lstStyle/>
          <a:p>
            <a:r>
              <a:rPr lang="ja-JP" altLang="en-US" sz="1600" b="1" dirty="0">
                <a:latin typeface="+mn-ea"/>
              </a:rPr>
              <a:t>需要</a:t>
            </a:r>
            <a:r>
              <a:rPr lang="en-US" altLang="ja-JP" sz="1600" b="1" dirty="0">
                <a:latin typeface="+mn-ea"/>
              </a:rPr>
              <a:t>(</a:t>
            </a:r>
            <a:r>
              <a:rPr lang="ja-JP" altLang="en-US" sz="1600" b="1" dirty="0">
                <a:latin typeface="+mn-ea"/>
              </a:rPr>
              <a:t>稼働率</a:t>
            </a:r>
            <a:r>
              <a:rPr lang="en-US" altLang="ja-JP" sz="1600" b="1" dirty="0">
                <a:latin typeface="+mn-ea"/>
              </a:rPr>
              <a:t>)</a:t>
            </a:r>
            <a:br>
              <a:rPr lang="en-US" altLang="ja-JP" sz="1600" b="1" dirty="0">
                <a:latin typeface="+mn-ea"/>
              </a:rPr>
            </a:br>
            <a:r>
              <a:rPr lang="ja-JP" altLang="en-US" sz="1600" b="1" dirty="0">
                <a:latin typeface="+mn-ea"/>
              </a:rPr>
              <a:t>予測結果</a:t>
            </a:r>
            <a:endParaRPr lang="en-US" altLang="ja-JP" sz="1600" b="1" dirty="0">
              <a:latin typeface="+mn-ea"/>
            </a:endParaRPr>
          </a:p>
        </p:txBody>
      </p:sp>
      <p:grpSp>
        <p:nvGrpSpPr>
          <p:cNvPr id="53" name="グループ化 52">
            <a:extLst>
              <a:ext uri="{FF2B5EF4-FFF2-40B4-BE49-F238E27FC236}">
                <a16:creationId xmlns:a16="http://schemas.microsoft.com/office/drawing/2014/main" id="{8A934A3B-4665-E6AA-B510-91275A129C76}"/>
              </a:ext>
            </a:extLst>
          </p:cNvPr>
          <p:cNvGrpSpPr/>
          <p:nvPr/>
        </p:nvGrpSpPr>
        <p:grpSpPr>
          <a:xfrm>
            <a:off x="64546" y="1513923"/>
            <a:ext cx="1041395" cy="795271"/>
            <a:chOff x="439924" y="1855051"/>
            <a:chExt cx="1041395" cy="795271"/>
          </a:xfrm>
        </p:grpSpPr>
        <p:sp>
          <p:nvSpPr>
            <p:cNvPr id="9" name="テキスト ボックス 8">
              <a:extLst>
                <a:ext uri="{FF2B5EF4-FFF2-40B4-BE49-F238E27FC236}">
                  <a16:creationId xmlns:a16="http://schemas.microsoft.com/office/drawing/2014/main" id="{786810F5-A906-A644-F46C-94926F3481D2}"/>
                </a:ext>
              </a:extLst>
            </p:cNvPr>
            <p:cNvSpPr txBox="1"/>
            <p:nvPr/>
          </p:nvSpPr>
          <p:spPr>
            <a:xfrm>
              <a:off x="439924" y="2342545"/>
              <a:ext cx="1041395"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レビュー情報</a:t>
              </a:r>
              <a:endParaRPr lang="en-US" altLang="ja-JP" sz="1400" b="1" dirty="0">
                <a:latin typeface="+mn-ea"/>
              </a:endParaRPr>
            </a:p>
          </p:txBody>
        </p:sp>
        <p:sp>
          <p:nvSpPr>
            <p:cNvPr id="10" name="テキスト ボックス 9">
              <a:extLst>
                <a:ext uri="{FF2B5EF4-FFF2-40B4-BE49-F238E27FC236}">
                  <a16:creationId xmlns:a16="http://schemas.microsoft.com/office/drawing/2014/main" id="{0210002D-446D-0C47-1F78-5D0ED41E1364}"/>
                </a:ext>
              </a:extLst>
            </p:cNvPr>
            <p:cNvSpPr txBox="1"/>
            <p:nvPr/>
          </p:nvSpPr>
          <p:spPr>
            <a:xfrm>
              <a:off x="446827" y="185505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ホテル情報</a:t>
              </a:r>
              <a:endParaRPr lang="en-US" altLang="ja-JP" sz="1400" b="1" dirty="0">
                <a:latin typeface="+mn-ea"/>
              </a:endParaRPr>
            </a:p>
          </p:txBody>
        </p:sp>
      </p:grpSp>
      <p:sp>
        <p:nvSpPr>
          <p:cNvPr id="19" name="テキスト ボックス 18">
            <a:extLst>
              <a:ext uri="{FF2B5EF4-FFF2-40B4-BE49-F238E27FC236}">
                <a16:creationId xmlns:a16="http://schemas.microsoft.com/office/drawing/2014/main" id="{5BA5F6F6-2832-7B66-99FD-07F05CC38759}"/>
              </a:ext>
            </a:extLst>
          </p:cNvPr>
          <p:cNvSpPr txBox="1"/>
          <p:nvPr/>
        </p:nvSpPr>
        <p:spPr>
          <a:xfrm>
            <a:off x="5976427" y="2973324"/>
            <a:ext cx="6009280" cy="584775"/>
          </a:xfrm>
          <a:prstGeom prst="rect">
            <a:avLst/>
          </a:prstGeom>
          <a:noFill/>
        </p:spPr>
        <p:txBody>
          <a:bodyPr wrap="square" rtlCol="0">
            <a:spAutoFit/>
          </a:bodyPr>
          <a:lstStyle/>
          <a:p>
            <a:r>
              <a:rPr lang="ja-JP" altLang="en-US" sz="1600" b="1" dirty="0"/>
              <a:t>     →  価格の妥当性を</a:t>
            </a:r>
            <a:r>
              <a:rPr lang="en-US" altLang="ja-JP" sz="1600" b="1" dirty="0"/>
              <a:t>LLM</a:t>
            </a:r>
            <a:r>
              <a:rPr lang="ja-JP" altLang="en-US" sz="1600" b="1" dirty="0"/>
              <a:t>に判断させることで</a:t>
            </a:r>
            <a:endParaRPr lang="en-US" altLang="ja-JP" sz="1600" b="1" dirty="0"/>
          </a:p>
          <a:p>
            <a:r>
              <a:rPr lang="ja-JP" altLang="en-US" sz="1600" b="1" dirty="0"/>
              <a:t>　　  </a:t>
            </a:r>
            <a:r>
              <a:rPr lang="ja-JP" altLang="en-US" sz="1600" u="sng" dirty="0"/>
              <a:t> 複数要因を考慮し、</a:t>
            </a:r>
            <a:r>
              <a:rPr lang="ja-JP" altLang="en-US" sz="1600" b="1" u="sng" dirty="0">
                <a:solidFill>
                  <a:srgbClr val="882312"/>
                </a:solidFill>
              </a:rPr>
              <a:t>「なぜその価格か</a:t>
            </a:r>
            <a:r>
              <a:rPr lang="ja-JP" altLang="en-US" sz="1600" u="sng" dirty="0"/>
              <a:t>」まで説明できる提案へ</a:t>
            </a:r>
            <a:endParaRPr lang="en-US" altLang="ja-JP" sz="1600" u="sng" dirty="0">
              <a:solidFill>
                <a:srgbClr val="002060"/>
              </a:solidFill>
            </a:endParaRPr>
          </a:p>
        </p:txBody>
      </p:sp>
      <p:sp>
        <p:nvSpPr>
          <p:cNvPr id="34" name="コンテンツ プレースホルダー 1">
            <a:extLst>
              <a:ext uri="{FF2B5EF4-FFF2-40B4-BE49-F238E27FC236}">
                <a16:creationId xmlns:a16="http://schemas.microsoft.com/office/drawing/2014/main" id="{2B9EC960-6D14-284C-42F5-DDA70AFDA78B}"/>
              </a:ext>
            </a:extLst>
          </p:cNvPr>
          <p:cNvSpPr txBox="1">
            <a:spLocks/>
          </p:cNvSpPr>
          <p:nvPr/>
        </p:nvSpPr>
        <p:spPr>
          <a:xfrm>
            <a:off x="48918" y="3969922"/>
            <a:ext cx="6126425" cy="417942"/>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問題設定：定量的に競合との比較を行うアルゴリズムが存在しない</a:t>
            </a:r>
            <a:endParaRPr lang="en-US" altLang="ja-JP" sz="1600" dirty="0"/>
          </a:p>
        </p:txBody>
      </p:sp>
      <p:sp>
        <p:nvSpPr>
          <p:cNvPr id="49" name="テキスト ボックス 48">
            <a:extLst>
              <a:ext uri="{FF2B5EF4-FFF2-40B4-BE49-F238E27FC236}">
                <a16:creationId xmlns:a16="http://schemas.microsoft.com/office/drawing/2014/main" id="{97CA74BC-19DF-D014-3CF8-DA2551AA38FD}"/>
              </a:ext>
            </a:extLst>
          </p:cNvPr>
          <p:cNvSpPr txBox="1"/>
          <p:nvPr/>
        </p:nvSpPr>
        <p:spPr>
          <a:xfrm>
            <a:off x="3668414" y="2678380"/>
            <a:ext cx="181149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候補から最大需要を選択</a:t>
            </a:r>
            <a:endParaRPr lang="en-US" altLang="ja-JP" sz="1200" b="1" dirty="0">
              <a:latin typeface="+mn-ea"/>
            </a:endParaRPr>
          </a:p>
        </p:txBody>
      </p:sp>
      <p:sp>
        <p:nvSpPr>
          <p:cNvPr id="51" name="テキスト ボックス 50">
            <a:extLst>
              <a:ext uri="{FF2B5EF4-FFF2-40B4-BE49-F238E27FC236}">
                <a16:creationId xmlns:a16="http://schemas.microsoft.com/office/drawing/2014/main" id="{21240AF9-3152-8F26-AA79-7415E3397B23}"/>
              </a:ext>
            </a:extLst>
          </p:cNvPr>
          <p:cNvSpPr txBox="1"/>
          <p:nvPr/>
        </p:nvSpPr>
        <p:spPr>
          <a:xfrm>
            <a:off x="326780" y="2467901"/>
            <a:ext cx="1735054"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a:t>
            </a:r>
            <a:r>
              <a:rPr lang="en-US" altLang="ja-JP" sz="1200" b="1" dirty="0">
                <a:latin typeface="+mn-ea"/>
              </a:rPr>
              <a:t>Word2vec</a:t>
            </a:r>
            <a:r>
              <a:rPr lang="ja-JP" altLang="en-US" sz="1200" b="1" dirty="0">
                <a:latin typeface="+mn-ea"/>
              </a:rPr>
              <a:t>・</a:t>
            </a:r>
            <a:r>
              <a:rPr lang="en-US" altLang="ja-JP" sz="1200" b="1" dirty="0">
                <a:latin typeface="+mn-ea"/>
              </a:rPr>
              <a:t>K-means</a:t>
            </a:r>
            <a:r>
              <a:rPr lang="ja-JP" altLang="en-US" sz="1200" b="1" dirty="0">
                <a:latin typeface="+mn-ea"/>
              </a:rPr>
              <a:t>で属性抽出</a:t>
            </a:r>
            <a:endParaRPr lang="en-US" altLang="ja-JP" sz="1200" b="1" dirty="0">
              <a:latin typeface="+mn-ea"/>
            </a:endParaRPr>
          </a:p>
        </p:txBody>
      </p:sp>
      <p:grpSp>
        <p:nvGrpSpPr>
          <p:cNvPr id="54" name="グループ化 53">
            <a:extLst>
              <a:ext uri="{FF2B5EF4-FFF2-40B4-BE49-F238E27FC236}">
                <a16:creationId xmlns:a16="http://schemas.microsoft.com/office/drawing/2014/main" id="{06002120-0AAE-8969-3028-2F1246676E78}"/>
              </a:ext>
            </a:extLst>
          </p:cNvPr>
          <p:cNvGrpSpPr/>
          <p:nvPr/>
        </p:nvGrpSpPr>
        <p:grpSpPr>
          <a:xfrm>
            <a:off x="4038911" y="1342773"/>
            <a:ext cx="990230" cy="1278741"/>
            <a:chOff x="431085" y="1371581"/>
            <a:chExt cx="990230" cy="1278741"/>
          </a:xfrm>
        </p:grpSpPr>
        <p:sp>
          <p:nvSpPr>
            <p:cNvPr id="55" name="テキスト ボックス 54">
              <a:extLst>
                <a:ext uri="{FF2B5EF4-FFF2-40B4-BE49-F238E27FC236}">
                  <a16:creationId xmlns:a16="http://schemas.microsoft.com/office/drawing/2014/main" id="{448EAAEC-C7AF-C2C2-D44D-3C6FE376DF3C}"/>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50%</a:t>
              </a:r>
            </a:p>
          </p:txBody>
        </p:sp>
        <p:sp>
          <p:nvSpPr>
            <p:cNvPr id="56" name="テキスト ボックス 55">
              <a:extLst>
                <a:ext uri="{FF2B5EF4-FFF2-40B4-BE49-F238E27FC236}">
                  <a16:creationId xmlns:a16="http://schemas.microsoft.com/office/drawing/2014/main" id="{174EE4A2-7FD9-D3B0-D7BE-D7A8096341AF}"/>
                </a:ext>
              </a:extLst>
            </p:cNvPr>
            <p:cNvSpPr txBox="1"/>
            <p:nvPr/>
          </p:nvSpPr>
          <p:spPr>
            <a:xfrm>
              <a:off x="431085" y="1371581"/>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a:t>
              </a:r>
              <a:r>
                <a:rPr lang="ja-JP" altLang="en-US" sz="1400" b="1" dirty="0">
                  <a:latin typeface="+mn-ea"/>
                </a:rPr>
                <a:t>　</a:t>
              </a:r>
              <a:r>
                <a:rPr lang="en-US" altLang="ja-JP" sz="1400" b="1" dirty="0">
                  <a:latin typeface="+mn-ea"/>
                </a:rPr>
                <a:t>70%</a:t>
              </a:r>
            </a:p>
          </p:txBody>
        </p:sp>
        <p:sp>
          <p:nvSpPr>
            <p:cNvPr id="57" name="テキスト ボックス 56">
              <a:extLst>
                <a:ext uri="{FF2B5EF4-FFF2-40B4-BE49-F238E27FC236}">
                  <a16:creationId xmlns:a16="http://schemas.microsoft.com/office/drawing/2014/main" id="{8BF2734D-F928-2770-EE8E-BEBE34A77C2E}"/>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76" name="矢印: 右 75">
            <a:extLst>
              <a:ext uri="{FF2B5EF4-FFF2-40B4-BE49-F238E27FC236}">
                <a16:creationId xmlns:a16="http://schemas.microsoft.com/office/drawing/2014/main" id="{BCD84CF5-CEA0-C6AE-A637-7E36CCF44419}"/>
              </a:ext>
            </a:extLst>
          </p:cNvPr>
          <p:cNvSpPr/>
          <p:nvPr/>
        </p:nvSpPr>
        <p:spPr>
          <a:xfrm>
            <a:off x="3467088" y="1638234"/>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4DDFFC0F-0B3E-16C5-257F-E1315CED6EB8}"/>
              </a:ext>
            </a:extLst>
          </p:cNvPr>
          <p:cNvSpPr txBox="1"/>
          <p:nvPr/>
        </p:nvSpPr>
        <p:spPr>
          <a:xfrm>
            <a:off x="-3752" y="6216778"/>
            <a:ext cx="5865940" cy="584775"/>
          </a:xfrm>
          <a:prstGeom prst="rect">
            <a:avLst/>
          </a:prstGeom>
          <a:noFill/>
        </p:spPr>
        <p:txBody>
          <a:bodyPr wrap="square" rtlCol="0">
            <a:spAutoFit/>
          </a:bodyPr>
          <a:lstStyle/>
          <a:p>
            <a:r>
              <a:rPr lang="ja-JP" altLang="en-US" sz="1600" b="1" dirty="0"/>
              <a:t>  →  ルールベースのみでは </a:t>
            </a:r>
            <a:r>
              <a:rPr lang="ja-JP" altLang="en-US" sz="1600" b="1" u="sng" dirty="0">
                <a:solidFill>
                  <a:srgbClr val="882312"/>
                </a:solidFill>
              </a:rPr>
              <a:t>判断の妥当性 に限界がある</a:t>
            </a:r>
            <a:br>
              <a:rPr lang="en-US" altLang="ja-JP" sz="1600" dirty="0"/>
            </a:br>
            <a:r>
              <a:rPr lang="en-US" altLang="ja-JP" sz="1600" dirty="0"/>
              <a:t>       </a:t>
            </a:r>
            <a:r>
              <a:rPr lang="ja-JP" altLang="en-US" sz="1600" dirty="0"/>
              <a:t> </a:t>
            </a:r>
            <a:r>
              <a:rPr lang="en-US" altLang="ja-JP" sz="1600" dirty="0"/>
              <a:t>(</a:t>
            </a:r>
            <a:r>
              <a:rPr lang="ja-JP" altLang="en-US" sz="1600" dirty="0"/>
              <a:t>どのような根拠でその価格なのか理解が難しい</a:t>
            </a:r>
            <a:r>
              <a:rPr lang="en-US" altLang="ja-JP" sz="1600" dirty="0"/>
              <a:t>)</a:t>
            </a:r>
            <a:endParaRPr lang="ja-JP" altLang="en-US" sz="1600" dirty="0">
              <a:latin typeface="+mn-ea"/>
            </a:endParaRPr>
          </a:p>
        </p:txBody>
      </p:sp>
      <p:grpSp>
        <p:nvGrpSpPr>
          <p:cNvPr id="15" name="グループ化 14">
            <a:extLst>
              <a:ext uri="{FF2B5EF4-FFF2-40B4-BE49-F238E27FC236}">
                <a16:creationId xmlns:a16="http://schemas.microsoft.com/office/drawing/2014/main" id="{85E9244D-26BB-0972-2E73-58E2EFCAA431}"/>
              </a:ext>
            </a:extLst>
          </p:cNvPr>
          <p:cNvGrpSpPr/>
          <p:nvPr/>
        </p:nvGrpSpPr>
        <p:grpSpPr>
          <a:xfrm>
            <a:off x="335236" y="4437436"/>
            <a:ext cx="5432818" cy="1357656"/>
            <a:chOff x="335236" y="4437436"/>
            <a:chExt cx="5432818" cy="1357656"/>
          </a:xfrm>
        </p:grpSpPr>
        <p:sp>
          <p:nvSpPr>
            <p:cNvPr id="65" name="テキスト ボックス 64">
              <a:extLst>
                <a:ext uri="{FF2B5EF4-FFF2-40B4-BE49-F238E27FC236}">
                  <a16:creationId xmlns:a16="http://schemas.microsoft.com/office/drawing/2014/main" id="{57145599-870E-5C00-0139-0FA13BE282FE}"/>
                </a:ext>
              </a:extLst>
            </p:cNvPr>
            <p:cNvSpPr txBox="1"/>
            <p:nvPr/>
          </p:nvSpPr>
          <p:spPr>
            <a:xfrm>
              <a:off x="4478003"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66" name="テキスト ボックス 65">
              <a:extLst>
                <a:ext uri="{FF2B5EF4-FFF2-40B4-BE49-F238E27FC236}">
                  <a16:creationId xmlns:a16="http://schemas.microsoft.com/office/drawing/2014/main" id="{3DF09FA2-15E1-99B7-7F66-9B45FFF1215D}"/>
                </a:ext>
              </a:extLst>
            </p:cNvPr>
            <p:cNvSpPr txBox="1"/>
            <p:nvPr/>
          </p:nvSpPr>
          <p:spPr>
            <a:xfrm>
              <a:off x="4260548" y="533342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スコアによって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75" name="矢印: 右 74">
              <a:extLst>
                <a:ext uri="{FF2B5EF4-FFF2-40B4-BE49-F238E27FC236}">
                  <a16:creationId xmlns:a16="http://schemas.microsoft.com/office/drawing/2014/main" id="{D50536E6-4B4D-AAA5-163D-0043A915698F}"/>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矢印: 右 76">
              <a:extLst>
                <a:ext uri="{FF2B5EF4-FFF2-40B4-BE49-F238E27FC236}">
                  <a16:creationId xmlns:a16="http://schemas.microsoft.com/office/drawing/2014/main" id="{9EA0A796-2750-12FF-F7C2-A0016CD82BD6}"/>
                </a:ext>
              </a:extLst>
            </p:cNvPr>
            <p:cNvSpPr/>
            <p:nvPr/>
          </p:nvSpPr>
          <p:spPr>
            <a:xfrm>
              <a:off x="402042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E7F2D1CE-FA34-A909-F926-35A30B922E2E}"/>
                </a:ext>
              </a:extLst>
            </p:cNvPr>
            <p:cNvGrpSpPr/>
            <p:nvPr/>
          </p:nvGrpSpPr>
          <p:grpSpPr>
            <a:xfrm>
              <a:off x="335236" y="4437436"/>
              <a:ext cx="1018813" cy="1278741"/>
              <a:chOff x="439925" y="1371581"/>
              <a:chExt cx="1018813" cy="1278741"/>
            </a:xfrm>
          </p:grpSpPr>
          <p:sp>
            <p:nvSpPr>
              <p:cNvPr id="4" name="テキスト ボックス 3">
                <a:extLst>
                  <a:ext uri="{FF2B5EF4-FFF2-40B4-BE49-F238E27FC236}">
                    <a16:creationId xmlns:a16="http://schemas.microsoft.com/office/drawing/2014/main" id="{2C49C24D-047B-CE99-FE1F-C3853999F2C0}"/>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8" name="テキスト ボックス 7">
                <a:extLst>
                  <a:ext uri="{FF2B5EF4-FFF2-40B4-BE49-F238E27FC236}">
                    <a16:creationId xmlns:a16="http://schemas.microsoft.com/office/drawing/2014/main" id="{7E898719-DEBB-3665-298F-446AACD1D52A}"/>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3" name="テキスト ボックス 12">
                <a:extLst>
                  <a:ext uri="{FF2B5EF4-FFF2-40B4-BE49-F238E27FC236}">
                    <a16:creationId xmlns:a16="http://schemas.microsoft.com/office/drawing/2014/main" id="{A4A49B9D-B738-05C4-B4CC-A6F86FAC1522}"/>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17" name="グループ化 16">
            <a:extLst>
              <a:ext uri="{FF2B5EF4-FFF2-40B4-BE49-F238E27FC236}">
                <a16:creationId xmlns:a16="http://schemas.microsoft.com/office/drawing/2014/main" id="{28792319-C9AD-1D61-1B20-02B16BE12DD2}"/>
              </a:ext>
            </a:extLst>
          </p:cNvPr>
          <p:cNvGrpSpPr/>
          <p:nvPr/>
        </p:nvGrpSpPr>
        <p:grpSpPr>
          <a:xfrm>
            <a:off x="6335063" y="1248535"/>
            <a:ext cx="5663722" cy="1311476"/>
            <a:chOff x="335236" y="4437436"/>
            <a:chExt cx="5663722" cy="1311476"/>
          </a:xfrm>
        </p:grpSpPr>
        <p:sp>
          <p:nvSpPr>
            <p:cNvPr id="22" name="テキスト ボックス 21">
              <a:extLst>
                <a:ext uri="{FF2B5EF4-FFF2-40B4-BE49-F238E27FC236}">
                  <a16:creationId xmlns:a16="http://schemas.microsoft.com/office/drawing/2014/main" id="{11C4EFFC-0356-3573-686D-4DEAB744C54F}"/>
                </a:ext>
              </a:extLst>
            </p:cNvPr>
            <p:cNvSpPr txBox="1"/>
            <p:nvPr/>
          </p:nvSpPr>
          <p:spPr>
            <a:xfrm>
              <a:off x="4708907"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25" name="テキスト ボックス 24">
              <a:extLst>
                <a:ext uri="{FF2B5EF4-FFF2-40B4-BE49-F238E27FC236}">
                  <a16:creationId xmlns:a16="http://schemas.microsoft.com/office/drawing/2014/main" id="{75BCBA34-9D22-828E-3B0E-D1408DE03954}"/>
                </a:ext>
              </a:extLst>
            </p:cNvPr>
            <p:cNvSpPr txBox="1"/>
            <p:nvPr/>
          </p:nvSpPr>
          <p:spPr>
            <a:xfrm>
              <a:off x="4491452" y="528724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26" name="矢印: 右 25">
              <a:extLst>
                <a:ext uri="{FF2B5EF4-FFF2-40B4-BE49-F238E27FC236}">
                  <a16:creationId xmlns:a16="http://schemas.microsoft.com/office/drawing/2014/main" id="{8B4ADE98-A0B4-F0F2-46DF-21B782971774}"/>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A7538F16-4748-7CA5-D21A-3BDA87BFC1AE}"/>
                </a:ext>
              </a:extLst>
            </p:cNvPr>
            <p:cNvSpPr/>
            <p:nvPr/>
          </p:nvSpPr>
          <p:spPr>
            <a:xfrm>
              <a:off x="406660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EBE9FE87-7AE9-664E-808A-A8BD3A5AD7F4}"/>
                </a:ext>
              </a:extLst>
            </p:cNvPr>
            <p:cNvGrpSpPr/>
            <p:nvPr/>
          </p:nvGrpSpPr>
          <p:grpSpPr>
            <a:xfrm>
              <a:off x="335236" y="4437436"/>
              <a:ext cx="1018813" cy="1278741"/>
              <a:chOff x="439925" y="1371581"/>
              <a:chExt cx="1018813" cy="1278741"/>
            </a:xfrm>
          </p:grpSpPr>
          <p:sp>
            <p:nvSpPr>
              <p:cNvPr id="30" name="テキスト ボックス 29">
                <a:extLst>
                  <a:ext uri="{FF2B5EF4-FFF2-40B4-BE49-F238E27FC236}">
                    <a16:creationId xmlns:a16="http://schemas.microsoft.com/office/drawing/2014/main" id="{17D4017F-239D-8E80-FF63-9795F12FE723}"/>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31" name="テキスト ボックス 30">
                <a:extLst>
                  <a:ext uri="{FF2B5EF4-FFF2-40B4-BE49-F238E27FC236}">
                    <a16:creationId xmlns:a16="http://schemas.microsoft.com/office/drawing/2014/main" id="{996A4C38-112F-65A5-01F3-E26D4467735A}"/>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32" name="テキスト ボックス 31">
                <a:extLst>
                  <a:ext uri="{FF2B5EF4-FFF2-40B4-BE49-F238E27FC236}">
                    <a16:creationId xmlns:a16="http://schemas.microsoft.com/office/drawing/2014/main" id="{F70BDCCC-F7BC-E812-E42B-AEFAF2B52BDF}"/>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37" name="グループ化 36">
            <a:extLst>
              <a:ext uri="{FF2B5EF4-FFF2-40B4-BE49-F238E27FC236}">
                <a16:creationId xmlns:a16="http://schemas.microsoft.com/office/drawing/2014/main" id="{F0228001-8644-D0DB-5157-53E5D4D58FB0}"/>
              </a:ext>
            </a:extLst>
          </p:cNvPr>
          <p:cNvGrpSpPr/>
          <p:nvPr/>
        </p:nvGrpSpPr>
        <p:grpSpPr>
          <a:xfrm>
            <a:off x="9958846" y="2168719"/>
            <a:ext cx="686646" cy="680868"/>
            <a:chOff x="2502041" y="2684818"/>
            <a:chExt cx="686646" cy="680868"/>
          </a:xfrm>
        </p:grpSpPr>
        <p:pic>
          <p:nvPicPr>
            <p:cNvPr id="38" name="グラフィックス 37" descr="頭の中の脳 枠線">
              <a:extLst>
                <a:ext uri="{FF2B5EF4-FFF2-40B4-BE49-F238E27FC236}">
                  <a16:creationId xmlns:a16="http://schemas.microsoft.com/office/drawing/2014/main" id="{D03F6E97-16BC-9C4E-BF8C-6E056DB52A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39" name="テキスト ボックス 38">
              <a:extLst>
                <a:ext uri="{FF2B5EF4-FFF2-40B4-BE49-F238E27FC236}">
                  <a16:creationId xmlns:a16="http://schemas.microsoft.com/office/drawing/2014/main" id="{A943CC44-D735-6A7C-E82F-25BEA198C194}"/>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1" name="グループ化 40">
            <a:extLst>
              <a:ext uri="{FF2B5EF4-FFF2-40B4-BE49-F238E27FC236}">
                <a16:creationId xmlns:a16="http://schemas.microsoft.com/office/drawing/2014/main" id="{9E583566-ECC2-6AE7-035D-7C531B1FFA09}"/>
              </a:ext>
            </a:extLst>
          </p:cNvPr>
          <p:cNvGrpSpPr/>
          <p:nvPr/>
        </p:nvGrpSpPr>
        <p:grpSpPr>
          <a:xfrm>
            <a:off x="1857227" y="4477808"/>
            <a:ext cx="2050034" cy="1251404"/>
            <a:chOff x="7490243" y="1108361"/>
            <a:chExt cx="2050034" cy="1251404"/>
          </a:xfrm>
        </p:grpSpPr>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FA13670E-94F9-9718-B35F-9C728F76F65F}"/>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2" name="テキスト ボックス 41">
                  <a:extLst>
                    <a:ext uri="{FF2B5EF4-FFF2-40B4-BE49-F238E27FC236}">
                      <a16:creationId xmlns:a16="http://schemas.microsoft.com/office/drawing/2014/main" id="{5BFB89C8-139A-1B4F-12D6-ECC0F339399D}"/>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5"/>
                  <a:stretch>
                    <a:fillRect t="-719" b="-2878"/>
                  </a:stretch>
                </a:blipFill>
                <a:ln w="19050">
                  <a:prstDash val="sysDot"/>
                </a:ln>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EC528E41-A8A6-56E9-761D-4CB3413F3C66}"/>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grpSp>
        <p:nvGrpSpPr>
          <p:cNvPr id="46" name="グループ化 45">
            <a:extLst>
              <a:ext uri="{FF2B5EF4-FFF2-40B4-BE49-F238E27FC236}">
                <a16:creationId xmlns:a16="http://schemas.microsoft.com/office/drawing/2014/main" id="{B9FD2E61-6EAB-BC89-970F-6E525BB47657}"/>
              </a:ext>
            </a:extLst>
          </p:cNvPr>
          <p:cNvGrpSpPr/>
          <p:nvPr/>
        </p:nvGrpSpPr>
        <p:grpSpPr>
          <a:xfrm>
            <a:off x="7897094" y="1280702"/>
            <a:ext cx="2050034" cy="1251404"/>
            <a:chOff x="7490243" y="1108361"/>
            <a:chExt cx="2050034" cy="1251404"/>
          </a:xfrm>
        </p:grpSpPr>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0A81367B-1E70-DB21-D690-ED46BB220274}"/>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8" name="テキスト ボックス 47">
                  <a:extLst>
                    <a:ext uri="{FF2B5EF4-FFF2-40B4-BE49-F238E27FC236}">
                      <a16:creationId xmlns:a16="http://schemas.microsoft.com/office/drawing/2014/main" id="{6672555F-7D4B-6EE0-1B9E-7945C6FBAC3A}"/>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6"/>
                  <a:stretch>
                    <a:fillRect t="-719" b="-2878"/>
                  </a:stretch>
                </a:blipFill>
                <a:ln w="19050">
                  <a:prstDash val="sysDot"/>
                </a:ln>
              </p:spPr>
              <p:txBody>
                <a:bodyPr/>
                <a:lstStyle/>
                <a:p>
                  <a:r>
                    <a:rPr lang="ja-JP" altLang="en-US">
                      <a:noFill/>
                    </a:rPr>
                    <a:t> </a:t>
                  </a:r>
                </a:p>
              </p:txBody>
            </p:sp>
          </mc:Fallback>
        </mc:AlternateContent>
        <p:sp>
          <p:nvSpPr>
            <p:cNvPr id="50" name="テキスト ボックス 49">
              <a:extLst>
                <a:ext uri="{FF2B5EF4-FFF2-40B4-BE49-F238E27FC236}">
                  <a16:creationId xmlns:a16="http://schemas.microsoft.com/office/drawing/2014/main" id="{8A629DB8-2624-DE05-F0A1-8F27268CF3D4}"/>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sp>
        <p:nvSpPr>
          <p:cNvPr id="20" name="矢印: 右 19">
            <a:extLst>
              <a:ext uri="{FF2B5EF4-FFF2-40B4-BE49-F238E27FC236}">
                <a16:creationId xmlns:a16="http://schemas.microsoft.com/office/drawing/2014/main" id="{4F848156-3699-EA42-012C-008B92C5A5D9}"/>
              </a:ext>
            </a:extLst>
          </p:cNvPr>
          <p:cNvSpPr/>
          <p:nvPr/>
        </p:nvSpPr>
        <p:spPr>
          <a:xfrm>
            <a:off x="1746625" y="1644066"/>
            <a:ext cx="364131" cy="538243"/>
          </a:xfrm>
          <a:prstGeom prst="rightArrow">
            <a:avLst>
              <a:gd name="adj1" fmla="val 74024"/>
              <a:gd name="adj2" fmla="val 5000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コンテンツ プレースホルダー 1">
            <a:extLst>
              <a:ext uri="{FF2B5EF4-FFF2-40B4-BE49-F238E27FC236}">
                <a16:creationId xmlns:a16="http://schemas.microsoft.com/office/drawing/2014/main" id="{8C310630-1150-9716-3122-A4A1E6FB85A4}"/>
              </a:ext>
            </a:extLst>
          </p:cNvPr>
          <p:cNvSpPr txBox="1">
            <a:spLocks/>
          </p:cNvSpPr>
          <p:nvPr/>
        </p:nvSpPr>
        <p:spPr>
          <a:xfrm>
            <a:off x="6622764" y="816540"/>
            <a:ext cx="6126425" cy="417942"/>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問題設定：ホテルの苦情のレビューは複雑で曖昧で扱いにくい</a:t>
            </a:r>
            <a:endParaRPr lang="en-US" altLang="ja-JP" sz="1600" dirty="0"/>
          </a:p>
        </p:txBody>
      </p:sp>
    </p:spTree>
    <p:extLst>
      <p:ext uri="{BB962C8B-B14F-4D97-AF65-F5344CB8AC3E}">
        <p14:creationId xmlns:p14="http://schemas.microsoft.com/office/powerpoint/2010/main" val="2761284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FA9D6-2319-C1EB-0478-80FD3AB590D0}"/>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FAD8DDEB-379C-2EA8-4822-9A66730823AC}"/>
              </a:ext>
            </a:extLst>
          </p:cNvPr>
          <p:cNvSpPr/>
          <p:nvPr/>
        </p:nvSpPr>
        <p:spPr>
          <a:xfrm>
            <a:off x="97849" y="1428288"/>
            <a:ext cx="11964449" cy="4842945"/>
          </a:xfrm>
          <a:prstGeom prst="rect">
            <a:avLst/>
          </a:prstGeom>
          <a:noFill/>
          <a:ln w="12700">
            <a:solidFill>
              <a:srgbClr val="1F494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F6AB0765-6E9A-8F11-6210-C70F2F51DB3F}"/>
              </a:ext>
            </a:extLst>
          </p:cNvPr>
          <p:cNvSpPr>
            <a:spLocks noGrp="1"/>
          </p:cNvSpPr>
          <p:nvPr>
            <p:ph idx="1"/>
          </p:nvPr>
        </p:nvSpPr>
        <p:spPr>
          <a:xfrm>
            <a:off x="260834" y="606223"/>
            <a:ext cx="11349318" cy="618573"/>
          </a:xfrm>
        </p:spPr>
        <p:txBody>
          <a:bodyPr>
            <a:normAutofit lnSpcReduction="10000"/>
          </a:bodyPr>
          <a:lstStyle/>
          <a:p>
            <a:r>
              <a:rPr lang="ja-JP" altLang="en-US" sz="2400" dirty="0"/>
              <a:t>口コミからホテルの評価を測定し、価格設定に活用するモデルを開発している。</a:t>
            </a:r>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D1273B27-F55C-4638-D4EF-8017CDF67647}"/>
              </a:ext>
            </a:extLst>
          </p:cNvPr>
          <p:cNvSpPr>
            <a:spLocks noGrp="1"/>
          </p:cNvSpPr>
          <p:nvPr>
            <p:ph type="body" sz="quarter" idx="11"/>
          </p:nvPr>
        </p:nvSpPr>
        <p:spPr/>
        <p:txBody>
          <a:bodyPr>
            <a:normAutofit fontScale="92500" lnSpcReduction="10000"/>
          </a:bodyPr>
          <a:lstStyle/>
          <a:p>
            <a:r>
              <a:rPr lang="ja-JP" altLang="en-US" b="1" dirty="0"/>
              <a:t>価格最適化モデルの全体構成</a:t>
            </a:r>
            <a:endParaRPr kumimoji="1" lang="ja-JP" altLang="en-US" b="1" dirty="0"/>
          </a:p>
        </p:txBody>
      </p:sp>
      <p:sp>
        <p:nvSpPr>
          <p:cNvPr id="14" name="矢印: 右 13">
            <a:extLst>
              <a:ext uri="{FF2B5EF4-FFF2-40B4-BE49-F238E27FC236}">
                <a16:creationId xmlns:a16="http://schemas.microsoft.com/office/drawing/2014/main" id="{305B170E-21E1-53FF-FD40-52C068D4AEDF}"/>
              </a:ext>
            </a:extLst>
          </p:cNvPr>
          <p:cNvSpPr/>
          <p:nvPr/>
        </p:nvSpPr>
        <p:spPr>
          <a:xfrm>
            <a:off x="2445752" y="2485732"/>
            <a:ext cx="1817336" cy="338554"/>
          </a:xfrm>
          <a:prstGeom prst="rightArrow">
            <a:avLst/>
          </a:prstGeom>
          <a:solidFill>
            <a:schemeClr val="accent4">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FA10DAB-A57E-C3EA-4EAA-B4E1F2C6C966}"/>
              </a:ext>
            </a:extLst>
          </p:cNvPr>
          <p:cNvSpPr txBox="1"/>
          <p:nvPr/>
        </p:nvSpPr>
        <p:spPr>
          <a:xfrm>
            <a:off x="2712855" y="3294344"/>
            <a:ext cx="1817336" cy="523220"/>
          </a:xfrm>
          <a:prstGeom prst="rect">
            <a:avLst/>
          </a:prstGeom>
          <a:noFill/>
        </p:spPr>
        <p:txBody>
          <a:bodyPr wrap="square" rtlCol="0">
            <a:spAutoFit/>
          </a:bodyPr>
          <a:lstStyle/>
          <a:p>
            <a:r>
              <a:rPr kumimoji="1" lang="ja-JP" altLang="en-US" sz="1400" b="1" dirty="0">
                <a:solidFill>
                  <a:srgbClr val="1F4944"/>
                </a:solidFill>
              </a:rPr>
              <a:t>感情分析モデル </a:t>
            </a:r>
            <a:endParaRPr lang="en-US" altLang="ja-JP" sz="1400" b="1" dirty="0">
              <a:solidFill>
                <a:srgbClr val="1F4944"/>
              </a:solidFill>
            </a:endParaRPr>
          </a:p>
          <a:p>
            <a:r>
              <a:rPr kumimoji="1" lang="ja-JP" altLang="en-US" sz="1400" b="1" dirty="0">
                <a:solidFill>
                  <a:srgbClr val="1F4944"/>
                </a:solidFill>
              </a:rPr>
              <a:t>  </a:t>
            </a:r>
            <a:r>
              <a:rPr kumimoji="1" lang="en-US" altLang="ja-JP" sz="1400" dirty="0">
                <a:solidFill>
                  <a:srgbClr val="1F4944"/>
                </a:solidFill>
              </a:rPr>
              <a:t>LLM</a:t>
            </a:r>
            <a:r>
              <a:rPr kumimoji="1" lang="ja-JP" altLang="en-US" sz="1400" dirty="0">
                <a:solidFill>
                  <a:srgbClr val="1F4944"/>
                </a:solidFill>
              </a:rPr>
              <a:t>・</a:t>
            </a:r>
            <a:r>
              <a:rPr kumimoji="1" lang="en-US" altLang="ja-JP" sz="1400" dirty="0">
                <a:solidFill>
                  <a:srgbClr val="1F4944"/>
                </a:solidFill>
              </a:rPr>
              <a:t>BERT</a:t>
            </a:r>
            <a:endParaRPr kumimoji="1" lang="ja-JP" altLang="en-US" sz="1400" dirty="0">
              <a:solidFill>
                <a:srgbClr val="1F4944"/>
              </a:solidFill>
            </a:endParaRPr>
          </a:p>
        </p:txBody>
      </p:sp>
      <p:grpSp>
        <p:nvGrpSpPr>
          <p:cNvPr id="94" name="グループ化 93">
            <a:extLst>
              <a:ext uri="{FF2B5EF4-FFF2-40B4-BE49-F238E27FC236}">
                <a16:creationId xmlns:a16="http://schemas.microsoft.com/office/drawing/2014/main" id="{0B43454D-B017-1FD0-5891-C6F491A14A5B}"/>
              </a:ext>
            </a:extLst>
          </p:cNvPr>
          <p:cNvGrpSpPr/>
          <p:nvPr/>
        </p:nvGrpSpPr>
        <p:grpSpPr>
          <a:xfrm>
            <a:off x="198905" y="1762540"/>
            <a:ext cx="2258055" cy="1192890"/>
            <a:chOff x="198905" y="1762540"/>
            <a:chExt cx="2258055" cy="1192890"/>
          </a:xfrm>
        </p:grpSpPr>
        <p:sp>
          <p:nvSpPr>
            <p:cNvPr id="8" name="テキスト ボックス 7">
              <a:extLst>
                <a:ext uri="{FF2B5EF4-FFF2-40B4-BE49-F238E27FC236}">
                  <a16:creationId xmlns:a16="http://schemas.microsoft.com/office/drawing/2014/main" id="{10891987-8F6A-8102-E8A2-CBF596762D21}"/>
                </a:ext>
              </a:extLst>
            </p:cNvPr>
            <p:cNvSpPr txBox="1"/>
            <p:nvPr/>
          </p:nvSpPr>
          <p:spPr>
            <a:xfrm>
              <a:off x="452275" y="2616876"/>
              <a:ext cx="1725594" cy="338554"/>
            </a:xfrm>
            <a:prstGeom prst="rect">
              <a:avLst/>
            </a:prstGeom>
            <a:noFill/>
          </p:spPr>
          <p:txBody>
            <a:bodyPr wrap="square" rtlCol="0">
              <a:spAutoFit/>
            </a:bodyPr>
            <a:lstStyle/>
            <a:p>
              <a:r>
                <a:rPr lang="ja-JP" altLang="en-US" sz="1600" b="1" dirty="0"/>
                <a:t>予約サイト口コミ</a:t>
              </a:r>
              <a:endParaRPr lang="en-US" altLang="ja-JP" sz="1600" b="1" dirty="0"/>
            </a:p>
          </p:txBody>
        </p:sp>
        <p:grpSp>
          <p:nvGrpSpPr>
            <p:cNvPr id="78" name="グループ化 77">
              <a:extLst>
                <a:ext uri="{FF2B5EF4-FFF2-40B4-BE49-F238E27FC236}">
                  <a16:creationId xmlns:a16="http://schemas.microsoft.com/office/drawing/2014/main" id="{17C32A5C-F764-D61E-DDE2-1947FAA6D365}"/>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DF362D8F-F420-649E-BFB2-43E6E814CD3E}"/>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67F62B62-2EAD-AD41-B66A-33B028B3492F}"/>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A0C7A14D-59AD-D04A-5BF2-B7D2E4DEB2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E69F9DD9-F41C-40B8-03BA-3D045321E29F}"/>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0D12503A-139D-3C33-5377-754173899D1B}"/>
              </a:ext>
            </a:extLst>
          </p:cNvPr>
          <p:cNvGraphicFramePr>
            <a:graphicFrameLocks noGrp="1"/>
          </p:cNvGraphicFramePr>
          <p:nvPr/>
        </p:nvGraphicFramePr>
        <p:xfrm>
          <a:off x="4645896" y="2206871"/>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1" dirty="0"/>
                        <a:t>清掃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600" b="1" dirty="0"/>
                        <a:t>食事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8567066"/>
                  </a:ext>
                </a:extLst>
              </a:tr>
              <a:tr h="323166">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4C01DF17-896E-A8F9-2D66-938659FFA4C1}"/>
              </a:ext>
            </a:extLst>
          </p:cNvPr>
          <p:cNvSpPr txBox="1"/>
          <p:nvPr/>
        </p:nvSpPr>
        <p:spPr>
          <a:xfrm>
            <a:off x="2520637" y="2075659"/>
            <a:ext cx="1698851"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観点別に定量化</a:t>
            </a:r>
            <a:endParaRPr kumimoji="1" lang="ja-JP" altLang="en-US" sz="1600" b="1" dirty="0"/>
          </a:p>
        </p:txBody>
      </p:sp>
      <p:sp>
        <p:nvSpPr>
          <p:cNvPr id="37" name="テキスト ボックス 36">
            <a:extLst>
              <a:ext uri="{FF2B5EF4-FFF2-40B4-BE49-F238E27FC236}">
                <a16:creationId xmlns:a16="http://schemas.microsoft.com/office/drawing/2014/main" id="{9A57D31D-C9EC-E580-BE38-EA8B20224F85}"/>
              </a:ext>
            </a:extLst>
          </p:cNvPr>
          <p:cNvSpPr txBox="1"/>
          <p:nvPr/>
        </p:nvSpPr>
        <p:spPr>
          <a:xfrm>
            <a:off x="3849317" y="4198123"/>
            <a:ext cx="1967980"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将来の稼働率を予測</a:t>
            </a:r>
            <a:endParaRPr kumimoji="1" lang="ja-JP" altLang="en-US" sz="1600" b="1" dirty="0"/>
          </a:p>
        </p:txBody>
      </p:sp>
      <p:grpSp>
        <p:nvGrpSpPr>
          <p:cNvPr id="55" name="グループ化 54">
            <a:extLst>
              <a:ext uri="{FF2B5EF4-FFF2-40B4-BE49-F238E27FC236}">
                <a16:creationId xmlns:a16="http://schemas.microsoft.com/office/drawing/2014/main" id="{50A67B5B-B6BD-4E7A-D921-A9DE73DD1A65}"/>
              </a:ext>
            </a:extLst>
          </p:cNvPr>
          <p:cNvGrpSpPr/>
          <p:nvPr/>
        </p:nvGrpSpPr>
        <p:grpSpPr>
          <a:xfrm>
            <a:off x="9966603" y="2761661"/>
            <a:ext cx="1941162" cy="1685556"/>
            <a:chOff x="9062645" y="2023293"/>
            <a:chExt cx="1941162" cy="1685556"/>
          </a:xfrm>
        </p:grpSpPr>
        <p:pic>
          <p:nvPicPr>
            <p:cNvPr id="56" name="図 55" descr="アイコン&#10;&#10;AI 生成コンテンツは誤りを含む可能性があります。">
              <a:extLst>
                <a:ext uri="{FF2B5EF4-FFF2-40B4-BE49-F238E27FC236}">
                  <a16:creationId xmlns:a16="http://schemas.microsoft.com/office/drawing/2014/main" id="{B290E498-FA90-FFAC-A1CB-DDE5FB7F4ECC}"/>
                </a:ext>
              </a:extLst>
            </p:cNvPr>
            <p:cNvPicPr>
              <a:picLocks noChangeAspect="1"/>
            </p:cNvPicPr>
            <p:nvPr/>
          </p:nvPicPr>
          <p:blipFill>
            <a:blip r:embed="rId4" cstate="print">
              <a:extLst>
                <a:ext uri="{28A0092B-C50C-407E-A947-70E740481C1C}">
                  <a14:useLocalDpi xmlns:a14="http://schemas.microsoft.com/office/drawing/2010/main" val="0"/>
                </a:ext>
              </a:extLst>
            </a:blip>
            <a:srcRect l="25864" t="51762" r="6336" b="-2321"/>
            <a:stretch>
              <a:fillRect/>
            </a:stretch>
          </p:blipFill>
          <p:spPr>
            <a:xfrm>
              <a:off x="9175266" y="2630778"/>
              <a:ext cx="1062042" cy="773173"/>
            </a:xfrm>
            <a:prstGeom prst="rect">
              <a:avLst/>
            </a:prstGeom>
          </p:spPr>
        </p:pic>
        <p:sp>
          <p:nvSpPr>
            <p:cNvPr id="57" name="吹き出し: 四角形 56">
              <a:extLst>
                <a:ext uri="{FF2B5EF4-FFF2-40B4-BE49-F238E27FC236}">
                  <a16:creationId xmlns:a16="http://schemas.microsoft.com/office/drawing/2014/main" id="{A17CC531-B5BD-16CE-F172-737C3C232071}"/>
                </a:ext>
              </a:extLst>
            </p:cNvPr>
            <p:cNvSpPr/>
            <p:nvPr/>
          </p:nvSpPr>
          <p:spPr>
            <a:xfrm>
              <a:off x="9561649" y="2023293"/>
              <a:ext cx="1407180" cy="576856"/>
            </a:xfrm>
            <a:prstGeom prst="wedgeRectCallout">
              <a:avLst>
                <a:gd name="adj1" fmla="val -26210"/>
                <a:gd name="adj2" fmla="val 7805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0A495238-420C-DCEF-B591-B1CF1FAB5DF7}"/>
                </a:ext>
              </a:extLst>
            </p:cNvPr>
            <p:cNvSpPr txBox="1"/>
            <p:nvPr/>
          </p:nvSpPr>
          <p:spPr>
            <a:xfrm>
              <a:off x="9062645" y="3401072"/>
              <a:ext cx="1841214" cy="307777"/>
            </a:xfrm>
            <a:prstGeom prst="rect">
              <a:avLst/>
            </a:prstGeom>
            <a:noFill/>
          </p:spPr>
          <p:txBody>
            <a:bodyPr wrap="square" rtlCol="0">
              <a:spAutoFit/>
            </a:bodyPr>
            <a:lstStyle/>
            <a:p>
              <a:r>
                <a:rPr lang="ja-JP" altLang="en-US" sz="1400" b="1" dirty="0"/>
                <a:t>価格提案</a:t>
              </a:r>
              <a:r>
                <a:rPr lang="en-US" altLang="ja-JP" sz="1400" b="1" dirty="0"/>
                <a:t>AI</a:t>
              </a:r>
            </a:p>
          </p:txBody>
        </p:sp>
        <p:sp>
          <p:nvSpPr>
            <p:cNvPr id="59" name="テキスト ボックス 58">
              <a:extLst>
                <a:ext uri="{FF2B5EF4-FFF2-40B4-BE49-F238E27FC236}">
                  <a16:creationId xmlns:a16="http://schemas.microsoft.com/office/drawing/2014/main" id="{EA5ACDEB-57EA-9721-B62E-ECAC572A2E76}"/>
                </a:ext>
              </a:extLst>
            </p:cNvPr>
            <p:cNvSpPr txBox="1"/>
            <p:nvPr/>
          </p:nvSpPr>
          <p:spPr>
            <a:xfrm>
              <a:off x="9596627" y="2047785"/>
              <a:ext cx="140718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latin typeface="+mn-ea"/>
                </a:rPr>
                <a:t>部屋価格は</a:t>
              </a:r>
              <a:endParaRPr lang="en-US" altLang="ja-JP" sz="1400" b="1">
                <a:latin typeface="+mn-ea"/>
              </a:endParaRPr>
            </a:p>
            <a:p>
              <a:r>
                <a:rPr lang="en-US" altLang="ja-JP" sz="1400" b="1">
                  <a:latin typeface="+mn-ea"/>
                </a:rPr>
                <a:t>16000</a:t>
              </a:r>
              <a:r>
                <a:rPr lang="ja-JP" altLang="en-US" sz="1400" b="1">
                  <a:latin typeface="+mn-ea"/>
                </a:rPr>
                <a:t>円</a:t>
              </a:r>
              <a:r>
                <a:rPr lang="ja-JP" altLang="en-US" sz="1400" b="1" dirty="0">
                  <a:latin typeface="+mn-ea"/>
                </a:rPr>
                <a:t>を提案</a:t>
              </a:r>
              <a:endParaRPr lang="en-US" altLang="ja-JP" sz="1400" b="1" dirty="0">
                <a:latin typeface="+mn-ea"/>
              </a:endParaRPr>
            </a:p>
          </p:txBody>
        </p:sp>
      </p:grpSp>
      <p:pic>
        <p:nvPicPr>
          <p:cNvPr id="64" name="図 63">
            <a:extLst>
              <a:ext uri="{FF2B5EF4-FFF2-40B4-BE49-F238E27FC236}">
                <a16:creationId xmlns:a16="http://schemas.microsoft.com/office/drawing/2014/main" id="{8CF97457-7311-A62D-9DDF-C1E76B3989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1443" y="2766748"/>
            <a:ext cx="479884" cy="520497"/>
          </a:xfrm>
          <a:prstGeom prst="rect">
            <a:avLst/>
          </a:prstGeom>
        </p:spPr>
      </p:pic>
      <p:grpSp>
        <p:nvGrpSpPr>
          <p:cNvPr id="54" name="グループ化 53">
            <a:extLst>
              <a:ext uri="{FF2B5EF4-FFF2-40B4-BE49-F238E27FC236}">
                <a16:creationId xmlns:a16="http://schemas.microsoft.com/office/drawing/2014/main" id="{84402B1E-35AF-C3E4-EFE3-401A09E99ADA}"/>
              </a:ext>
            </a:extLst>
          </p:cNvPr>
          <p:cNvGrpSpPr/>
          <p:nvPr/>
        </p:nvGrpSpPr>
        <p:grpSpPr>
          <a:xfrm>
            <a:off x="9454539" y="5101935"/>
            <a:ext cx="2155612" cy="886522"/>
            <a:chOff x="3566159" y="5151120"/>
            <a:chExt cx="2155612" cy="978785"/>
          </a:xfrm>
          <a:noFill/>
        </p:grpSpPr>
        <p:sp>
          <p:nvSpPr>
            <p:cNvPr id="52" name="四角形: 角を丸くする 51">
              <a:extLst>
                <a:ext uri="{FF2B5EF4-FFF2-40B4-BE49-F238E27FC236}">
                  <a16:creationId xmlns:a16="http://schemas.microsoft.com/office/drawing/2014/main" id="{3CFDF4EB-B61D-AC8F-C96B-79B8A570DCBE}"/>
                </a:ext>
              </a:extLst>
            </p:cNvPr>
            <p:cNvSpPr/>
            <p:nvPr/>
          </p:nvSpPr>
          <p:spPr>
            <a:xfrm>
              <a:off x="3566159" y="5151120"/>
              <a:ext cx="2155611" cy="978785"/>
            </a:xfrm>
            <a:prstGeom prst="wedgeRectCallout">
              <a:avLst>
                <a:gd name="adj1" fmla="val -27897"/>
                <a:gd name="adj2" fmla="val 62500"/>
              </a:avLst>
            </a:prstGeom>
            <a:grpFill/>
            <a:ln w="1905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71" name="テキスト ボックス 70">
              <a:extLst>
                <a:ext uri="{FF2B5EF4-FFF2-40B4-BE49-F238E27FC236}">
                  <a16:creationId xmlns:a16="http://schemas.microsoft.com/office/drawing/2014/main" id="{F03301D7-1347-550F-C791-A6FCD6B5358E}"/>
                </a:ext>
              </a:extLst>
            </p:cNvPr>
            <p:cNvSpPr txBox="1"/>
            <p:nvPr/>
          </p:nvSpPr>
          <p:spPr>
            <a:xfrm>
              <a:off x="3729528" y="5207263"/>
              <a:ext cx="1992243" cy="917481"/>
            </a:xfrm>
            <a:prstGeom prst="wedgeRectCallout">
              <a:avLst/>
            </a:prstGeom>
            <a:grp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latin typeface="+mn-ea"/>
                </a:rPr>
                <a:t>顧客の評価と</a:t>
              </a:r>
              <a:endParaRPr lang="en-US" altLang="ja-JP" sz="1600" b="1" dirty="0">
                <a:latin typeface="+mn-ea"/>
              </a:endParaRPr>
            </a:p>
            <a:p>
              <a:r>
                <a:rPr lang="ja-JP" altLang="en-US" sz="1600" b="1" dirty="0">
                  <a:latin typeface="+mn-ea"/>
                </a:rPr>
                <a:t>需要を考慮した</a:t>
              </a:r>
              <a:endParaRPr lang="en-US" altLang="ja-JP" sz="1600" b="1" dirty="0">
                <a:latin typeface="+mn-ea"/>
              </a:endParaRPr>
            </a:p>
            <a:p>
              <a:r>
                <a:rPr lang="ja-JP" altLang="en-US" sz="1600" b="1" dirty="0">
                  <a:latin typeface="+mn-ea"/>
                </a:rPr>
                <a:t>価格設定が可能に！</a:t>
              </a:r>
              <a:endParaRPr lang="en-US" altLang="ja-JP" sz="1600" b="1" dirty="0">
                <a:latin typeface="+mn-ea"/>
              </a:endParaRPr>
            </a:p>
          </p:txBody>
        </p:sp>
      </p:grpSp>
      <p:grpSp>
        <p:nvGrpSpPr>
          <p:cNvPr id="6" name="グループ化 5">
            <a:extLst>
              <a:ext uri="{FF2B5EF4-FFF2-40B4-BE49-F238E27FC236}">
                <a16:creationId xmlns:a16="http://schemas.microsoft.com/office/drawing/2014/main" id="{0888A982-4648-649C-35CF-AEA4A1DD75FB}"/>
              </a:ext>
            </a:extLst>
          </p:cNvPr>
          <p:cNvGrpSpPr/>
          <p:nvPr/>
        </p:nvGrpSpPr>
        <p:grpSpPr>
          <a:xfrm>
            <a:off x="5713616" y="4982661"/>
            <a:ext cx="1367806" cy="1143619"/>
            <a:chOff x="9277860" y="2602440"/>
            <a:chExt cx="1212105" cy="1016679"/>
          </a:xfrm>
        </p:grpSpPr>
        <p:sp>
          <p:nvSpPr>
            <p:cNvPr id="48" name="テキスト ボックス 47">
              <a:extLst>
                <a:ext uri="{FF2B5EF4-FFF2-40B4-BE49-F238E27FC236}">
                  <a16:creationId xmlns:a16="http://schemas.microsoft.com/office/drawing/2014/main" id="{EC8616AA-C980-9CED-7E9B-6B3EF77451A2}"/>
                </a:ext>
              </a:extLst>
            </p:cNvPr>
            <p:cNvSpPr txBox="1"/>
            <p:nvPr/>
          </p:nvSpPr>
          <p:spPr>
            <a:xfrm>
              <a:off x="9277860" y="3126614"/>
              <a:ext cx="1212105" cy="492505"/>
            </a:xfrm>
            <a:prstGeom prst="rect">
              <a:avLst/>
            </a:prstGeom>
            <a:noFill/>
          </p:spPr>
          <p:txBody>
            <a:bodyPr wrap="square" rtlCol="0">
              <a:spAutoFit/>
            </a:bodyPr>
            <a:lstStyle/>
            <a:p>
              <a:r>
                <a:rPr lang="ja-JP" altLang="en-US" sz="1600" b="1" dirty="0">
                  <a:latin typeface="+mn-ea"/>
                </a:rPr>
                <a:t> </a:t>
              </a:r>
              <a:r>
                <a:rPr lang="ja-JP" altLang="en-US" sz="1400" b="1" dirty="0">
                  <a:latin typeface="+mn-ea"/>
                </a:rPr>
                <a:t>稼働率</a:t>
              </a:r>
              <a:br>
                <a:rPr lang="en-US" altLang="ja-JP" sz="1400" b="1" dirty="0">
                  <a:latin typeface="+mn-ea"/>
                </a:rPr>
              </a:br>
              <a:r>
                <a:rPr lang="ja-JP" altLang="en-US" sz="1400" b="1" dirty="0">
                  <a:latin typeface="+mn-ea"/>
                </a:rPr>
                <a:t>予測結果</a:t>
              </a:r>
              <a:endParaRPr lang="en-US" altLang="ja-JP" sz="1400" b="1" dirty="0">
                <a:latin typeface="+mn-ea"/>
              </a:endParaRPr>
            </a:p>
          </p:txBody>
        </p:sp>
        <p:pic>
          <p:nvPicPr>
            <p:cNvPr id="76" name="図 75">
              <a:extLst>
                <a:ext uri="{FF2B5EF4-FFF2-40B4-BE49-F238E27FC236}">
                  <a16:creationId xmlns:a16="http://schemas.microsoft.com/office/drawing/2014/main" id="{F3AF011F-9F14-3273-ACE0-4F3A0786E448}"/>
                </a:ext>
              </a:extLst>
            </p:cNvPr>
            <p:cNvPicPr>
              <a:picLocks noChangeAspect="1"/>
            </p:cNvPicPr>
            <p:nvPr/>
          </p:nvPicPr>
          <p:blipFill>
            <a:blip r:embed="rId6" cstate="print">
              <a:extLst>
                <a:ext uri="{28A0092B-C50C-407E-A947-70E740481C1C}">
                  <a14:useLocalDpi xmlns:a14="http://schemas.microsoft.com/office/drawing/2010/main" val="0"/>
                </a:ext>
              </a:extLst>
            </a:blip>
            <a:srcRect l="-1755" t="65812" r="60843" b="-516"/>
            <a:stretch>
              <a:fillRect/>
            </a:stretch>
          </p:blipFill>
          <p:spPr>
            <a:xfrm>
              <a:off x="9305384" y="2602440"/>
              <a:ext cx="726022" cy="582314"/>
            </a:xfrm>
            <a:prstGeom prst="rect">
              <a:avLst/>
            </a:prstGeom>
          </p:spPr>
        </p:pic>
      </p:grpSp>
      <p:cxnSp>
        <p:nvCxnSpPr>
          <p:cNvPr id="105" name="コネクタ: カギ線 104">
            <a:extLst>
              <a:ext uri="{FF2B5EF4-FFF2-40B4-BE49-F238E27FC236}">
                <a16:creationId xmlns:a16="http://schemas.microsoft.com/office/drawing/2014/main" id="{1A39605C-81F8-3985-4F6A-0F879A4F5243}"/>
              </a:ext>
            </a:extLst>
          </p:cNvPr>
          <p:cNvCxnSpPr>
            <a:cxnSpLocks/>
            <a:stCxn id="13" idx="3"/>
            <a:endCxn id="56" idx="1"/>
          </p:cNvCxnSpPr>
          <p:nvPr/>
        </p:nvCxnSpPr>
        <p:spPr>
          <a:xfrm>
            <a:off x="7641978" y="2658701"/>
            <a:ext cx="2437246" cy="1097032"/>
          </a:xfrm>
          <a:prstGeom prst="bentConnector3">
            <a:avLst>
              <a:gd name="adj1" fmla="val 12333"/>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sp>
        <p:nvSpPr>
          <p:cNvPr id="136" name="テキスト ボックス 135">
            <a:extLst>
              <a:ext uri="{FF2B5EF4-FFF2-40B4-BE49-F238E27FC236}">
                <a16:creationId xmlns:a16="http://schemas.microsoft.com/office/drawing/2014/main" id="{6225C5DA-6AA6-0672-AAEF-94460C9B4D1A}"/>
              </a:ext>
            </a:extLst>
          </p:cNvPr>
          <p:cNvSpPr txBox="1"/>
          <p:nvPr/>
        </p:nvSpPr>
        <p:spPr>
          <a:xfrm>
            <a:off x="8542024" y="4410451"/>
            <a:ext cx="1350122" cy="307777"/>
          </a:xfrm>
          <a:prstGeom prst="rect">
            <a:avLst/>
          </a:prstGeom>
          <a:noFill/>
        </p:spPr>
        <p:txBody>
          <a:bodyPr wrap="square" rtlCol="0">
            <a:spAutoFit/>
          </a:bodyPr>
          <a:lstStyle/>
          <a:p>
            <a:r>
              <a:rPr lang="ja-JP" altLang="en-US" sz="1400" b="1" dirty="0">
                <a:solidFill>
                  <a:srgbClr val="882312"/>
                </a:solidFill>
              </a:rPr>
              <a:t>価格提案モデル</a:t>
            </a:r>
          </a:p>
        </p:txBody>
      </p:sp>
      <p:pic>
        <p:nvPicPr>
          <p:cNvPr id="137" name="図 136">
            <a:extLst>
              <a:ext uri="{FF2B5EF4-FFF2-40B4-BE49-F238E27FC236}">
                <a16:creationId xmlns:a16="http://schemas.microsoft.com/office/drawing/2014/main" id="{AA2057EF-6550-EA85-7799-84D042DD575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6541" y="3944954"/>
            <a:ext cx="413511" cy="467829"/>
          </a:xfrm>
          <a:prstGeom prst="rect">
            <a:avLst/>
          </a:prstGeom>
        </p:spPr>
      </p:pic>
      <p:sp>
        <p:nvSpPr>
          <p:cNvPr id="150" name="テキスト ボックス 149">
            <a:extLst>
              <a:ext uri="{FF2B5EF4-FFF2-40B4-BE49-F238E27FC236}">
                <a16:creationId xmlns:a16="http://schemas.microsoft.com/office/drawing/2014/main" id="{74AA4271-28C0-6461-E3F1-AE9ED92DD06C}"/>
              </a:ext>
            </a:extLst>
          </p:cNvPr>
          <p:cNvSpPr txBox="1"/>
          <p:nvPr/>
        </p:nvSpPr>
        <p:spPr>
          <a:xfrm>
            <a:off x="2508612" y="1790437"/>
            <a:ext cx="734400"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endParaRPr kumimoji="1" lang="ja-JP" altLang="en-US" sz="1600" b="1" dirty="0">
              <a:solidFill>
                <a:schemeClr val="bg1"/>
              </a:solidFill>
            </a:endParaRPr>
          </a:p>
        </p:txBody>
      </p:sp>
      <p:sp>
        <p:nvSpPr>
          <p:cNvPr id="151" name="テキスト ボックス 150">
            <a:extLst>
              <a:ext uri="{FF2B5EF4-FFF2-40B4-BE49-F238E27FC236}">
                <a16:creationId xmlns:a16="http://schemas.microsoft.com/office/drawing/2014/main" id="{3D685420-CB23-112A-9A35-B08139CBB2AD}"/>
              </a:ext>
            </a:extLst>
          </p:cNvPr>
          <p:cNvSpPr txBox="1"/>
          <p:nvPr/>
        </p:nvSpPr>
        <p:spPr>
          <a:xfrm>
            <a:off x="3835339" y="3905056"/>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a:t>
            </a:r>
            <a:endParaRPr kumimoji="1" lang="ja-JP" altLang="en-US" sz="1600" b="1" dirty="0">
              <a:solidFill>
                <a:schemeClr val="bg1"/>
              </a:solidFill>
            </a:endParaRPr>
          </a:p>
        </p:txBody>
      </p:sp>
      <p:grpSp>
        <p:nvGrpSpPr>
          <p:cNvPr id="35" name="グループ化 34">
            <a:extLst>
              <a:ext uri="{FF2B5EF4-FFF2-40B4-BE49-F238E27FC236}">
                <a16:creationId xmlns:a16="http://schemas.microsoft.com/office/drawing/2014/main" id="{BC15ECEB-61EC-03D8-7B96-3768819ED7B2}"/>
              </a:ext>
            </a:extLst>
          </p:cNvPr>
          <p:cNvGrpSpPr/>
          <p:nvPr/>
        </p:nvGrpSpPr>
        <p:grpSpPr>
          <a:xfrm>
            <a:off x="8191170" y="2965014"/>
            <a:ext cx="1771701" cy="626309"/>
            <a:chOff x="7621355" y="2997247"/>
            <a:chExt cx="1771701" cy="626309"/>
          </a:xfrm>
        </p:grpSpPr>
        <p:sp>
          <p:nvSpPr>
            <p:cNvPr id="62" name="テキスト ボックス 61">
              <a:extLst>
                <a:ext uri="{FF2B5EF4-FFF2-40B4-BE49-F238E27FC236}">
                  <a16:creationId xmlns:a16="http://schemas.microsoft.com/office/drawing/2014/main" id="{F35734BB-7D59-EE56-B728-1FF8CEB04F1D}"/>
                </a:ext>
              </a:extLst>
            </p:cNvPr>
            <p:cNvSpPr txBox="1"/>
            <p:nvPr/>
          </p:nvSpPr>
          <p:spPr>
            <a:xfrm>
              <a:off x="7635060" y="3285002"/>
              <a:ext cx="1757996"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適切な価格を提案</a:t>
              </a:r>
              <a:endParaRPr kumimoji="1" lang="en-US" altLang="ja-JP" sz="1600" b="1" dirty="0"/>
            </a:p>
          </p:txBody>
        </p:sp>
        <p:sp>
          <p:nvSpPr>
            <p:cNvPr id="152" name="テキスト ボックス 151">
              <a:extLst>
                <a:ext uri="{FF2B5EF4-FFF2-40B4-BE49-F238E27FC236}">
                  <a16:creationId xmlns:a16="http://schemas.microsoft.com/office/drawing/2014/main" id="{A340928D-F0DE-7E10-FF39-1677666BAB3F}"/>
                </a:ext>
              </a:extLst>
            </p:cNvPr>
            <p:cNvSpPr txBox="1"/>
            <p:nvPr/>
          </p:nvSpPr>
          <p:spPr>
            <a:xfrm>
              <a:off x="7621355" y="2997247"/>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a:t>
              </a:r>
              <a:endParaRPr kumimoji="1" lang="ja-JP" altLang="en-US" sz="1600" b="1" dirty="0">
                <a:solidFill>
                  <a:schemeClr val="bg1"/>
                </a:solidFill>
              </a:endParaRPr>
            </a:p>
          </p:txBody>
        </p:sp>
      </p:grpSp>
      <p:grpSp>
        <p:nvGrpSpPr>
          <p:cNvPr id="81" name="グループ化 80">
            <a:extLst>
              <a:ext uri="{FF2B5EF4-FFF2-40B4-BE49-F238E27FC236}">
                <a16:creationId xmlns:a16="http://schemas.microsoft.com/office/drawing/2014/main" id="{93C8A350-3FF3-C434-6F9F-DF4DA248491D}"/>
              </a:ext>
            </a:extLst>
          </p:cNvPr>
          <p:cNvGrpSpPr/>
          <p:nvPr/>
        </p:nvGrpSpPr>
        <p:grpSpPr>
          <a:xfrm>
            <a:off x="4484597" y="1598819"/>
            <a:ext cx="3503000" cy="1792524"/>
            <a:chOff x="4620787" y="1598819"/>
            <a:chExt cx="3503000" cy="1792524"/>
          </a:xfrm>
        </p:grpSpPr>
        <p:sp>
          <p:nvSpPr>
            <p:cNvPr id="29" name="テキスト ボックス 28">
              <a:extLst>
                <a:ext uri="{FF2B5EF4-FFF2-40B4-BE49-F238E27FC236}">
                  <a16:creationId xmlns:a16="http://schemas.microsoft.com/office/drawing/2014/main" id="{593988E3-9EC6-958E-DE4C-DBF6639952F4}"/>
                </a:ext>
              </a:extLst>
            </p:cNvPr>
            <p:cNvSpPr txBox="1"/>
            <p:nvPr/>
          </p:nvSpPr>
          <p:spPr>
            <a:xfrm>
              <a:off x="6664880" y="2880516"/>
              <a:ext cx="1458907" cy="307777"/>
            </a:xfrm>
            <a:prstGeom prst="rect">
              <a:avLst/>
            </a:prstGeom>
            <a:noFill/>
          </p:spPr>
          <p:txBody>
            <a:bodyPr wrap="square" rtlCol="0">
              <a:spAutoFit/>
            </a:bodyPr>
            <a:lstStyle/>
            <a:p>
              <a:r>
                <a:rPr lang="ja-JP" altLang="en-US" sz="1400" b="1" dirty="0"/>
                <a:t>経営データ</a:t>
              </a:r>
              <a:endParaRPr lang="en-US" altLang="ja-JP" sz="1400" b="1" dirty="0"/>
            </a:p>
          </p:txBody>
        </p:sp>
        <p:pic>
          <p:nvPicPr>
            <p:cNvPr id="74" name="図 73">
              <a:extLst>
                <a:ext uri="{FF2B5EF4-FFF2-40B4-BE49-F238E27FC236}">
                  <a16:creationId xmlns:a16="http://schemas.microsoft.com/office/drawing/2014/main" id="{EDE7C3A9-E9C8-E4ED-9476-C9401FEAC7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646" y="2267831"/>
              <a:ext cx="583032" cy="599106"/>
            </a:xfrm>
            <a:prstGeom prst="rect">
              <a:avLst/>
            </a:prstGeom>
          </p:spPr>
        </p:pic>
        <p:sp>
          <p:nvSpPr>
            <p:cNvPr id="11" name="テキスト ボックス 10">
              <a:extLst>
                <a:ext uri="{FF2B5EF4-FFF2-40B4-BE49-F238E27FC236}">
                  <a16:creationId xmlns:a16="http://schemas.microsoft.com/office/drawing/2014/main" id="{EA7A8090-9394-D43A-32FF-C2B29C023BDE}"/>
                </a:ext>
              </a:extLst>
            </p:cNvPr>
            <p:cNvSpPr txBox="1"/>
            <p:nvPr/>
          </p:nvSpPr>
          <p:spPr>
            <a:xfrm>
              <a:off x="4751306" y="2872223"/>
              <a:ext cx="1674678" cy="307777"/>
            </a:xfrm>
            <a:prstGeom prst="rect">
              <a:avLst/>
            </a:prstGeom>
            <a:noFill/>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7F8C8C08-5251-62DB-EAFD-3CECB2C153D7}"/>
                </a:ext>
              </a:extLst>
            </p:cNvPr>
            <p:cNvSpPr/>
            <p:nvPr/>
          </p:nvSpPr>
          <p:spPr>
            <a:xfrm>
              <a:off x="4620787" y="1926058"/>
              <a:ext cx="3157381" cy="1465285"/>
            </a:xfrm>
            <a:prstGeom prst="roundRect">
              <a:avLst/>
            </a:prstGeom>
            <a:noFill/>
            <a:ln w="19050" cap="flat" cmpd="sng" algn="ctr">
              <a:solidFill>
                <a:schemeClr val="accent4">
                  <a:lumMod val="75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87DECC5F-FE44-3D61-8FFE-A139964B1B71}"/>
                </a:ext>
              </a:extLst>
            </p:cNvPr>
            <p:cNvSpPr txBox="1"/>
            <p:nvPr/>
          </p:nvSpPr>
          <p:spPr>
            <a:xfrm>
              <a:off x="5524020" y="1598819"/>
              <a:ext cx="1303508" cy="338554"/>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宿泊施設</a:t>
              </a:r>
              <a:r>
                <a:rPr kumimoji="1" lang="en-US" altLang="ja-JP" sz="1600" b="1" dirty="0">
                  <a:solidFill>
                    <a:schemeClr val="bg1"/>
                  </a:solidFill>
                </a:rPr>
                <a:t>DB</a:t>
              </a:r>
              <a:endParaRPr kumimoji="1" lang="ja-JP" altLang="en-US" sz="1600" b="1" dirty="0">
                <a:solidFill>
                  <a:schemeClr val="bg1"/>
                </a:solidFill>
              </a:endParaRPr>
            </a:p>
          </p:txBody>
        </p:sp>
      </p:grpSp>
      <p:sp>
        <p:nvSpPr>
          <p:cNvPr id="26" name="矢印: 右 25">
            <a:extLst>
              <a:ext uri="{FF2B5EF4-FFF2-40B4-BE49-F238E27FC236}">
                <a16:creationId xmlns:a16="http://schemas.microsoft.com/office/drawing/2014/main" id="{17D3A228-6D19-A207-9C2D-CF2172CAE31F}"/>
              </a:ext>
            </a:extLst>
          </p:cNvPr>
          <p:cNvSpPr/>
          <p:nvPr/>
        </p:nvSpPr>
        <p:spPr>
          <a:xfrm rot="5400000">
            <a:off x="5421917" y="4076563"/>
            <a:ext cx="1394774" cy="338554"/>
          </a:xfrm>
          <a:prstGeom prst="rightArrow">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5B9AF7E7-0CD3-9D13-69E0-E7ACFCE3617F}"/>
              </a:ext>
            </a:extLst>
          </p:cNvPr>
          <p:cNvGrpSpPr/>
          <p:nvPr/>
        </p:nvGrpSpPr>
        <p:grpSpPr>
          <a:xfrm>
            <a:off x="6319727" y="3629943"/>
            <a:ext cx="1523390" cy="1018993"/>
            <a:chOff x="6355405" y="3486074"/>
            <a:chExt cx="1523390" cy="1018993"/>
          </a:xfrm>
        </p:grpSpPr>
        <p:sp>
          <p:nvSpPr>
            <p:cNvPr id="38" name="テキスト ボックス 37">
              <a:extLst>
                <a:ext uri="{FF2B5EF4-FFF2-40B4-BE49-F238E27FC236}">
                  <a16:creationId xmlns:a16="http://schemas.microsoft.com/office/drawing/2014/main" id="{EDC15EDB-CA89-AA8D-BB57-C33DFB9E9C7D}"/>
                </a:ext>
              </a:extLst>
            </p:cNvPr>
            <p:cNvSpPr txBox="1"/>
            <p:nvPr/>
          </p:nvSpPr>
          <p:spPr>
            <a:xfrm>
              <a:off x="6355405" y="3981847"/>
              <a:ext cx="1523390" cy="523220"/>
            </a:xfrm>
            <a:prstGeom prst="rect">
              <a:avLst/>
            </a:prstGeom>
            <a:noFill/>
          </p:spPr>
          <p:txBody>
            <a:bodyPr wrap="square" rtlCol="0">
              <a:spAutoFit/>
            </a:bodyPr>
            <a:lstStyle/>
            <a:p>
              <a:r>
                <a:rPr lang="ja-JP" altLang="en-US" sz="1400" b="1" dirty="0">
                  <a:solidFill>
                    <a:srgbClr val="002060"/>
                  </a:solidFill>
                </a:rPr>
                <a:t>需要予測モデル</a:t>
              </a:r>
              <a:endParaRPr lang="en-US" altLang="ja-JP" sz="1400" b="1" dirty="0">
                <a:solidFill>
                  <a:srgbClr val="002060"/>
                </a:solidFill>
              </a:endParaRPr>
            </a:p>
            <a:p>
              <a:r>
                <a:rPr kumimoji="1" lang="en-US" altLang="ja-JP" sz="1400" dirty="0">
                  <a:solidFill>
                    <a:srgbClr val="002060"/>
                  </a:solidFill>
                </a:rPr>
                <a:t>    </a:t>
              </a:r>
              <a:r>
                <a:rPr kumimoji="1" lang="en-US" altLang="ja-JP" sz="1400" dirty="0" err="1">
                  <a:solidFill>
                    <a:srgbClr val="002060"/>
                  </a:solidFill>
                </a:rPr>
                <a:t>Catboost</a:t>
              </a:r>
              <a:endParaRPr kumimoji="1" lang="ja-JP" altLang="en-US" sz="1400" dirty="0">
                <a:solidFill>
                  <a:srgbClr val="002060"/>
                </a:solidFill>
              </a:endParaRPr>
            </a:p>
          </p:txBody>
        </p:sp>
        <p:pic>
          <p:nvPicPr>
            <p:cNvPr id="77" name="グラフィックス 76" descr="統計 枠線">
              <a:extLst>
                <a:ext uri="{FF2B5EF4-FFF2-40B4-BE49-F238E27FC236}">
                  <a16:creationId xmlns:a16="http://schemas.microsoft.com/office/drawing/2014/main" id="{3C9EA319-CF27-8FEF-1A53-7BF92E8A3C9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8427" y="3486074"/>
              <a:ext cx="605454" cy="524735"/>
            </a:xfrm>
            <a:prstGeom prst="rect">
              <a:avLst/>
            </a:prstGeom>
          </p:spPr>
        </p:pic>
      </p:grpSp>
      <p:cxnSp>
        <p:nvCxnSpPr>
          <p:cNvPr id="30" name="コネクタ: カギ線 29">
            <a:extLst>
              <a:ext uri="{FF2B5EF4-FFF2-40B4-BE49-F238E27FC236}">
                <a16:creationId xmlns:a16="http://schemas.microsoft.com/office/drawing/2014/main" id="{1CA2BE2F-3772-3B1C-C93A-DB44F6768F25}"/>
              </a:ext>
            </a:extLst>
          </p:cNvPr>
          <p:cNvCxnSpPr>
            <a:cxnSpLocks/>
            <a:stCxn id="76" idx="3"/>
            <a:endCxn id="56" idx="1"/>
          </p:cNvCxnSpPr>
          <p:nvPr/>
        </p:nvCxnSpPr>
        <p:spPr>
          <a:xfrm flipV="1">
            <a:off x="6563959" y="3755733"/>
            <a:ext cx="3515265" cy="1554438"/>
          </a:xfrm>
          <a:prstGeom prst="bentConnector3">
            <a:avLst>
              <a:gd name="adj1" fmla="val 39208"/>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grpSp>
        <p:nvGrpSpPr>
          <p:cNvPr id="63" name="グループ化 62">
            <a:extLst>
              <a:ext uri="{FF2B5EF4-FFF2-40B4-BE49-F238E27FC236}">
                <a16:creationId xmlns:a16="http://schemas.microsoft.com/office/drawing/2014/main" id="{FE5C3204-6405-0000-9CEA-048A88F7947E}"/>
              </a:ext>
            </a:extLst>
          </p:cNvPr>
          <p:cNvGrpSpPr/>
          <p:nvPr/>
        </p:nvGrpSpPr>
        <p:grpSpPr>
          <a:xfrm>
            <a:off x="8306319" y="5251926"/>
            <a:ext cx="1296396" cy="1535621"/>
            <a:chOff x="8213364" y="5125466"/>
            <a:chExt cx="1296396" cy="1535621"/>
          </a:xfrm>
        </p:grpSpPr>
        <p:sp>
          <p:nvSpPr>
            <p:cNvPr id="72" name="テキスト ボックス 71">
              <a:extLst>
                <a:ext uri="{FF2B5EF4-FFF2-40B4-BE49-F238E27FC236}">
                  <a16:creationId xmlns:a16="http://schemas.microsoft.com/office/drawing/2014/main" id="{94BA8063-9B5B-0A01-05BD-1EF5794C3A9F}"/>
                </a:ext>
              </a:extLst>
            </p:cNvPr>
            <p:cNvSpPr txBox="1"/>
            <p:nvPr/>
          </p:nvSpPr>
          <p:spPr>
            <a:xfrm>
              <a:off x="8213364" y="6322533"/>
              <a:ext cx="1296396" cy="338554"/>
            </a:xfrm>
            <a:prstGeom prst="rect">
              <a:avLst/>
            </a:prstGeom>
            <a:noFill/>
          </p:spPr>
          <p:txBody>
            <a:bodyPr wrap="square" rtlCol="0">
              <a:spAutoFit/>
            </a:bodyPr>
            <a:lstStyle/>
            <a:p>
              <a:r>
                <a:rPr lang="ja-JP" altLang="en-US" sz="1600" b="1" dirty="0"/>
                <a:t>ホテル運営者</a:t>
              </a:r>
              <a:endParaRPr lang="en-US" altLang="ja-JP" sz="1600" b="1" dirty="0"/>
            </a:p>
          </p:txBody>
        </p:sp>
        <p:pic>
          <p:nvPicPr>
            <p:cNvPr id="50" name="図 49" descr="アイコン&#10;&#10;AI 生成コンテンツは誤りを含む可能性があります。">
              <a:extLst>
                <a:ext uri="{FF2B5EF4-FFF2-40B4-BE49-F238E27FC236}">
                  <a16:creationId xmlns:a16="http://schemas.microsoft.com/office/drawing/2014/main" id="{E63AE2F5-C25E-20E0-622B-5827315173E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10755" y="5125466"/>
              <a:ext cx="819283" cy="1200346"/>
            </a:xfrm>
            <a:prstGeom prst="rect">
              <a:avLst/>
            </a:prstGeom>
          </p:spPr>
        </p:pic>
      </p:grpSp>
    </p:spTree>
    <p:extLst>
      <p:ext uri="{BB962C8B-B14F-4D97-AF65-F5344CB8AC3E}">
        <p14:creationId xmlns:p14="http://schemas.microsoft.com/office/powerpoint/2010/main" val="3283028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D2B91-0118-86C1-FCAD-DD484D2BCC3C}"/>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D1C8F5CA-2540-2665-D196-8723B2C389B9}"/>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612E21B8-ED8C-7496-4271-59FAC9AB1F78}"/>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1709FF3D-30A9-FB00-F7AD-928196AB6AE6}"/>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EC6E70E8-D36C-F39C-187A-508147D2AAD5}"/>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002180A0-B6FB-9D40-8668-1972F7C44EA2}"/>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a:t>
            </a:r>
            <a:r>
              <a:rPr lang="en-US" altLang="ja-JP" sz="1600" dirty="0"/>
              <a:t>(LLM</a:t>
            </a:r>
            <a:r>
              <a:rPr lang="ja-JP" altLang="en-US" sz="1600" dirty="0"/>
              <a:t>のみ</a:t>
            </a:r>
            <a:r>
              <a:rPr lang="en-US" altLang="ja-JP" sz="1600" dirty="0"/>
              <a:t>)</a:t>
            </a:r>
            <a:r>
              <a:rPr lang="ja-JP" altLang="en-US" sz="1600" dirty="0"/>
              <a:t>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4D7B55D4-8DF2-D728-E393-05A88211D4A1}"/>
              </a:ext>
            </a:extLst>
          </p:cNvPr>
          <p:cNvGraphicFramePr>
            <a:graphicFrameLocks noGrp="1"/>
          </p:cNvGraphicFramePr>
          <p:nvPr>
            <p:extLst>
              <p:ext uri="{D42A27DB-BD31-4B8C-83A1-F6EECF244321}">
                <p14:modId xmlns:p14="http://schemas.microsoft.com/office/powerpoint/2010/main" val="2792346334"/>
              </p:ext>
            </p:extLst>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DA8CC58B-B0D6-27BF-F844-9C02FF6C1479}"/>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5F13A30B-44C3-FCF4-2CB9-381D789C3B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63F978A4-1C30-D9B4-2853-DB9F31BDC74F}"/>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7A52218C-F0B4-6CF3-6249-65E41BFF5334}"/>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56DCB24D-47FC-4575-8752-D20FBB6ABF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AB26E2A1-6FDC-4535-6E7C-680CB26C2A97}"/>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8C4357C5-CC03-C1EC-435D-1C716E9EE04E}"/>
              </a:ext>
            </a:extLst>
          </p:cNvPr>
          <p:cNvGraphicFramePr>
            <a:graphicFrameLocks noGrp="1"/>
          </p:cNvGraphicFramePr>
          <p:nvPr>
            <p:extLst>
              <p:ext uri="{D42A27DB-BD31-4B8C-83A1-F6EECF244321}">
                <p14:modId xmlns:p14="http://schemas.microsoft.com/office/powerpoint/2010/main" val="382780053"/>
              </p:ext>
            </p:extLst>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3718AFD5-D8C8-7E52-2B24-3FC3982E4ADD}"/>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1356CD27-F6EA-2D8C-CC21-4CAFE6D05A43}"/>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3149939C-8FFC-0E8C-3D92-506F629A3FEF}"/>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64CC3C7F-8CEC-3BC2-DB93-5C52ACBAE329}"/>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244EE878-9B81-6E09-7243-AE1B912F98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1211D120-E505-5C9B-4E46-0F291264624D}"/>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3D2E869E-4069-846D-0E41-6BC84E98EE0A}"/>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46227BEC-035B-DADE-46A0-BE020541A950}"/>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065714BE-A4FA-894B-3543-C0F71B2B9DE7}"/>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2E9E7665-16B1-1D0B-6C96-A97EDBA8DB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74C6BE36-E7C3-101D-B772-3CDED011BDDD}"/>
              </a:ext>
            </a:extLst>
          </p:cNvPr>
          <p:cNvSpPr txBox="1"/>
          <p:nvPr/>
        </p:nvSpPr>
        <p:spPr>
          <a:xfrm>
            <a:off x="7752863" y="1539202"/>
            <a:ext cx="267499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口コミ文と稼働率の正の相関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142D92AE-72EB-F5F5-68CA-D08F7863FE23}"/>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6391424F-ACE8-7A4D-11F3-9493B113FE8D}"/>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3B7DB179-EE6E-4257-FD51-0C4C40B0B493}"/>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50EDF86E-135F-1052-584A-8870BE0FA715}"/>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05BE7EA9-B14B-5EB0-C37D-A082C632B405}"/>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64F4DD4B-71DB-9546-F106-B8F040CFB52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75EA7266-3848-CBD2-3167-9796D65CCC3B}"/>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75EA7266-3848-CBD2-3167-9796D65CCC3B}"/>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9124FC42-EBCB-4CBF-4B3E-DCDDE4452DD8}"/>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清掃感情</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AC87FF36-7677-6265-B931-2EC4E5AD8AB0}"/>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8BBA39E8-133F-A333-4257-55470B5C5D2B}"/>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E8F77A72-2698-3973-C81B-F8BEF1D2AB62}"/>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761D0B99-D448-73DD-3216-81D5DC5BD603}"/>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E625C957-7391-6248-ECDC-1BB8215B3CF5}"/>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BD9BA18E-223A-3F5C-130A-AF567167A189}"/>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90AB54D9-BBA5-60CB-7D1E-B7984D4C3A9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1018B466-51CB-DC20-56AB-F6D620A8270A}"/>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19ECDC2A-E3C6-82F7-15C7-DCC5279A7C96}"/>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689AACD1-698E-527E-2DDC-ADA9233A1D88}"/>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A5056007-CEDA-10C1-28BE-ABEB1BA87C0D}"/>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575560E0-CE89-BFEE-B0F0-351499BA774C}"/>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796C1F34-AA97-6016-1434-4A55789BBF61}"/>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823ADB46-CBC6-3B67-260E-FE1F5D3447F5}"/>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274BB9AA-07F2-1488-9514-DD5657AD2E3C}"/>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73E97ED9-A822-8B4C-1E61-1FF7AA4062FA}"/>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61B30B46-F5EA-8446-9DBF-58FD4A763B6D}"/>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B2F7C44D-D9EE-04C7-EB30-51051D58F708}"/>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7867823F-A0B5-0CFC-DA2C-4CCF6BCB9DBE}"/>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06646F82-7887-66F3-A3D5-7A2A47FE2A92}"/>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2810502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87832-2765-5BD2-B0AE-5AAB6C1D4A35}"/>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E07AA6B-F900-0AA5-1F35-FCE8F2C6D51E}"/>
              </a:ext>
            </a:extLst>
          </p:cNvPr>
          <p:cNvSpPr>
            <a:spLocks noGrp="1"/>
          </p:cNvSpPr>
          <p:nvPr>
            <p:ph idx="1"/>
          </p:nvPr>
        </p:nvSpPr>
        <p:spPr>
          <a:xfrm>
            <a:off x="309282" y="559980"/>
            <a:ext cx="11350377" cy="1051471"/>
          </a:xfrm>
        </p:spPr>
        <p:txBody>
          <a:bodyPr>
            <a:normAutofit/>
          </a:bodyPr>
          <a:lstStyle/>
          <a:p>
            <a:r>
              <a:rPr kumimoji="1" lang="ja-JP" altLang="en-US" sz="2200" b="0" dirty="0"/>
              <a:t>現在、口コミ</a:t>
            </a:r>
            <a:r>
              <a:rPr lang="ja-JP" altLang="en-US" sz="2200" b="0" dirty="0"/>
              <a:t>感情</a:t>
            </a:r>
            <a:r>
              <a:rPr kumimoji="1" lang="ja-JP" altLang="en-US" sz="2200" b="0" dirty="0"/>
              <a:t>と需要予測</a:t>
            </a:r>
            <a:r>
              <a:rPr lang="ja-JP" altLang="en-US" sz="2200" b="0" dirty="0"/>
              <a:t>結果に基づく</a:t>
            </a:r>
            <a:r>
              <a:rPr lang="ja-JP" altLang="en-US" sz="2200" u="sng" dirty="0"/>
              <a:t>価格設定支援</a:t>
            </a:r>
            <a:r>
              <a:rPr kumimoji="1" lang="ja-JP" altLang="en-US" sz="2200" u="sng" dirty="0"/>
              <a:t>エージェントを開発中</a:t>
            </a:r>
            <a:endParaRPr kumimoji="1" lang="en-US" altLang="ja-JP" sz="2200" u="sng" dirty="0"/>
          </a:p>
        </p:txBody>
      </p:sp>
      <p:sp>
        <p:nvSpPr>
          <p:cNvPr id="3" name="テキスト プレースホルダー 2">
            <a:extLst>
              <a:ext uri="{FF2B5EF4-FFF2-40B4-BE49-F238E27FC236}">
                <a16:creationId xmlns:a16="http://schemas.microsoft.com/office/drawing/2014/main" id="{9B466B4B-25FE-AF8E-0473-25771A24187F}"/>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kumimoji="1" lang="en-US" altLang="ja-JP" sz="1500" dirty="0"/>
              <a:t>STEP3: </a:t>
            </a:r>
            <a:r>
              <a:rPr kumimoji="1" lang="ja-JP" altLang="en-US" sz="1500" dirty="0"/>
              <a:t>価格提案 ）</a:t>
            </a:r>
          </a:p>
        </p:txBody>
      </p:sp>
      <p:grpSp>
        <p:nvGrpSpPr>
          <p:cNvPr id="92" name="グループ化 91">
            <a:extLst>
              <a:ext uri="{FF2B5EF4-FFF2-40B4-BE49-F238E27FC236}">
                <a16:creationId xmlns:a16="http://schemas.microsoft.com/office/drawing/2014/main" id="{582BF879-6A59-FEE2-C5A4-E0306EDC48E3}"/>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1121933A-FFB3-150B-6599-DEE78B5A1BDA}"/>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7F59C89A-253F-C141-3643-B9E0EEB25B90}"/>
                </a:ext>
              </a:extLst>
            </p:cNvPr>
            <p:cNvGrpSpPr/>
            <p:nvPr/>
          </p:nvGrpSpPr>
          <p:grpSpPr>
            <a:xfrm>
              <a:off x="4596525" y="3332145"/>
              <a:ext cx="2907704" cy="1482945"/>
              <a:chOff x="9394302" y="2414620"/>
              <a:chExt cx="2907704" cy="1482945"/>
            </a:xfrm>
          </p:grpSpPr>
          <p:pic>
            <p:nvPicPr>
              <p:cNvPr id="29" name="図 28" descr="アイコン&#10;&#10;AI 生成コンテンツは誤りを含む可能性があります。">
                <a:extLst>
                  <a:ext uri="{FF2B5EF4-FFF2-40B4-BE49-F238E27FC236}">
                    <a16:creationId xmlns:a16="http://schemas.microsoft.com/office/drawing/2014/main" id="{77F097BF-78A9-EE77-1348-4D31A611AD1C}"/>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C27678F5-78BC-2697-8CE1-A4FE6FA170BD}"/>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A2DF1C02-CA3C-A0A1-3E08-3FBC812D61BA}"/>
                  </a:ext>
                </a:extLst>
              </p:cNvPr>
              <p:cNvSpPr txBox="1"/>
              <p:nvPr/>
            </p:nvSpPr>
            <p:spPr>
              <a:xfrm>
                <a:off x="9394302" y="3379948"/>
                <a:ext cx="1200659" cy="517617"/>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908A1B96-4F69-C69A-5639-F94B8A0ED5CC}"/>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9B38D030-AD4B-154A-9E4F-5675F8EC9EAD}"/>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87E76FFA-1695-19D4-1A79-8BD06FACA9B4}"/>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F49D2460-FD38-BF7C-B3AF-C2383B1E41CA}"/>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1227EFAF-F8F0-30C4-D0BC-39474AB99526}"/>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15541B88-87C2-20B1-909E-098BCBDA6AC3}"/>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7F34D715-6A7B-2202-CF4F-A333D26230CB}"/>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68962F97-0B02-AAEC-297B-1F423C3AC6E3}"/>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019A4C42-6CC1-8633-134A-628374EFBA2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0EFFD939-7A5D-DF99-5743-14E7060A2A84}"/>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058ADA9-FA99-7072-D263-024B678296B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330CD9FF-0AF6-F2B8-D1A8-E49324F5514B}"/>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3B2EDC03-33AD-992C-EA33-7062FE805433}"/>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7AC12CF3-6216-9459-C48E-ED586160F68F}"/>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四角形: 角を丸くする 72">
              <a:extLst>
                <a:ext uri="{FF2B5EF4-FFF2-40B4-BE49-F238E27FC236}">
                  <a16:creationId xmlns:a16="http://schemas.microsoft.com/office/drawing/2014/main" id="{20404AF6-F558-8DBA-5EEA-85528872C472}"/>
                </a:ext>
              </a:extLst>
            </p:cNvPr>
            <p:cNvSpPr/>
            <p:nvPr/>
          </p:nvSpPr>
          <p:spPr>
            <a:xfrm>
              <a:off x="5815658" y="4288527"/>
              <a:ext cx="3967389" cy="135620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74" name="直線コネクタ 73">
              <a:extLst>
                <a:ext uri="{FF2B5EF4-FFF2-40B4-BE49-F238E27FC236}">
                  <a16:creationId xmlns:a16="http://schemas.microsoft.com/office/drawing/2014/main" id="{D58794DD-F141-8B32-2EE5-B09C8124F35F}"/>
                </a:ext>
              </a:extLst>
            </p:cNvPr>
            <p:cNvCxnSpPr>
              <a:cxnSpLocks/>
              <a:stCxn id="32" idx="2"/>
            </p:cNvCxnSpPr>
            <p:nvPr/>
          </p:nvCxnSpPr>
          <p:spPr>
            <a:xfrm>
              <a:off x="6512199" y="3903563"/>
              <a:ext cx="0" cy="393910"/>
            </a:xfrm>
            <a:prstGeom prst="line">
              <a:avLst/>
            </a:prstGeom>
            <a:ln w="19050">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E48EB712-C847-8125-7CC2-0939160BCE41}"/>
                </a:ext>
              </a:extLst>
            </p:cNvPr>
            <p:cNvSpPr txBox="1"/>
            <p:nvPr/>
          </p:nvSpPr>
          <p:spPr>
            <a:xfrm>
              <a:off x="5949562" y="4366633"/>
              <a:ext cx="3851958" cy="126188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u="sng" dirty="0">
                  <a:latin typeface="+mn-ea"/>
                </a:rPr>
                <a:t>価格提案の根拠</a:t>
              </a:r>
              <a:endParaRPr lang="en-US" altLang="ja-JP" sz="1600" b="1" u="sng" dirty="0">
                <a:latin typeface="+mn-ea"/>
              </a:endParaRPr>
            </a:p>
            <a:p>
              <a:r>
                <a:rPr lang="ja-JP" altLang="en-US" sz="1500" dirty="0">
                  <a:latin typeface="+mn-ea"/>
                </a:rPr>
                <a:t>・需要予測では</a:t>
              </a:r>
              <a:r>
                <a:rPr lang="ja-JP" altLang="en-US" sz="1500" b="1" dirty="0">
                  <a:solidFill>
                    <a:srgbClr val="882312"/>
                  </a:solidFill>
                  <a:latin typeface="+mn-ea"/>
                </a:rPr>
                <a:t>高い稼働率</a:t>
              </a:r>
              <a:r>
                <a:rPr lang="ja-JP" altLang="en-US" sz="1500" dirty="0">
                  <a:latin typeface="+mn-ea"/>
                </a:rPr>
                <a:t>が見込まれる</a:t>
              </a:r>
            </a:p>
            <a:p>
              <a:r>
                <a:rPr lang="ja-JP" altLang="en-US" sz="1500" dirty="0">
                  <a:latin typeface="+mn-ea"/>
                </a:rPr>
                <a:t>・競合ホテルと比較して</a:t>
              </a:r>
              <a:r>
                <a:rPr lang="ja-JP" altLang="en-US" sz="1500" b="1" dirty="0">
                  <a:solidFill>
                    <a:schemeClr val="accent4">
                      <a:lumMod val="50000"/>
                    </a:schemeClr>
                  </a:solidFill>
                  <a:latin typeface="+mn-ea"/>
                </a:rPr>
                <a:t>口コミ感情が悪い</a:t>
              </a:r>
            </a:p>
            <a:p>
              <a:r>
                <a:rPr lang="ja-JP" altLang="en-US" sz="1500" b="1" dirty="0">
                  <a:latin typeface="+mn-ea"/>
                </a:rPr>
                <a:t>→</a:t>
              </a:r>
              <a:r>
                <a:rPr lang="ja-JP" altLang="en-US" sz="1500" b="1" dirty="0">
                  <a:solidFill>
                    <a:schemeClr val="accent4">
                      <a:lumMod val="50000"/>
                    </a:schemeClr>
                  </a:solidFill>
                  <a:latin typeface="+mn-ea"/>
                </a:rPr>
                <a:t>価格をやや低めに提案</a:t>
              </a:r>
            </a:p>
            <a:p>
              <a:r>
                <a:rPr lang="ja-JP" altLang="en-US" sz="1500" b="1" dirty="0">
                  <a:latin typeface="+mn-ea"/>
                </a:rPr>
                <a:t>→</a:t>
              </a:r>
              <a:r>
                <a:rPr lang="ja-JP" altLang="en-US" sz="1500" b="1" dirty="0">
                  <a:solidFill>
                    <a:schemeClr val="accent4">
                      <a:lumMod val="50000"/>
                    </a:schemeClr>
                  </a:solidFill>
                  <a:latin typeface="+mn-ea"/>
                </a:rPr>
                <a:t>清掃評価が低い</a:t>
              </a:r>
              <a:r>
                <a:rPr lang="ja-JP" altLang="en-US" sz="1500" dirty="0">
                  <a:latin typeface="+mn-ea"/>
                </a:rPr>
                <a:t>ため改善を推奨</a:t>
              </a:r>
              <a:endParaRPr lang="en-US" altLang="ja-JP" sz="1500" dirty="0">
                <a:latin typeface="+mn-ea"/>
              </a:endParaRPr>
            </a:p>
          </p:txBody>
        </p:sp>
        <p:grpSp>
          <p:nvGrpSpPr>
            <p:cNvPr id="88" name="グループ化 87">
              <a:extLst>
                <a:ext uri="{FF2B5EF4-FFF2-40B4-BE49-F238E27FC236}">
                  <a16:creationId xmlns:a16="http://schemas.microsoft.com/office/drawing/2014/main" id="{8052CAD6-57DA-2612-E33F-F331407383B3}"/>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54466B42-A047-7603-9F4F-01AD283D65DC}"/>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78B3DFC5-AD16-C251-BE19-AB9B9EE1C09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98DC5641-D360-C21C-46A8-DEF2FC00F89C}"/>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99" name="グループ化 98">
            <a:extLst>
              <a:ext uri="{FF2B5EF4-FFF2-40B4-BE49-F238E27FC236}">
                <a16:creationId xmlns:a16="http://schemas.microsoft.com/office/drawing/2014/main" id="{4772E0EA-107A-718B-336E-84ECB043A48D}"/>
              </a:ext>
            </a:extLst>
          </p:cNvPr>
          <p:cNvGrpSpPr/>
          <p:nvPr/>
        </p:nvGrpSpPr>
        <p:grpSpPr>
          <a:xfrm>
            <a:off x="6066246" y="5531124"/>
            <a:ext cx="5476610" cy="1170367"/>
            <a:chOff x="6378337" y="5517652"/>
            <a:chExt cx="5476610" cy="1170367"/>
          </a:xfrm>
        </p:grpSpPr>
        <p:sp>
          <p:nvSpPr>
            <p:cNvPr id="94" name="正方形/長方形 93">
              <a:extLst>
                <a:ext uri="{FF2B5EF4-FFF2-40B4-BE49-F238E27FC236}">
                  <a16:creationId xmlns:a16="http://schemas.microsoft.com/office/drawing/2014/main" id="{7D700F59-2FE4-CE53-D4AD-467934F89554}"/>
                </a:ext>
              </a:extLst>
            </p:cNvPr>
            <p:cNvSpPr/>
            <p:nvPr/>
          </p:nvSpPr>
          <p:spPr>
            <a:xfrm>
              <a:off x="6378337" y="5517652"/>
              <a:ext cx="5476610" cy="1170367"/>
            </a:xfrm>
            <a:prstGeom prst="rect">
              <a:avLst/>
            </a:prstGeom>
            <a:solidFill>
              <a:schemeClr val="accent4">
                <a:lumMod val="20000"/>
                <a:lumOff val="80000"/>
              </a:schemeClr>
            </a:solidFill>
            <a:ln w="28575">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0C40CF6F-EC93-E19A-60F7-757106000350}"/>
                </a:ext>
              </a:extLst>
            </p:cNvPr>
            <p:cNvSpPr txBox="1"/>
            <p:nvPr/>
          </p:nvSpPr>
          <p:spPr>
            <a:xfrm>
              <a:off x="6378337" y="5542779"/>
              <a:ext cx="1458907" cy="400110"/>
            </a:xfrm>
            <a:prstGeom prst="rect">
              <a:avLst/>
            </a:prstGeom>
            <a:noFill/>
          </p:spPr>
          <p:txBody>
            <a:bodyPr wrap="square" rtlCol="0">
              <a:spAutoFit/>
            </a:bodyPr>
            <a:lstStyle/>
            <a:p>
              <a:r>
                <a:rPr lang="ja-JP" altLang="en-US" sz="2000" b="1" u="sng" dirty="0"/>
                <a:t>今後の展望</a:t>
              </a:r>
              <a:endParaRPr lang="en-US" altLang="ja-JP" sz="2000" b="1" u="sng" dirty="0"/>
            </a:p>
          </p:txBody>
        </p:sp>
        <p:sp>
          <p:nvSpPr>
            <p:cNvPr id="96" name="テキスト ボックス 95">
              <a:extLst>
                <a:ext uri="{FF2B5EF4-FFF2-40B4-BE49-F238E27FC236}">
                  <a16:creationId xmlns:a16="http://schemas.microsoft.com/office/drawing/2014/main" id="{130F2580-D251-6C87-353D-05635E3B3568}"/>
                </a:ext>
              </a:extLst>
            </p:cNvPr>
            <p:cNvSpPr txBox="1"/>
            <p:nvPr/>
          </p:nvSpPr>
          <p:spPr>
            <a:xfrm>
              <a:off x="6378337" y="5920750"/>
              <a:ext cx="5385445" cy="707886"/>
            </a:xfrm>
            <a:prstGeom prst="rect">
              <a:avLst/>
            </a:prstGeom>
            <a:noFill/>
          </p:spPr>
          <p:txBody>
            <a:bodyPr wrap="square" rtlCol="0">
              <a:spAutoFit/>
            </a:bodyPr>
            <a:lstStyle/>
            <a:p>
              <a:r>
                <a:rPr lang="ja-JP" altLang="en-US" sz="2000" b="1" kern="1700" dirty="0"/>
                <a:t>想定シナリオを設定、完遂率を定量的に検証の上</a:t>
              </a:r>
              <a:endParaRPr lang="en-US" altLang="ja-JP" sz="2000" b="1" kern="1700" dirty="0"/>
            </a:p>
            <a:p>
              <a:r>
                <a:rPr lang="ja-JP" altLang="en-US" sz="2000" b="1" kern="1700" dirty="0"/>
                <a:t>本成果を</a:t>
              </a:r>
              <a:r>
                <a:rPr lang="en-US" altLang="ja-JP" sz="2000" b="1" kern="1700" dirty="0"/>
                <a:t>PoC</a:t>
              </a:r>
              <a:r>
                <a:rPr lang="ja-JP" altLang="en-US" sz="2000" b="1" kern="1700" dirty="0"/>
                <a:t>として実運用へ展開することを目指す</a:t>
              </a:r>
              <a:endParaRPr lang="en-US" altLang="ja-JP" sz="2000" b="1" kern="1700" dirty="0"/>
            </a:p>
          </p:txBody>
        </p:sp>
      </p:grpSp>
      <p:grpSp>
        <p:nvGrpSpPr>
          <p:cNvPr id="38" name="グループ化 37">
            <a:extLst>
              <a:ext uri="{FF2B5EF4-FFF2-40B4-BE49-F238E27FC236}">
                <a16:creationId xmlns:a16="http://schemas.microsoft.com/office/drawing/2014/main" id="{6DF93A33-9935-9AFD-6007-5BF1DA19388E}"/>
              </a:ext>
            </a:extLst>
          </p:cNvPr>
          <p:cNvGrpSpPr/>
          <p:nvPr/>
        </p:nvGrpSpPr>
        <p:grpSpPr>
          <a:xfrm>
            <a:off x="3011493" y="2839477"/>
            <a:ext cx="2050034" cy="1249155"/>
            <a:chOff x="7490243" y="1110610"/>
            <a:chExt cx="2050034" cy="1249155"/>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6BF9B9B3-8FE9-B112-56BC-881AA95AD99E}"/>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イベント        規模は大きい？</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6BF9B9B3-8FE9-B112-56BC-881AA95AD99E}"/>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099C1DDE-9667-7BF5-77FF-1ECDBFCC1FD8}"/>
                </a:ext>
              </a:extLst>
            </p:cNvPr>
            <p:cNvSpPr txBox="1"/>
            <p:nvPr/>
          </p:nvSpPr>
          <p:spPr>
            <a:xfrm>
              <a:off x="8068783" y="1110610"/>
              <a:ext cx="995984"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dirty="0">
                  <a:solidFill>
                    <a:srgbClr val="882312"/>
                  </a:solidFill>
                </a:rPr>
                <a:t>が評価</a:t>
              </a:r>
              <a:endParaRPr kumimoji="1" lang="ja-JP" altLang="en-US" sz="1200" b="1" dirty="0">
                <a:solidFill>
                  <a:srgbClr val="882312"/>
                </a:solidFill>
              </a:endParaRPr>
            </a:p>
          </p:txBody>
        </p:sp>
      </p:grpSp>
    </p:spTree>
    <p:extLst>
      <p:ext uri="{BB962C8B-B14F-4D97-AF65-F5344CB8AC3E}">
        <p14:creationId xmlns:p14="http://schemas.microsoft.com/office/powerpoint/2010/main" val="202673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AD576-CFE5-328F-4CBA-212F58818F46}"/>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2A4ECE12-3309-2019-C338-F7013BEF15C2}"/>
              </a:ext>
            </a:extLst>
          </p:cNvPr>
          <p:cNvSpPr/>
          <p:nvPr/>
        </p:nvSpPr>
        <p:spPr>
          <a:xfrm>
            <a:off x="97849" y="1428288"/>
            <a:ext cx="11964449" cy="4842945"/>
          </a:xfrm>
          <a:prstGeom prst="rect">
            <a:avLst/>
          </a:prstGeom>
          <a:noFill/>
          <a:ln w="12700">
            <a:solidFill>
              <a:srgbClr val="1F494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96D25350-E3AF-BBDB-9FD5-35E954282501}"/>
              </a:ext>
            </a:extLst>
          </p:cNvPr>
          <p:cNvSpPr>
            <a:spLocks noGrp="1"/>
          </p:cNvSpPr>
          <p:nvPr>
            <p:ph idx="1"/>
          </p:nvPr>
        </p:nvSpPr>
        <p:spPr>
          <a:xfrm>
            <a:off x="260834" y="606223"/>
            <a:ext cx="11349318" cy="618573"/>
          </a:xfrm>
        </p:spPr>
        <p:txBody>
          <a:bodyPr>
            <a:normAutofit lnSpcReduction="10000"/>
          </a:bodyPr>
          <a:lstStyle/>
          <a:p>
            <a:r>
              <a:rPr lang="ja-JP" altLang="en-US" sz="2400" dirty="0"/>
              <a:t>口コミからホテルの評価を測定し、価格設定に活用するモデルを開発している。</a:t>
            </a:r>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26F8ED77-0FB6-B5C8-A925-C6252717F74C}"/>
              </a:ext>
            </a:extLst>
          </p:cNvPr>
          <p:cNvSpPr>
            <a:spLocks noGrp="1"/>
          </p:cNvSpPr>
          <p:nvPr>
            <p:ph type="body" sz="quarter" idx="11"/>
          </p:nvPr>
        </p:nvSpPr>
        <p:spPr/>
        <p:txBody>
          <a:bodyPr>
            <a:normAutofit fontScale="92500" lnSpcReduction="10000"/>
          </a:bodyPr>
          <a:lstStyle/>
          <a:p>
            <a:r>
              <a:rPr lang="ja-JP" altLang="en-US" b="1" dirty="0"/>
              <a:t>価格最適化モデルの全体構成</a:t>
            </a:r>
            <a:endParaRPr kumimoji="1" lang="ja-JP" altLang="en-US" b="1" dirty="0"/>
          </a:p>
        </p:txBody>
      </p:sp>
      <p:sp>
        <p:nvSpPr>
          <p:cNvPr id="14" name="矢印: 右 13">
            <a:extLst>
              <a:ext uri="{FF2B5EF4-FFF2-40B4-BE49-F238E27FC236}">
                <a16:creationId xmlns:a16="http://schemas.microsoft.com/office/drawing/2014/main" id="{F4B9A68B-EA44-40AA-A161-6FF815FBC914}"/>
              </a:ext>
            </a:extLst>
          </p:cNvPr>
          <p:cNvSpPr/>
          <p:nvPr/>
        </p:nvSpPr>
        <p:spPr>
          <a:xfrm>
            <a:off x="2445752" y="2485732"/>
            <a:ext cx="1817336" cy="338554"/>
          </a:xfrm>
          <a:prstGeom prst="rightArrow">
            <a:avLst/>
          </a:prstGeom>
          <a:solidFill>
            <a:schemeClr val="accent4">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58465805-8006-F193-0A2F-56421BC10FE7}"/>
              </a:ext>
            </a:extLst>
          </p:cNvPr>
          <p:cNvSpPr txBox="1"/>
          <p:nvPr/>
        </p:nvSpPr>
        <p:spPr>
          <a:xfrm>
            <a:off x="2712855" y="3294344"/>
            <a:ext cx="1817336" cy="523220"/>
          </a:xfrm>
          <a:prstGeom prst="rect">
            <a:avLst/>
          </a:prstGeom>
          <a:noFill/>
        </p:spPr>
        <p:txBody>
          <a:bodyPr wrap="square" rtlCol="0">
            <a:spAutoFit/>
          </a:bodyPr>
          <a:lstStyle/>
          <a:p>
            <a:r>
              <a:rPr kumimoji="1" lang="ja-JP" altLang="en-US" sz="1400" b="1" dirty="0">
                <a:solidFill>
                  <a:srgbClr val="1F4944"/>
                </a:solidFill>
              </a:rPr>
              <a:t>感情分析モデル </a:t>
            </a:r>
            <a:endParaRPr lang="en-US" altLang="ja-JP" sz="1400" b="1" dirty="0">
              <a:solidFill>
                <a:srgbClr val="1F4944"/>
              </a:solidFill>
            </a:endParaRPr>
          </a:p>
          <a:p>
            <a:r>
              <a:rPr kumimoji="1" lang="ja-JP" altLang="en-US" sz="1400" b="1" dirty="0">
                <a:solidFill>
                  <a:srgbClr val="1F4944"/>
                </a:solidFill>
              </a:rPr>
              <a:t>  </a:t>
            </a:r>
            <a:r>
              <a:rPr kumimoji="1" lang="en-US" altLang="ja-JP" sz="1400" dirty="0">
                <a:solidFill>
                  <a:srgbClr val="1F4944"/>
                </a:solidFill>
              </a:rPr>
              <a:t>LLM</a:t>
            </a:r>
            <a:r>
              <a:rPr kumimoji="1" lang="ja-JP" altLang="en-US" sz="1400" dirty="0">
                <a:solidFill>
                  <a:srgbClr val="1F4944"/>
                </a:solidFill>
              </a:rPr>
              <a:t>・</a:t>
            </a:r>
            <a:r>
              <a:rPr kumimoji="1" lang="en-US" altLang="ja-JP" sz="1400" dirty="0">
                <a:solidFill>
                  <a:srgbClr val="1F4944"/>
                </a:solidFill>
              </a:rPr>
              <a:t>BERT</a:t>
            </a:r>
            <a:endParaRPr kumimoji="1" lang="ja-JP" altLang="en-US" sz="1400" dirty="0">
              <a:solidFill>
                <a:srgbClr val="1F4944"/>
              </a:solidFill>
            </a:endParaRPr>
          </a:p>
        </p:txBody>
      </p:sp>
      <p:grpSp>
        <p:nvGrpSpPr>
          <p:cNvPr id="94" name="グループ化 93">
            <a:extLst>
              <a:ext uri="{FF2B5EF4-FFF2-40B4-BE49-F238E27FC236}">
                <a16:creationId xmlns:a16="http://schemas.microsoft.com/office/drawing/2014/main" id="{F68D019A-4842-EC61-97C2-4CE210BED707}"/>
              </a:ext>
            </a:extLst>
          </p:cNvPr>
          <p:cNvGrpSpPr/>
          <p:nvPr/>
        </p:nvGrpSpPr>
        <p:grpSpPr>
          <a:xfrm>
            <a:off x="198905" y="1762540"/>
            <a:ext cx="2258055" cy="1192890"/>
            <a:chOff x="198905" y="1762540"/>
            <a:chExt cx="2258055" cy="1192890"/>
          </a:xfrm>
        </p:grpSpPr>
        <p:sp>
          <p:nvSpPr>
            <p:cNvPr id="8" name="テキスト ボックス 7">
              <a:extLst>
                <a:ext uri="{FF2B5EF4-FFF2-40B4-BE49-F238E27FC236}">
                  <a16:creationId xmlns:a16="http://schemas.microsoft.com/office/drawing/2014/main" id="{EC1E1A13-8750-45BD-EBA9-F4A06FD53BE9}"/>
                </a:ext>
              </a:extLst>
            </p:cNvPr>
            <p:cNvSpPr txBox="1"/>
            <p:nvPr/>
          </p:nvSpPr>
          <p:spPr>
            <a:xfrm>
              <a:off x="452275" y="2616876"/>
              <a:ext cx="1725594" cy="338554"/>
            </a:xfrm>
            <a:prstGeom prst="rect">
              <a:avLst/>
            </a:prstGeom>
            <a:noFill/>
          </p:spPr>
          <p:txBody>
            <a:bodyPr wrap="square" rtlCol="0">
              <a:spAutoFit/>
            </a:bodyPr>
            <a:lstStyle/>
            <a:p>
              <a:r>
                <a:rPr lang="ja-JP" altLang="en-US" sz="1600" b="1" dirty="0"/>
                <a:t>予約サイト口コミ</a:t>
              </a:r>
              <a:endParaRPr lang="en-US" altLang="ja-JP" sz="1600" b="1" dirty="0"/>
            </a:p>
          </p:txBody>
        </p:sp>
        <p:grpSp>
          <p:nvGrpSpPr>
            <p:cNvPr id="78" name="グループ化 77">
              <a:extLst>
                <a:ext uri="{FF2B5EF4-FFF2-40B4-BE49-F238E27FC236}">
                  <a16:creationId xmlns:a16="http://schemas.microsoft.com/office/drawing/2014/main" id="{7D7472F9-0D54-4EF1-21A6-668C3AF81563}"/>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D0E07BCB-DE6A-1781-6805-9022DA1FE984}"/>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83FCC57D-E6CE-D27C-D47E-7537E5875467}"/>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3F2665F1-02B0-663A-D721-68F66ACA91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4E6E34C5-6DFD-99D1-29FC-24558719373A}"/>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541E52D3-E5F2-9E6B-035B-12D19448F8CF}"/>
              </a:ext>
            </a:extLst>
          </p:cNvPr>
          <p:cNvGraphicFramePr>
            <a:graphicFrameLocks noGrp="1"/>
          </p:cNvGraphicFramePr>
          <p:nvPr/>
        </p:nvGraphicFramePr>
        <p:xfrm>
          <a:off x="4645896" y="2206871"/>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1" dirty="0"/>
                        <a:t>清掃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600" b="1" dirty="0"/>
                        <a:t>食事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8567066"/>
                  </a:ext>
                </a:extLst>
              </a:tr>
              <a:tr h="323166">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B3889EB9-B418-EEC6-EB2B-B34C9559F20D}"/>
              </a:ext>
            </a:extLst>
          </p:cNvPr>
          <p:cNvSpPr txBox="1"/>
          <p:nvPr/>
        </p:nvSpPr>
        <p:spPr>
          <a:xfrm>
            <a:off x="2520637" y="2075659"/>
            <a:ext cx="1698851"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観点別に定量化</a:t>
            </a:r>
            <a:endParaRPr kumimoji="1" lang="ja-JP" altLang="en-US" sz="1600" b="1" dirty="0"/>
          </a:p>
        </p:txBody>
      </p:sp>
      <p:sp>
        <p:nvSpPr>
          <p:cNvPr id="37" name="テキスト ボックス 36">
            <a:extLst>
              <a:ext uri="{FF2B5EF4-FFF2-40B4-BE49-F238E27FC236}">
                <a16:creationId xmlns:a16="http://schemas.microsoft.com/office/drawing/2014/main" id="{DEEEF412-8156-8A86-2D74-56694169388D}"/>
              </a:ext>
            </a:extLst>
          </p:cNvPr>
          <p:cNvSpPr txBox="1"/>
          <p:nvPr/>
        </p:nvSpPr>
        <p:spPr>
          <a:xfrm>
            <a:off x="3849317" y="4198123"/>
            <a:ext cx="1967980"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将来の稼働率を予測</a:t>
            </a:r>
            <a:endParaRPr kumimoji="1" lang="ja-JP" altLang="en-US" sz="1600" b="1" dirty="0"/>
          </a:p>
        </p:txBody>
      </p:sp>
      <p:grpSp>
        <p:nvGrpSpPr>
          <p:cNvPr id="55" name="グループ化 54">
            <a:extLst>
              <a:ext uri="{FF2B5EF4-FFF2-40B4-BE49-F238E27FC236}">
                <a16:creationId xmlns:a16="http://schemas.microsoft.com/office/drawing/2014/main" id="{BB4241F5-5486-BB2E-0BFF-C5A7742EA1E6}"/>
              </a:ext>
            </a:extLst>
          </p:cNvPr>
          <p:cNvGrpSpPr/>
          <p:nvPr/>
        </p:nvGrpSpPr>
        <p:grpSpPr>
          <a:xfrm>
            <a:off x="9966603" y="2761661"/>
            <a:ext cx="1941162" cy="1685556"/>
            <a:chOff x="9062645" y="2023293"/>
            <a:chExt cx="1941162" cy="1685556"/>
          </a:xfrm>
        </p:grpSpPr>
        <p:pic>
          <p:nvPicPr>
            <p:cNvPr id="56" name="図 55" descr="アイコン&#10;&#10;AI 生成コンテンツは誤りを含む可能性があります。">
              <a:extLst>
                <a:ext uri="{FF2B5EF4-FFF2-40B4-BE49-F238E27FC236}">
                  <a16:creationId xmlns:a16="http://schemas.microsoft.com/office/drawing/2014/main" id="{8F87F96D-D953-32DC-7806-27D421136FC4}"/>
                </a:ext>
              </a:extLst>
            </p:cNvPr>
            <p:cNvPicPr>
              <a:picLocks noChangeAspect="1"/>
            </p:cNvPicPr>
            <p:nvPr/>
          </p:nvPicPr>
          <p:blipFill>
            <a:blip r:embed="rId4" cstate="print">
              <a:extLst>
                <a:ext uri="{28A0092B-C50C-407E-A947-70E740481C1C}">
                  <a14:useLocalDpi xmlns:a14="http://schemas.microsoft.com/office/drawing/2010/main" val="0"/>
                </a:ext>
              </a:extLst>
            </a:blip>
            <a:srcRect l="25864" t="51762" r="6336" b="-2321"/>
            <a:stretch>
              <a:fillRect/>
            </a:stretch>
          </p:blipFill>
          <p:spPr>
            <a:xfrm>
              <a:off x="9175266" y="2630778"/>
              <a:ext cx="1062042" cy="773173"/>
            </a:xfrm>
            <a:prstGeom prst="rect">
              <a:avLst/>
            </a:prstGeom>
          </p:spPr>
        </p:pic>
        <p:sp>
          <p:nvSpPr>
            <p:cNvPr id="57" name="吹き出し: 四角形 56">
              <a:extLst>
                <a:ext uri="{FF2B5EF4-FFF2-40B4-BE49-F238E27FC236}">
                  <a16:creationId xmlns:a16="http://schemas.microsoft.com/office/drawing/2014/main" id="{786E21A4-7A48-7B87-FC64-94165A0428F1}"/>
                </a:ext>
              </a:extLst>
            </p:cNvPr>
            <p:cNvSpPr/>
            <p:nvPr/>
          </p:nvSpPr>
          <p:spPr>
            <a:xfrm>
              <a:off x="9561649" y="2023293"/>
              <a:ext cx="1407180" cy="576856"/>
            </a:xfrm>
            <a:prstGeom prst="wedgeRectCallout">
              <a:avLst>
                <a:gd name="adj1" fmla="val -26210"/>
                <a:gd name="adj2" fmla="val 7805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EC5FB0FD-3284-571B-B6B0-06561B69E499}"/>
                </a:ext>
              </a:extLst>
            </p:cNvPr>
            <p:cNvSpPr txBox="1"/>
            <p:nvPr/>
          </p:nvSpPr>
          <p:spPr>
            <a:xfrm>
              <a:off x="9062645" y="3401072"/>
              <a:ext cx="1841214" cy="307777"/>
            </a:xfrm>
            <a:prstGeom prst="rect">
              <a:avLst/>
            </a:prstGeom>
            <a:noFill/>
          </p:spPr>
          <p:txBody>
            <a:bodyPr wrap="square" rtlCol="0">
              <a:spAutoFit/>
            </a:bodyPr>
            <a:lstStyle/>
            <a:p>
              <a:r>
                <a:rPr lang="ja-JP" altLang="en-US" sz="1400" b="1" dirty="0"/>
                <a:t>価格提案</a:t>
              </a:r>
              <a:r>
                <a:rPr lang="en-US" altLang="ja-JP" sz="1400" b="1" dirty="0"/>
                <a:t>AI</a:t>
              </a:r>
            </a:p>
          </p:txBody>
        </p:sp>
        <p:sp>
          <p:nvSpPr>
            <p:cNvPr id="59" name="テキスト ボックス 58">
              <a:extLst>
                <a:ext uri="{FF2B5EF4-FFF2-40B4-BE49-F238E27FC236}">
                  <a16:creationId xmlns:a16="http://schemas.microsoft.com/office/drawing/2014/main" id="{0CBD2D38-DB1A-0184-FD00-D9B653CD9C07}"/>
                </a:ext>
              </a:extLst>
            </p:cNvPr>
            <p:cNvSpPr txBox="1"/>
            <p:nvPr/>
          </p:nvSpPr>
          <p:spPr>
            <a:xfrm>
              <a:off x="9596627" y="2047785"/>
              <a:ext cx="140718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latin typeface="+mn-ea"/>
                </a:rPr>
                <a:t>部屋価格は</a:t>
              </a:r>
              <a:endParaRPr lang="en-US" altLang="ja-JP" sz="1400" b="1">
                <a:latin typeface="+mn-ea"/>
              </a:endParaRPr>
            </a:p>
            <a:p>
              <a:r>
                <a:rPr lang="en-US" altLang="ja-JP" sz="1400" b="1">
                  <a:latin typeface="+mn-ea"/>
                </a:rPr>
                <a:t>16000</a:t>
              </a:r>
              <a:r>
                <a:rPr lang="ja-JP" altLang="en-US" sz="1400" b="1">
                  <a:latin typeface="+mn-ea"/>
                </a:rPr>
                <a:t>円</a:t>
              </a:r>
              <a:r>
                <a:rPr lang="ja-JP" altLang="en-US" sz="1400" b="1" dirty="0">
                  <a:latin typeface="+mn-ea"/>
                </a:rPr>
                <a:t>を提案</a:t>
              </a:r>
              <a:endParaRPr lang="en-US" altLang="ja-JP" sz="1400" b="1" dirty="0">
                <a:latin typeface="+mn-ea"/>
              </a:endParaRPr>
            </a:p>
          </p:txBody>
        </p:sp>
      </p:grpSp>
      <p:pic>
        <p:nvPicPr>
          <p:cNvPr id="64" name="図 63">
            <a:extLst>
              <a:ext uri="{FF2B5EF4-FFF2-40B4-BE49-F238E27FC236}">
                <a16:creationId xmlns:a16="http://schemas.microsoft.com/office/drawing/2014/main" id="{7A0A8F35-3383-FADC-BBF9-08B1B16FB3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1443" y="2766748"/>
            <a:ext cx="479884" cy="520497"/>
          </a:xfrm>
          <a:prstGeom prst="rect">
            <a:avLst/>
          </a:prstGeom>
        </p:spPr>
      </p:pic>
      <p:grpSp>
        <p:nvGrpSpPr>
          <p:cNvPr id="54" name="グループ化 53">
            <a:extLst>
              <a:ext uri="{FF2B5EF4-FFF2-40B4-BE49-F238E27FC236}">
                <a16:creationId xmlns:a16="http://schemas.microsoft.com/office/drawing/2014/main" id="{89FC9820-5970-4290-642F-5E649161B1AC}"/>
              </a:ext>
            </a:extLst>
          </p:cNvPr>
          <p:cNvGrpSpPr/>
          <p:nvPr/>
        </p:nvGrpSpPr>
        <p:grpSpPr>
          <a:xfrm>
            <a:off x="9454539" y="5101935"/>
            <a:ext cx="2155612" cy="886522"/>
            <a:chOff x="3566159" y="5151120"/>
            <a:chExt cx="2155612" cy="978785"/>
          </a:xfrm>
          <a:noFill/>
        </p:grpSpPr>
        <p:sp>
          <p:nvSpPr>
            <p:cNvPr id="52" name="四角形: 角を丸くする 51">
              <a:extLst>
                <a:ext uri="{FF2B5EF4-FFF2-40B4-BE49-F238E27FC236}">
                  <a16:creationId xmlns:a16="http://schemas.microsoft.com/office/drawing/2014/main" id="{48A3E1CD-C445-E1FB-2C67-13C3DDDD226F}"/>
                </a:ext>
              </a:extLst>
            </p:cNvPr>
            <p:cNvSpPr/>
            <p:nvPr/>
          </p:nvSpPr>
          <p:spPr>
            <a:xfrm>
              <a:off x="3566159" y="5151120"/>
              <a:ext cx="2155611" cy="978785"/>
            </a:xfrm>
            <a:prstGeom prst="wedgeRectCallout">
              <a:avLst>
                <a:gd name="adj1" fmla="val -27897"/>
                <a:gd name="adj2" fmla="val 62500"/>
              </a:avLst>
            </a:prstGeom>
            <a:grpFill/>
            <a:ln w="1905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71" name="テキスト ボックス 70">
              <a:extLst>
                <a:ext uri="{FF2B5EF4-FFF2-40B4-BE49-F238E27FC236}">
                  <a16:creationId xmlns:a16="http://schemas.microsoft.com/office/drawing/2014/main" id="{AC1FC507-E3B9-116B-58C2-CBA85F6E02C7}"/>
                </a:ext>
              </a:extLst>
            </p:cNvPr>
            <p:cNvSpPr txBox="1"/>
            <p:nvPr/>
          </p:nvSpPr>
          <p:spPr>
            <a:xfrm>
              <a:off x="3729528" y="5207263"/>
              <a:ext cx="1992243" cy="917481"/>
            </a:xfrm>
            <a:prstGeom prst="wedgeRectCallout">
              <a:avLst/>
            </a:prstGeom>
            <a:grp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latin typeface="+mn-ea"/>
                </a:rPr>
                <a:t>顧客の評価と</a:t>
              </a:r>
              <a:endParaRPr lang="en-US" altLang="ja-JP" sz="1600" b="1" dirty="0">
                <a:latin typeface="+mn-ea"/>
              </a:endParaRPr>
            </a:p>
            <a:p>
              <a:r>
                <a:rPr lang="ja-JP" altLang="en-US" sz="1600" b="1" dirty="0">
                  <a:latin typeface="+mn-ea"/>
                </a:rPr>
                <a:t>需要を考慮した</a:t>
              </a:r>
              <a:endParaRPr lang="en-US" altLang="ja-JP" sz="1600" b="1" dirty="0">
                <a:latin typeface="+mn-ea"/>
              </a:endParaRPr>
            </a:p>
            <a:p>
              <a:r>
                <a:rPr lang="ja-JP" altLang="en-US" sz="1600" b="1" dirty="0">
                  <a:latin typeface="+mn-ea"/>
                </a:rPr>
                <a:t>価格設定が可能に！</a:t>
              </a:r>
              <a:endParaRPr lang="en-US" altLang="ja-JP" sz="1600" b="1" dirty="0">
                <a:latin typeface="+mn-ea"/>
              </a:endParaRPr>
            </a:p>
          </p:txBody>
        </p:sp>
      </p:grpSp>
      <p:grpSp>
        <p:nvGrpSpPr>
          <p:cNvPr id="6" name="グループ化 5">
            <a:extLst>
              <a:ext uri="{FF2B5EF4-FFF2-40B4-BE49-F238E27FC236}">
                <a16:creationId xmlns:a16="http://schemas.microsoft.com/office/drawing/2014/main" id="{DC15AC87-6BB4-9043-4B30-0AF7BDE98907}"/>
              </a:ext>
            </a:extLst>
          </p:cNvPr>
          <p:cNvGrpSpPr/>
          <p:nvPr/>
        </p:nvGrpSpPr>
        <p:grpSpPr>
          <a:xfrm>
            <a:off x="5713616" y="4982661"/>
            <a:ext cx="1367806" cy="1143619"/>
            <a:chOff x="9277860" y="2602440"/>
            <a:chExt cx="1212105" cy="1016679"/>
          </a:xfrm>
        </p:grpSpPr>
        <p:sp>
          <p:nvSpPr>
            <p:cNvPr id="48" name="テキスト ボックス 47">
              <a:extLst>
                <a:ext uri="{FF2B5EF4-FFF2-40B4-BE49-F238E27FC236}">
                  <a16:creationId xmlns:a16="http://schemas.microsoft.com/office/drawing/2014/main" id="{4095D34F-947C-1203-6BC7-27420DF6DE91}"/>
                </a:ext>
              </a:extLst>
            </p:cNvPr>
            <p:cNvSpPr txBox="1"/>
            <p:nvPr/>
          </p:nvSpPr>
          <p:spPr>
            <a:xfrm>
              <a:off x="9277860" y="3126614"/>
              <a:ext cx="1212105" cy="492505"/>
            </a:xfrm>
            <a:prstGeom prst="rect">
              <a:avLst/>
            </a:prstGeom>
            <a:noFill/>
          </p:spPr>
          <p:txBody>
            <a:bodyPr wrap="square" rtlCol="0">
              <a:spAutoFit/>
            </a:bodyPr>
            <a:lstStyle/>
            <a:p>
              <a:r>
                <a:rPr lang="ja-JP" altLang="en-US" sz="1600" b="1" dirty="0">
                  <a:latin typeface="+mn-ea"/>
                </a:rPr>
                <a:t> </a:t>
              </a:r>
              <a:r>
                <a:rPr lang="ja-JP" altLang="en-US" sz="1400" b="1" dirty="0">
                  <a:latin typeface="+mn-ea"/>
                </a:rPr>
                <a:t>稼働率</a:t>
              </a:r>
              <a:br>
                <a:rPr lang="en-US" altLang="ja-JP" sz="1400" b="1" dirty="0">
                  <a:latin typeface="+mn-ea"/>
                </a:rPr>
              </a:br>
              <a:r>
                <a:rPr lang="ja-JP" altLang="en-US" sz="1400" b="1" dirty="0">
                  <a:latin typeface="+mn-ea"/>
                </a:rPr>
                <a:t>予測結果</a:t>
              </a:r>
              <a:endParaRPr lang="en-US" altLang="ja-JP" sz="1400" b="1" dirty="0">
                <a:latin typeface="+mn-ea"/>
              </a:endParaRPr>
            </a:p>
          </p:txBody>
        </p:sp>
        <p:pic>
          <p:nvPicPr>
            <p:cNvPr id="76" name="図 75">
              <a:extLst>
                <a:ext uri="{FF2B5EF4-FFF2-40B4-BE49-F238E27FC236}">
                  <a16:creationId xmlns:a16="http://schemas.microsoft.com/office/drawing/2014/main" id="{7D12B1AC-FF29-4FE9-FCB7-30EA6738F982}"/>
                </a:ext>
              </a:extLst>
            </p:cNvPr>
            <p:cNvPicPr>
              <a:picLocks noChangeAspect="1"/>
            </p:cNvPicPr>
            <p:nvPr/>
          </p:nvPicPr>
          <p:blipFill>
            <a:blip r:embed="rId6" cstate="print">
              <a:extLst>
                <a:ext uri="{28A0092B-C50C-407E-A947-70E740481C1C}">
                  <a14:useLocalDpi xmlns:a14="http://schemas.microsoft.com/office/drawing/2010/main" val="0"/>
                </a:ext>
              </a:extLst>
            </a:blip>
            <a:srcRect l="-1755" t="65812" r="60843" b="-516"/>
            <a:stretch>
              <a:fillRect/>
            </a:stretch>
          </p:blipFill>
          <p:spPr>
            <a:xfrm>
              <a:off x="9305384" y="2602440"/>
              <a:ext cx="726022" cy="582314"/>
            </a:xfrm>
            <a:prstGeom prst="rect">
              <a:avLst/>
            </a:prstGeom>
          </p:spPr>
        </p:pic>
      </p:grpSp>
      <p:cxnSp>
        <p:nvCxnSpPr>
          <p:cNvPr id="105" name="コネクタ: カギ線 104">
            <a:extLst>
              <a:ext uri="{FF2B5EF4-FFF2-40B4-BE49-F238E27FC236}">
                <a16:creationId xmlns:a16="http://schemas.microsoft.com/office/drawing/2014/main" id="{E4D3D465-6203-52AB-6F8F-CA5DA00CB7D7}"/>
              </a:ext>
            </a:extLst>
          </p:cNvPr>
          <p:cNvCxnSpPr>
            <a:cxnSpLocks/>
            <a:stCxn id="13" idx="3"/>
            <a:endCxn id="56" idx="1"/>
          </p:cNvCxnSpPr>
          <p:nvPr/>
        </p:nvCxnSpPr>
        <p:spPr>
          <a:xfrm>
            <a:off x="7641978" y="2658701"/>
            <a:ext cx="2437246" cy="1097032"/>
          </a:xfrm>
          <a:prstGeom prst="bentConnector3">
            <a:avLst>
              <a:gd name="adj1" fmla="val 12333"/>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sp>
        <p:nvSpPr>
          <p:cNvPr id="136" name="テキスト ボックス 135">
            <a:extLst>
              <a:ext uri="{FF2B5EF4-FFF2-40B4-BE49-F238E27FC236}">
                <a16:creationId xmlns:a16="http://schemas.microsoft.com/office/drawing/2014/main" id="{5CB5953E-86AE-32EB-18B0-2074DF251945}"/>
              </a:ext>
            </a:extLst>
          </p:cNvPr>
          <p:cNvSpPr txBox="1"/>
          <p:nvPr/>
        </p:nvSpPr>
        <p:spPr>
          <a:xfrm>
            <a:off x="8542023" y="4410451"/>
            <a:ext cx="1740445" cy="523220"/>
          </a:xfrm>
          <a:prstGeom prst="rect">
            <a:avLst/>
          </a:prstGeom>
          <a:noFill/>
        </p:spPr>
        <p:txBody>
          <a:bodyPr wrap="square" rtlCol="0">
            <a:spAutoFit/>
          </a:bodyPr>
          <a:lstStyle/>
          <a:p>
            <a:r>
              <a:rPr lang="ja-JP" altLang="en-US" sz="1400" b="1" dirty="0">
                <a:solidFill>
                  <a:srgbClr val="882312"/>
                </a:solidFill>
              </a:rPr>
              <a:t>価格提案モデル</a:t>
            </a:r>
            <a:endParaRPr lang="en-US" altLang="ja-JP" sz="1400" b="1" dirty="0">
              <a:solidFill>
                <a:srgbClr val="882312"/>
              </a:solidFill>
            </a:endParaRPr>
          </a:p>
          <a:p>
            <a:r>
              <a:rPr lang="en-US" altLang="ja-JP" sz="1400" b="1" dirty="0">
                <a:solidFill>
                  <a:srgbClr val="882312"/>
                </a:solidFill>
              </a:rPr>
              <a:t>       </a:t>
            </a:r>
            <a:r>
              <a:rPr lang="en-US" altLang="ja-JP" sz="1400" dirty="0">
                <a:solidFill>
                  <a:srgbClr val="882312"/>
                </a:solidFill>
              </a:rPr>
              <a:t>LLM</a:t>
            </a:r>
          </a:p>
        </p:txBody>
      </p:sp>
      <p:pic>
        <p:nvPicPr>
          <p:cNvPr id="137" name="図 136">
            <a:extLst>
              <a:ext uri="{FF2B5EF4-FFF2-40B4-BE49-F238E27FC236}">
                <a16:creationId xmlns:a16="http://schemas.microsoft.com/office/drawing/2014/main" id="{AF8F407D-A7A8-52E2-341C-25501A17234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6541" y="3944954"/>
            <a:ext cx="413511" cy="467829"/>
          </a:xfrm>
          <a:prstGeom prst="rect">
            <a:avLst/>
          </a:prstGeom>
        </p:spPr>
      </p:pic>
      <p:sp>
        <p:nvSpPr>
          <p:cNvPr id="150" name="テキスト ボックス 149">
            <a:extLst>
              <a:ext uri="{FF2B5EF4-FFF2-40B4-BE49-F238E27FC236}">
                <a16:creationId xmlns:a16="http://schemas.microsoft.com/office/drawing/2014/main" id="{033756C7-C9A3-D7DF-CD22-AE8AF3A40D9D}"/>
              </a:ext>
            </a:extLst>
          </p:cNvPr>
          <p:cNvSpPr txBox="1"/>
          <p:nvPr/>
        </p:nvSpPr>
        <p:spPr>
          <a:xfrm>
            <a:off x="2508612" y="1790437"/>
            <a:ext cx="734400"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endParaRPr kumimoji="1" lang="ja-JP" altLang="en-US" sz="1600" b="1" dirty="0">
              <a:solidFill>
                <a:schemeClr val="bg1"/>
              </a:solidFill>
            </a:endParaRPr>
          </a:p>
        </p:txBody>
      </p:sp>
      <p:sp>
        <p:nvSpPr>
          <p:cNvPr id="151" name="テキスト ボックス 150">
            <a:extLst>
              <a:ext uri="{FF2B5EF4-FFF2-40B4-BE49-F238E27FC236}">
                <a16:creationId xmlns:a16="http://schemas.microsoft.com/office/drawing/2014/main" id="{491767ED-D8EA-3B42-5B86-629728ECDBA6}"/>
              </a:ext>
            </a:extLst>
          </p:cNvPr>
          <p:cNvSpPr txBox="1"/>
          <p:nvPr/>
        </p:nvSpPr>
        <p:spPr>
          <a:xfrm>
            <a:off x="3835339" y="3905056"/>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a:t>
            </a:r>
            <a:endParaRPr kumimoji="1" lang="ja-JP" altLang="en-US" sz="1600" b="1" dirty="0">
              <a:solidFill>
                <a:schemeClr val="bg1"/>
              </a:solidFill>
            </a:endParaRPr>
          </a:p>
        </p:txBody>
      </p:sp>
      <p:grpSp>
        <p:nvGrpSpPr>
          <p:cNvPr id="35" name="グループ化 34">
            <a:extLst>
              <a:ext uri="{FF2B5EF4-FFF2-40B4-BE49-F238E27FC236}">
                <a16:creationId xmlns:a16="http://schemas.microsoft.com/office/drawing/2014/main" id="{DECF2E45-E2BA-BD5D-5B05-48B8373EA296}"/>
              </a:ext>
            </a:extLst>
          </p:cNvPr>
          <p:cNvGrpSpPr/>
          <p:nvPr/>
        </p:nvGrpSpPr>
        <p:grpSpPr>
          <a:xfrm>
            <a:off x="8191170" y="2965014"/>
            <a:ext cx="1771701" cy="626309"/>
            <a:chOff x="7621355" y="2997247"/>
            <a:chExt cx="1771701" cy="626309"/>
          </a:xfrm>
        </p:grpSpPr>
        <p:sp>
          <p:nvSpPr>
            <p:cNvPr id="62" name="テキスト ボックス 61">
              <a:extLst>
                <a:ext uri="{FF2B5EF4-FFF2-40B4-BE49-F238E27FC236}">
                  <a16:creationId xmlns:a16="http://schemas.microsoft.com/office/drawing/2014/main" id="{7BFFF1B6-6584-41F1-A983-3685663288AB}"/>
                </a:ext>
              </a:extLst>
            </p:cNvPr>
            <p:cNvSpPr txBox="1"/>
            <p:nvPr/>
          </p:nvSpPr>
          <p:spPr>
            <a:xfrm>
              <a:off x="7635060" y="3285002"/>
              <a:ext cx="1757996"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適切な価格を提案</a:t>
              </a:r>
              <a:endParaRPr kumimoji="1" lang="en-US" altLang="ja-JP" sz="1600" b="1" dirty="0"/>
            </a:p>
          </p:txBody>
        </p:sp>
        <p:sp>
          <p:nvSpPr>
            <p:cNvPr id="152" name="テキスト ボックス 151">
              <a:extLst>
                <a:ext uri="{FF2B5EF4-FFF2-40B4-BE49-F238E27FC236}">
                  <a16:creationId xmlns:a16="http://schemas.microsoft.com/office/drawing/2014/main" id="{5C827FEE-457A-DEAD-4334-B15E0E3DFB6F}"/>
                </a:ext>
              </a:extLst>
            </p:cNvPr>
            <p:cNvSpPr txBox="1"/>
            <p:nvPr/>
          </p:nvSpPr>
          <p:spPr>
            <a:xfrm>
              <a:off x="7621355" y="2997247"/>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a:t>
              </a:r>
              <a:endParaRPr kumimoji="1" lang="ja-JP" altLang="en-US" sz="1600" b="1" dirty="0">
                <a:solidFill>
                  <a:schemeClr val="bg1"/>
                </a:solidFill>
              </a:endParaRPr>
            </a:p>
          </p:txBody>
        </p:sp>
      </p:grpSp>
      <p:grpSp>
        <p:nvGrpSpPr>
          <p:cNvPr id="81" name="グループ化 80">
            <a:extLst>
              <a:ext uri="{FF2B5EF4-FFF2-40B4-BE49-F238E27FC236}">
                <a16:creationId xmlns:a16="http://schemas.microsoft.com/office/drawing/2014/main" id="{CB6458F0-D89A-B120-D2B3-09EC5DBF61AD}"/>
              </a:ext>
            </a:extLst>
          </p:cNvPr>
          <p:cNvGrpSpPr/>
          <p:nvPr/>
        </p:nvGrpSpPr>
        <p:grpSpPr>
          <a:xfrm>
            <a:off x="4484597" y="1598819"/>
            <a:ext cx="3503000" cy="1792524"/>
            <a:chOff x="4620787" y="1598819"/>
            <a:chExt cx="3503000" cy="1792524"/>
          </a:xfrm>
        </p:grpSpPr>
        <p:sp>
          <p:nvSpPr>
            <p:cNvPr id="29" name="テキスト ボックス 28">
              <a:extLst>
                <a:ext uri="{FF2B5EF4-FFF2-40B4-BE49-F238E27FC236}">
                  <a16:creationId xmlns:a16="http://schemas.microsoft.com/office/drawing/2014/main" id="{6575A435-3403-0CD0-5756-A524221E0F40}"/>
                </a:ext>
              </a:extLst>
            </p:cNvPr>
            <p:cNvSpPr txBox="1"/>
            <p:nvPr/>
          </p:nvSpPr>
          <p:spPr>
            <a:xfrm>
              <a:off x="6664880" y="2880516"/>
              <a:ext cx="1458907" cy="307777"/>
            </a:xfrm>
            <a:prstGeom prst="rect">
              <a:avLst/>
            </a:prstGeom>
            <a:noFill/>
          </p:spPr>
          <p:txBody>
            <a:bodyPr wrap="square" rtlCol="0">
              <a:spAutoFit/>
            </a:bodyPr>
            <a:lstStyle/>
            <a:p>
              <a:r>
                <a:rPr lang="ja-JP" altLang="en-US" sz="1400" b="1" dirty="0"/>
                <a:t>経営データ</a:t>
              </a:r>
              <a:endParaRPr lang="en-US" altLang="ja-JP" sz="1400" b="1" dirty="0"/>
            </a:p>
          </p:txBody>
        </p:sp>
        <p:pic>
          <p:nvPicPr>
            <p:cNvPr id="74" name="図 73">
              <a:extLst>
                <a:ext uri="{FF2B5EF4-FFF2-40B4-BE49-F238E27FC236}">
                  <a16:creationId xmlns:a16="http://schemas.microsoft.com/office/drawing/2014/main" id="{ECE7E12A-8171-23FB-DF00-84BBE84BE38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646" y="2267831"/>
              <a:ext cx="583032" cy="599106"/>
            </a:xfrm>
            <a:prstGeom prst="rect">
              <a:avLst/>
            </a:prstGeom>
          </p:spPr>
        </p:pic>
        <p:sp>
          <p:nvSpPr>
            <p:cNvPr id="11" name="テキスト ボックス 10">
              <a:extLst>
                <a:ext uri="{FF2B5EF4-FFF2-40B4-BE49-F238E27FC236}">
                  <a16:creationId xmlns:a16="http://schemas.microsoft.com/office/drawing/2014/main" id="{7AA73D55-79C0-C3FD-74C2-B954326EF6AE}"/>
                </a:ext>
              </a:extLst>
            </p:cNvPr>
            <p:cNvSpPr txBox="1"/>
            <p:nvPr/>
          </p:nvSpPr>
          <p:spPr>
            <a:xfrm>
              <a:off x="4751306" y="2872223"/>
              <a:ext cx="1674678" cy="307777"/>
            </a:xfrm>
            <a:prstGeom prst="rect">
              <a:avLst/>
            </a:prstGeom>
            <a:noFill/>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EBA3E9DE-C1C9-E107-68F0-2E5CBBD50FAC}"/>
                </a:ext>
              </a:extLst>
            </p:cNvPr>
            <p:cNvSpPr/>
            <p:nvPr/>
          </p:nvSpPr>
          <p:spPr>
            <a:xfrm>
              <a:off x="4620787" y="1926058"/>
              <a:ext cx="3157381" cy="1465285"/>
            </a:xfrm>
            <a:prstGeom prst="roundRect">
              <a:avLst/>
            </a:prstGeom>
            <a:noFill/>
            <a:ln w="19050" cap="flat" cmpd="sng" algn="ctr">
              <a:solidFill>
                <a:schemeClr val="accent4">
                  <a:lumMod val="75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4C78158A-86A6-9A84-9199-11978BCBB9AD}"/>
                </a:ext>
              </a:extLst>
            </p:cNvPr>
            <p:cNvSpPr txBox="1"/>
            <p:nvPr/>
          </p:nvSpPr>
          <p:spPr>
            <a:xfrm>
              <a:off x="5524020" y="1598819"/>
              <a:ext cx="1303508" cy="338554"/>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宿泊施設</a:t>
              </a:r>
              <a:r>
                <a:rPr kumimoji="1" lang="en-US" altLang="ja-JP" sz="1600" b="1" dirty="0">
                  <a:solidFill>
                    <a:schemeClr val="bg1"/>
                  </a:solidFill>
                </a:rPr>
                <a:t>DB</a:t>
              </a:r>
              <a:endParaRPr kumimoji="1" lang="ja-JP" altLang="en-US" sz="1600" b="1" dirty="0">
                <a:solidFill>
                  <a:schemeClr val="bg1"/>
                </a:solidFill>
              </a:endParaRPr>
            </a:p>
          </p:txBody>
        </p:sp>
      </p:grpSp>
      <p:sp>
        <p:nvSpPr>
          <p:cNvPr id="26" name="矢印: 右 25">
            <a:extLst>
              <a:ext uri="{FF2B5EF4-FFF2-40B4-BE49-F238E27FC236}">
                <a16:creationId xmlns:a16="http://schemas.microsoft.com/office/drawing/2014/main" id="{AE7B6064-7491-871D-15FB-EF0C036AD4DB}"/>
              </a:ext>
            </a:extLst>
          </p:cNvPr>
          <p:cNvSpPr/>
          <p:nvPr/>
        </p:nvSpPr>
        <p:spPr>
          <a:xfrm rot="5400000">
            <a:off x="5421917" y="4076563"/>
            <a:ext cx="1394774" cy="338554"/>
          </a:xfrm>
          <a:prstGeom prst="rightArrow">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535F33FD-5E70-EEDA-38DE-819AAB6E9523}"/>
              </a:ext>
            </a:extLst>
          </p:cNvPr>
          <p:cNvGrpSpPr/>
          <p:nvPr/>
        </p:nvGrpSpPr>
        <p:grpSpPr>
          <a:xfrm>
            <a:off x="6319727" y="3629943"/>
            <a:ext cx="1523390" cy="1018993"/>
            <a:chOff x="6355405" y="3486074"/>
            <a:chExt cx="1523390" cy="1018993"/>
          </a:xfrm>
        </p:grpSpPr>
        <p:sp>
          <p:nvSpPr>
            <p:cNvPr id="38" name="テキスト ボックス 37">
              <a:extLst>
                <a:ext uri="{FF2B5EF4-FFF2-40B4-BE49-F238E27FC236}">
                  <a16:creationId xmlns:a16="http://schemas.microsoft.com/office/drawing/2014/main" id="{3BEDBB5A-F862-5FCA-72F5-3D93FFA30727}"/>
                </a:ext>
              </a:extLst>
            </p:cNvPr>
            <p:cNvSpPr txBox="1"/>
            <p:nvPr/>
          </p:nvSpPr>
          <p:spPr>
            <a:xfrm>
              <a:off x="6355405" y="3981847"/>
              <a:ext cx="1523390" cy="523220"/>
            </a:xfrm>
            <a:prstGeom prst="rect">
              <a:avLst/>
            </a:prstGeom>
            <a:noFill/>
          </p:spPr>
          <p:txBody>
            <a:bodyPr wrap="square" rtlCol="0">
              <a:spAutoFit/>
            </a:bodyPr>
            <a:lstStyle/>
            <a:p>
              <a:r>
                <a:rPr lang="ja-JP" altLang="en-US" sz="1400" b="1" dirty="0">
                  <a:solidFill>
                    <a:srgbClr val="002060"/>
                  </a:solidFill>
                </a:rPr>
                <a:t>需要予測モデル</a:t>
              </a:r>
              <a:endParaRPr lang="en-US" altLang="ja-JP" sz="1400" b="1" dirty="0">
                <a:solidFill>
                  <a:srgbClr val="002060"/>
                </a:solidFill>
              </a:endParaRPr>
            </a:p>
            <a:p>
              <a:r>
                <a:rPr kumimoji="1" lang="en-US" altLang="ja-JP" sz="1400" dirty="0">
                  <a:solidFill>
                    <a:srgbClr val="002060"/>
                  </a:solidFill>
                </a:rPr>
                <a:t>    </a:t>
              </a:r>
              <a:r>
                <a:rPr kumimoji="1" lang="en-US" altLang="ja-JP" sz="1400" dirty="0" err="1">
                  <a:solidFill>
                    <a:srgbClr val="002060"/>
                  </a:solidFill>
                </a:rPr>
                <a:t>Catboost</a:t>
              </a:r>
              <a:endParaRPr kumimoji="1" lang="ja-JP" altLang="en-US" sz="1400" dirty="0">
                <a:solidFill>
                  <a:srgbClr val="002060"/>
                </a:solidFill>
              </a:endParaRPr>
            </a:p>
          </p:txBody>
        </p:sp>
        <p:pic>
          <p:nvPicPr>
            <p:cNvPr id="77" name="グラフィックス 76" descr="統計 枠線">
              <a:extLst>
                <a:ext uri="{FF2B5EF4-FFF2-40B4-BE49-F238E27FC236}">
                  <a16:creationId xmlns:a16="http://schemas.microsoft.com/office/drawing/2014/main" id="{D921945C-4EA6-BE1A-CF1D-BA1477D00A3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8427" y="3486074"/>
              <a:ext cx="605454" cy="524735"/>
            </a:xfrm>
            <a:prstGeom prst="rect">
              <a:avLst/>
            </a:prstGeom>
          </p:spPr>
        </p:pic>
      </p:grpSp>
      <p:cxnSp>
        <p:nvCxnSpPr>
          <p:cNvPr id="30" name="コネクタ: カギ線 29">
            <a:extLst>
              <a:ext uri="{FF2B5EF4-FFF2-40B4-BE49-F238E27FC236}">
                <a16:creationId xmlns:a16="http://schemas.microsoft.com/office/drawing/2014/main" id="{D486486E-5FDA-BFF2-E73A-89F4B3BD94B9}"/>
              </a:ext>
            </a:extLst>
          </p:cNvPr>
          <p:cNvCxnSpPr>
            <a:cxnSpLocks/>
            <a:stCxn id="76" idx="3"/>
            <a:endCxn id="56" idx="1"/>
          </p:cNvCxnSpPr>
          <p:nvPr/>
        </p:nvCxnSpPr>
        <p:spPr>
          <a:xfrm flipV="1">
            <a:off x="6563959" y="3755733"/>
            <a:ext cx="3515265" cy="1554438"/>
          </a:xfrm>
          <a:prstGeom prst="bentConnector3">
            <a:avLst>
              <a:gd name="adj1" fmla="val 39208"/>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grpSp>
        <p:nvGrpSpPr>
          <p:cNvPr id="63" name="グループ化 62">
            <a:extLst>
              <a:ext uri="{FF2B5EF4-FFF2-40B4-BE49-F238E27FC236}">
                <a16:creationId xmlns:a16="http://schemas.microsoft.com/office/drawing/2014/main" id="{740765D1-12A3-0B21-1EE3-92471178ED05}"/>
              </a:ext>
            </a:extLst>
          </p:cNvPr>
          <p:cNvGrpSpPr/>
          <p:nvPr/>
        </p:nvGrpSpPr>
        <p:grpSpPr>
          <a:xfrm>
            <a:off x="8306319" y="5251926"/>
            <a:ext cx="1296396" cy="1535621"/>
            <a:chOff x="8213364" y="5125466"/>
            <a:chExt cx="1296396" cy="1535621"/>
          </a:xfrm>
        </p:grpSpPr>
        <p:sp>
          <p:nvSpPr>
            <p:cNvPr id="72" name="テキスト ボックス 71">
              <a:extLst>
                <a:ext uri="{FF2B5EF4-FFF2-40B4-BE49-F238E27FC236}">
                  <a16:creationId xmlns:a16="http://schemas.microsoft.com/office/drawing/2014/main" id="{4605284F-CD69-904C-029E-91DF875C9C79}"/>
                </a:ext>
              </a:extLst>
            </p:cNvPr>
            <p:cNvSpPr txBox="1"/>
            <p:nvPr/>
          </p:nvSpPr>
          <p:spPr>
            <a:xfrm>
              <a:off x="8213364" y="6322533"/>
              <a:ext cx="1296396" cy="338554"/>
            </a:xfrm>
            <a:prstGeom prst="rect">
              <a:avLst/>
            </a:prstGeom>
            <a:noFill/>
          </p:spPr>
          <p:txBody>
            <a:bodyPr wrap="square" rtlCol="0">
              <a:spAutoFit/>
            </a:bodyPr>
            <a:lstStyle/>
            <a:p>
              <a:r>
                <a:rPr lang="ja-JP" altLang="en-US" sz="1600" b="1" dirty="0"/>
                <a:t>ホテル運営者</a:t>
              </a:r>
              <a:endParaRPr lang="en-US" altLang="ja-JP" sz="1600" b="1" dirty="0"/>
            </a:p>
          </p:txBody>
        </p:sp>
        <p:pic>
          <p:nvPicPr>
            <p:cNvPr id="50" name="図 49" descr="アイコン&#10;&#10;AI 生成コンテンツは誤りを含む可能性があります。">
              <a:extLst>
                <a:ext uri="{FF2B5EF4-FFF2-40B4-BE49-F238E27FC236}">
                  <a16:creationId xmlns:a16="http://schemas.microsoft.com/office/drawing/2014/main" id="{6FF191BC-AD2E-EA4A-DF98-84088070A80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10755" y="5125466"/>
              <a:ext cx="819283" cy="1200346"/>
            </a:xfrm>
            <a:prstGeom prst="rect">
              <a:avLst/>
            </a:prstGeom>
          </p:spPr>
        </p:pic>
      </p:grpSp>
    </p:spTree>
    <p:extLst>
      <p:ext uri="{BB962C8B-B14F-4D97-AF65-F5344CB8AC3E}">
        <p14:creationId xmlns:p14="http://schemas.microsoft.com/office/powerpoint/2010/main" val="2458750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EDE5-79E6-84C2-D424-EDE77DDE7B1A}"/>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EC86BFA-4F45-724C-A52B-E744D6B9CD84}"/>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11D87107-A901-FF84-C95D-EF73D3B76FBD}"/>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C7F13C0A-DF4B-4FFD-F404-A96B85177DAB}"/>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1D13EA2-BB72-F252-5B89-E21F44363A33}"/>
              </a:ext>
            </a:extLst>
          </p:cNvPr>
          <p:cNvSpPr txBox="1"/>
          <p:nvPr/>
        </p:nvSpPr>
        <p:spPr>
          <a:xfrm>
            <a:off x="3408381" y="2389447"/>
            <a:ext cx="5151120" cy="1569660"/>
          </a:xfrm>
          <a:prstGeom prst="rect">
            <a:avLst/>
          </a:prstGeom>
          <a:noFill/>
        </p:spPr>
        <p:txBody>
          <a:bodyPr wrap="square" rtlCol="0">
            <a:spAutoFit/>
          </a:bodyPr>
          <a:lstStyle/>
          <a:p>
            <a:r>
              <a:rPr lang="ja-JP" altLang="en-US" sz="9600" b="1" dirty="0"/>
              <a:t>需要予測</a:t>
            </a:r>
            <a:endParaRPr kumimoji="1" lang="ja-JP" altLang="en-US" sz="9600" b="1" dirty="0"/>
          </a:p>
        </p:txBody>
      </p:sp>
    </p:spTree>
    <p:extLst>
      <p:ext uri="{BB962C8B-B14F-4D97-AF65-F5344CB8AC3E}">
        <p14:creationId xmlns:p14="http://schemas.microsoft.com/office/powerpoint/2010/main" val="2661848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6690-821C-8978-79C5-21C6D8B707CF}"/>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185B06E0-D955-D48A-5C1B-39A4DBC6F681}"/>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565FB4CD-E412-AB4C-F4DA-BC482A3824CB}"/>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29A1E890-355C-7BE0-5E55-197E8E6495CB}"/>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ECDE8D3A-1396-FD7F-F59A-4B10F4F13543}"/>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7E570E4C-964A-A1D5-878F-0A2F79C1E4E4}"/>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4C84DB48-03B8-0410-129E-DA7B7CC9CA38}"/>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6FD72755-BE2B-91B3-ABFE-9BAF47133ABA}"/>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BE07F7DF-5542-9822-5CBD-1D0CDF97E1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E58BB32F-0B64-F412-800F-1EC7953DCE21}"/>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77703642-BD58-6F42-AC0F-3AEABF165E69}"/>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B34A8137-24F3-AD6A-1DC4-F29A02E739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49766137-D7EE-FE63-A69B-10D8A911F0B7}"/>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386115A0-2D92-EF4B-9058-A87D15FE933B}"/>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AC885D4B-4BC1-45FC-C6B7-04AD03CCAD09}"/>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AAE78715-1EB6-7F7E-B2AB-D54DC5016767}"/>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CC976996-E33F-41B9-A9F3-12EF40C37A3C}"/>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6391DF0C-C2B7-CAD4-5AFD-96D6B5E83E5E}"/>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81BE79AB-9A3C-7BEC-73FE-82DDEC0EBE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D8CE129F-F352-2BC0-E125-FFCE2A814A70}"/>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6CA6C862-A6A5-C6FF-48C4-A92C83DB80D5}"/>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3A29106B-CA57-F09E-43BB-FE04EE4D4CB0}"/>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C34C44EA-DDF9-7FDF-604E-6E721874849E}"/>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40F0A828-CC58-C70D-9515-85C63E2D49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AD835256-6339-8033-CAEE-35E6DE413F54}"/>
              </a:ext>
            </a:extLst>
          </p:cNvPr>
          <p:cNvSpPr txBox="1"/>
          <p:nvPr/>
        </p:nvSpPr>
        <p:spPr>
          <a:xfrm>
            <a:off x="7752864" y="1539202"/>
            <a:ext cx="2277828"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607CE582-7E02-7BB6-222A-B5F60825DF27}"/>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EEBFEEFC-6DF0-507C-9A5C-92AE3AD855E9}"/>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3081D83C-66C1-19D4-6A1D-8039A8955CE9}"/>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49C08BF1-3A60-F062-CE6D-51F2134EA08B}"/>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C6AC390F-EF8B-6FD6-4B75-5AD1AB2A5F60}"/>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444BF984-3AB0-93E9-D442-43C8404A40A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94BDFE34-D769-2418-CC80-382BE3F5D5F0}"/>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94BDFE34-D769-2418-CC80-382BE3F5D5F0}"/>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3D57A047-AF4D-8A1A-C484-952650828BF4}"/>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DB4E2754-D59A-15E1-755E-07FF0017FDFB}"/>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C26E66FA-7F5E-87A6-3359-BD4617599584}"/>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8218B80D-F79F-B3FD-5D8A-FFAF4679ED7B}"/>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74F495A7-F715-A069-1A9B-31FCFC7136EC}"/>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8EA18F5E-1B6C-3706-56CB-A902C18D2780}"/>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38F2F3CA-DF56-28FD-A074-7E76E8106D7B}"/>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CB31F4D8-1AF8-170E-0B25-AED16B1B3B2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0E274E7A-DC6E-4656-FA0D-88A168B7D47C}"/>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3F224660-D888-8600-656C-A1EFE9CE04E9}"/>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DAF9C9EB-FA49-3F4C-312A-96F38FBBD9C9}"/>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435B806D-B626-CD5F-D457-8686002E0EB2}"/>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B719210A-7478-48F8-9FF2-99D9CF43C758}"/>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1C6C2CBC-DA8D-B48F-1327-03BFBF966C28}"/>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6ED782DE-9314-22F0-17CC-EEFD074608C3}"/>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77DDBA21-BD25-595E-AB09-AEA45BEF03B9}"/>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965F40EC-6F52-493B-8B66-868DF0328381}"/>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0AA14956-32B1-AA2A-CE5A-2D4B0DEA981D}"/>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AE334C25-BE17-A8C0-17FC-A2D3AD4B30BE}"/>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FFF8D16D-0127-60C0-D42B-20B3F61BEF5D}"/>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914175AE-78B4-C510-6605-A44FA5734EFF}"/>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3128244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4BF9B97-34F3-9B93-6D57-4FF96372EAF3}"/>
              </a:ext>
            </a:extLst>
          </p:cNvPr>
          <p:cNvSpPr/>
          <p:nvPr/>
        </p:nvSpPr>
        <p:spPr>
          <a:xfrm>
            <a:off x="0" y="1125206"/>
            <a:ext cx="12192000" cy="573279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p:txBody>
          <a:bodyPr>
            <a:normAutofit fontScale="92500" lnSpcReduction="10000"/>
          </a:bodyPr>
          <a:lstStyle/>
          <a:p>
            <a:r>
              <a:rPr kumimoji="1" lang="ja-JP" altLang="en-US" dirty="0"/>
              <a:t>感情情報を用いた</a:t>
            </a:r>
            <a:r>
              <a:rPr lang="ja-JP" altLang="en-US" dirty="0"/>
              <a:t>需要予測</a:t>
            </a:r>
            <a:endParaRPr kumimoji="1" lang="ja-JP" altLang="en-US" dirty="0"/>
          </a:p>
        </p:txBody>
      </p:sp>
      <p:sp>
        <p:nvSpPr>
          <p:cNvPr id="2" name="正方形/長方形 1">
            <a:extLst>
              <a:ext uri="{FF2B5EF4-FFF2-40B4-BE49-F238E27FC236}">
                <a16:creationId xmlns:a16="http://schemas.microsoft.com/office/drawing/2014/main" id="{3F01D20D-44D4-579B-84A4-9962C2CED708}"/>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需要予測</a:t>
            </a:r>
            <a:r>
              <a:rPr lang="ja-JP" altLang="en-US" sz="2400" dirty="0">
                <a:solidFill>
                  <a:schemeClr val="tx1">
                    <a:lumMod val="75000"/>
                  </a:schemeClr>
                </a:solidFill>
              </a:rPr>
              <a:t>の結果の可視化により経営判断に生かせる結果にした</a:t>
            </a:r>
            <a:endParaRPr kumimoji="1" lang="ja-JP" altLang="en-US" sz="2400" dirty="0">
              <a:solidFill>
                <a:schemeClr val="tx1">
                  <a:lumMod val="75000"/>
                </a:schemeClr>
              </a:solidFill>
            </a:endParaRPr>
          </a:p>
        </p:txBody>
      </p:sp>
      <p:pic>
        <p:nvPicPr>
          <p:cNvPr id="13" name="図 12" descr="グラフ, 折れ線グラフ&#10;&#10;AI 生成コンテンツは誤りを含む可能性があります。">
            <a:extLst>
              <a:ext uri="{FF2B5EF4-FFF2-40B4-BE49-F238E27FC236}">
                <a16:creationId xmlns:a16="http://schemas.microsoft.com/office/drawing/2014/main" id="{EE9EA0B0-0A1E-F72F-2F23-B5818F5D04BA}"/>
              </a:ext>
            </a:extLst>
          </p:cNvPr>
          <p:cNvPicPr>
            <a:picLocks noChangeAspect="1"/>
          </p:cNvPicPr>
          <p:nvPr/>
        </p:nvPicPr>
        <p:blipFill>
          <a:blip r:embed="rId3"/>
          <a:stretch>
            <a:fillRect/>
          </a:stretch>
        </p:blipFill>
        <p:spPr>
          <a:xfrm>
            <a:off x="646508" y="1458497"/>
            <a:ext cx="10898984" cy="50662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65968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正方形/長方形 76">
            <a:extLst>
              <a:ext uri="{FF2B5EF4-FFF2-40B4-BE49-F238E27FC236}">
                <a16:creationId xmlns:a16="http://schemas.microsoft.com/office/drawing/2014/main" id="{CA90739E-BA35-94A2-FEC9-DDE576F0C0D6}"/>
              </a:ext>
            </a:extLst>
          </p:cNvPr>
          <p:cNvSpPr/>
          <p:nvPr/>
        </p:nvSpPr>
        <p:spPr>
          <a:xfrm>
            <a:off x="7770056" y="3936742"/>
            <a:ext cx="2728195" cy="606779"/>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コンテンツ プレースホルダー 1">
                <a:extLst>
                  <a:ext uri="{FF2B5EF4-FFF2-40B4-BE49-F238E27FC236}">
                    <a16:creationId xmlns:a16="http://schemas.microsoft.com/office/drawing/2014/main" id="{C55A229C-05D8-7F02-5E32-A680BC943EB3}"/>
                  </a:ext>
                </a:extLst>
              </p:cNvPr>
              <p:cNvSpPr>
                <a:spLocks noGrp="1"/>
              </p:cNvSpPr>
              <p:nvPr>
                <p:ph idx="1"/>
              </p:nvPr>
            </p:nvSpPr>
            <p:spPr>
              <a:xfrm>
                <a:off x="309282" y="1291515"/>
                <a:ext cx="11694296" cy="5348022"/>
              </a:xfrm>
            </p:spPr>
            <p:txBody>
              <a:bodyPr>
                <a:normAutofit/>
              </a:bodyPr>
              <a:lstStyle/>
              <a:p>
                <a:pPr marL="0" indent="0">
                  <a:buNone/>
                </a:pPr>
                <a:br>
                  <a:rPr lang="en-US" altLang="ja-JP" sz="2200" dirty="0"/>
                </a:br>
                <a14:m>
                  <m:oMathPara xmlns:m="http://schemas.openxmlformats.org/officeDocument/2006/math">
                    <m:oMathParaPr>
                      <m:jc m:val="centerGroup"/>
                    </m:oMathParaPr>
                    <m:oMath xmlns:m="http://schemas.openxmlformats.org/officeDocument/2006/math">
                      <m:r>
                        <a:rPr lang="ja-JP" altLang="en-US" sz="2000" b="1" i="1" dirty="0" smtClean="0">
                          <a:latin typeface="Cambria Math" panose="02040503050406030204" pitchFamily="18" charset="0"/>
                        </a:rPr>
                        <m:t>　</m:t>
                      </m:r>
                    </m:oMath>
                  </m:oMathPara>
                </a14:m>
                <a:endParaRPr lang="en-US" altLang="ja-JP" sz="2000"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ja-JP" altLang="en-US" sz="2000" b="1" i="1" dirty="0" smtClean="0">
                          <a:latin typeface="Cambria Math" panose="02040503050406030204" pitchFamily="18" charset="0"/>
                        </a:rPr>
                        <m:t>　　</m:t>
                      </m:r>
                    </m:oMath>
                  </m:oMathPara>
                </a14:m>
                <a:endParaRPr lang="en-US" altLang="ja-JP" sz="2000" b="1" dirty="0"/>
              </a:p>
              <a:p>
                <a:pPr marL="0" indent="0">
                  <a:buNone/>
                </a:pPr>
                <a:r>
                  <a:rPr lang="en-US" altLang="ja-JP" sz="3600" b="1" dirty="0"/>
                  <a:t>           </a:t>
                </a:r>
                <a:endParaRPr lang="en-US" altLang="ja-JP" sz="3600" b="1" dirty="0">
                  <a:latin typeface="+mn-ea"/>
                </a:endParaRPr>
              </a:p>
              <a:p>
                <a:pPr marL="0" indent="0">
                  <a:buNone/>
                </a:pPr>
                <a:r>
                  <a:rPr lang="en-US" altLang="ja-JP" sz="1600" dirty="0"/>
                  <a:t>  </a:t>
                </a:r>
              </a:p>
              <a:p>
                <a:pPr marL="0" indent="0">
                  <a:buNone/>
                </a:pPr>
                <a:r>
                  <a:rPr lang="en-US" altLang="ja-JP" dirty="0"/>
                  <a:t>    </a:t>
                </a:r>
                <a:endParaRPr kumimoji="1" lang="en-US" altLang="ja-JP" dirty="0"/>
              </a:p>
            </p:txBody>
          </p:sp>
        </mc:Choice>
        <mc:Fallback xmlns="">
          <p:sp>
            <p:nvSpPr>
              <p:cNvPr id="2" name="コンテンツ プレースホルダー 1">
                <a:extLst>
                  <a:ext uri="{FF2B5EF4-FFF2-40B4-BE49-F238E27FC236}">
                    <a16:creationId xmlns:a16="http://schemas.microsoft.com/office/drawing/2014/main" id="{C55A229C-05D8-7F02-5E32-A680BC943EB3}"/>
                  </a:ext>
                </a:extLst>
              </p:cNvPr>
              <p:cNvSpPr>
                <a:spLocks noGrp="1" noRot="1" noChangeAspect="1" noMove="1" noResize="1" noEditPoints="1" noAdjustHandles="1" noChangeArrowheads="1" noChangeShapeType="1" noTextEdit="1"/>
              </p:cNvSpPr>
              <p:nvPr>
                <p:ph idx="1"/>
              </p:nvPr>
            </p:nvSpPr>
            <p:spPr>
              <a:xfrm>
                <a:off x="309282" y="1291515"/>
                <a:ext cx="11694296" cy="5348022"/>
              </a:xfrm>
              <a:blipFill>
                <a:blip r:embed="rId3"/>
                <a:stretch>
                  <a:fillRect/>
                </a:stretch>
              </a:blipFill>
            </p:spPr>
            <p:txBody>
              <a:bodyPr/>
              <a:lstStyle/>
              <a:p>
                <a:r>
                  <a:rPr lang="ja-JP" altLang="en-US">
                    <a:noFill/>
                  </a:rPr>
                  <a:t> </a:t>
                </a:r>
              </a:p>
            </p:txBody>
          </p:sp>
        </mc:Fallback>
      </mc:AlternateContent>
      <p:sp>
        <p:nvSpPr>
          <p:cNvPr id="9" name="コンテンツ プレースホルダー 1">
            <a:extLst>
              <a:ext uri="{FF2B5EF4-FFF2-40B4-BE49-F238E27FC236}">
                <a16:creationId xmlns:a16="http://schemas.microsoft.com/office/drawing/2014/main" id="{00FB4D41-2EB7-F66F-A024-37603ED9F57C}"/>
              </a:ext>
            </a:extLst>
          </p:cNvPr>
          <p:cNvSpPr txBox="1">
            <a:spLocks/>
          </p:cNvSpPr>
          <p:nvPr/>
        </p:nvSpPr>
        <p:spPr>
          <a:xfrm>
            <a:off x="309282" y="1722108"/>
            <a:ext cx="11694296" cy="534802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itchFamily="2" charset="2"/>
              <a:buNone/>
            </a:pPr>
            <a:r>
              <a:rPr lang="en-US" altLang="ja-JP" dirty="0"/>
              <a:t>     </a:t>
            </a:r>
          </a:p>
        </p:txBody>
      </p:sp>
      <p:graphicFrame>
        <p:nvGraphicFramePr>
          <p:cNvPr id="43" name="表 42">
            <a:extLst>
              <a:ext uri="{FF2B5EF4-FFF2-40B4-BE49-F238E27FC236}">
                <a16:creationId xmlns:a16="http://schemas.microsoft.com/office/drawing/2014/main" id="{FF14BBB5-43D9-A245-B3B4-56832D5F8C46}"/>
              </a:ext>
            </a:extLst>
          </p:cNvPr>
          <p:cNvGraphicFramePr>
            <a:graphicFrameLocks noGrp="1"/>
          </p:cNvGraphicFramePr>
          <p:nvPr>
            <p:extLst>
              <p:ext uri="{D42A27DB-BD31-4B8C-83A1-F6EECF244321}">
                <p14:modId xmlns:p14="http://schemas.microsoft.com/office/powerpoint/2010/main" val="1490992512"/>
              </p:ext>
            </p:extLst>
          </p:nvPr>
        </p:nvGraphicFramePr>
        <p:xfrm>
          <a:off x="7811238" y="4607250"/>
          <a:ext cx="2687013" cy="1891776"/>
        </p:xfrm>
        <a:graphic>
          <a:graphicData uri="http://schemas.openxmlformats.org/drawingml/2006/table">
            <a:tbl>
              <a:tblPr firstRow="1" bandRow="1">
                <a:tableStyleId>{00A15C55-8517-42AA-B614-E9B94910E393}</a:tableStyleId>
              </a:tblPr>
              <a:tblGrid>
                <a:gridCol w="895671">
                  <a:extLst>
                    <a:ext uri="{9D8B030D-6E8A-4147-A177-3AD203B41FA5}">
                      <a16:colId xmlns:a16="http://schemas.microsoft.com/office/drawing/2014/main" val="3086891286"/>
                    </a:ext>
                  </a:extLst>
                </a:gridCol>
                <a:gridCol w="895671">
                  <a:extLst>
                    <a:ext uri="{9D8B030D-6E8A-4147-A177-3AD203B41FA5}">
                      <a16:colId xmlns:a16="http://schemas.microsoft.com/office/drawing/2014/main" val="3676261652"/>
                    </a:ext>
                  </a:extLst>
                </a:gridCol>
                <a:gridCol w="895671">
                  <a:extLst>
                    <a:ext uri="{9D8B030D-6E8A-4147-A177-3AD203B41FA5}">
                      <a16:colId xmlns:a16="http://schemas.microsoft.com/office/drawing/2014/main" val="1426747336"/>
                    </a:ext>
                  </a:extLst>
                </a:gridCol>
              </a:tblGrid>
              <a:tr h="472944">
                <a:tc>
                  <a:txBody>
                    <a:bodyPr/>
                    <a:lstStyle/>
                    <a:p>
                      <a:r>
                        <a:rPr kumimoji="1" lang="en-US" altLang="ja-JP" dirty="0"/>
                        <a:t>6/1</a:t>
                      </a:r>
                      <a:endParaRPr kumimoji="1" lang="ja-JP" altLang="en-US" dirty="0"/>
                    </a:p>
                  </a:txBody>
                  <a:tcPr/>
                </a:tc>
                <a:tc>
                  <a:txBody>
                    <a:bodyPr/>
                    <a:lstStyle/>
                    <a:p>
                      <a:r>
                        <a:rPr kumimoji="1" lang="en-US" altLang="ja-JP" dirty="0"/>
                        <a:t>6/2</a:t>
                      </a:r>
                      <a:endParaRPr kumimoji="1" lang="ja-JP" altLang="en-US" dirty="0"/>
                    </a:p>
                  </a:txBody>
                  <a:tcPr/>
                </a:tc>
                <a:tc>
                  <a:txBody>
                    <a:bodyPr/>
                    <a:lstStyle/>
                    <a:p>
                      <a:r>
                        <a:rPr kumimoji="1" lang="en-US" altLang="ja-JP" dirty="0"/>
                        <a:t>6/3</a:t>
                      </a:r>
                      <a:endParaRPr kumimoji="1" lang="ja-JP" altLang="en-US" dirty="0"/>
                    </a:p>
                  </a:txBody>
                  <a:tcPr/>
                </a:tc>
                <a:extLst>
                  <a:ext uri="{0D108BD9-81ED-4DB2-BD59-A6C34878D82A}">
                    <a16:rowId xmlns:a16="http://schemas.microsoft.com/office/drawing/2014/main" val="191202522"/>
                  </a:ext>
                </a:extLst>
              </a:tr>
              <a:tr h="472944">
                <a:tc>
                  <a:txBody>
                    <a:bodyPr/>
                    <a:lstStyle/>
                    <a:p>
                      <a:r>
                        <a:rPr kumimoji="1" lang="en-US" altLang="ja-JP" dirty="0"/>
                        <a:t>0.80 %</a:t>
                      </a:r>
                      <a:endParaRPr kumimoji="1" lang="ja-JP" altLang="en-US" dirty="0"/>
                    </a:p>
                  </a:txBody>
                  <a:tcPr/>
                </a:tc>
                <a:tc>
                  <a:txBody>
                    <a:bodyPr/>
                    <a:lstStyle/>
                    <a:p>
                      <a:r>
                        <a:rPr kumimoji="1" lang="en-US" altLang="ja-JP" dirty="0"/>
                        <a:t>0.70 %</a:t>
                      </a:r>
                      <a:endParaRPr kumimoji="1" lang="ja-JP" altLang="en-US" dirty="0"/>
                    </a:p>
                  </a:txBody>
                  <a:tcPr/>
                </a:tc>
                <a:tc>
                  <a:txBody>
                    <a:bodyPr/>
                    <a:lstStyle/>
                    <a:p>
                      <a:r>
                        <a:rPr kumimoji="1" lang="en-US" altLang="ja-JP" dirty="0"/>
                        <a:t>0.64 %</a:t>
                      </a:r>
                      <a:endParaRPr kumimoji="1" lang="ja-JP" altLang="en-US" dirty="0"/>
                    </a:p>
                  </a:txBody>
                  <a:tcPr/>
                </a:tc>
                <a:extLst>
                  <a:ext uri="{0D108BD9-81ED-4DB2-BD59-A6C34878D82A}">
                    <a16:rowId xmlns:a16="http://schemas.microsoft.com/office/drawing/2014/main" val="4155404881"/>
                  </a:ext>
                </a:extLst>
              </a:tr>
              <a:tr h="472944">
                <a:tc>
                  <a:txBody>
                    <a:bodyPr/>
                    <a:lstStyle/>
                    <a:p>
                      <a:r>
                        <a:rPr kumimoji="1" lang="en-US" altLang="ja-JP" b="1" dirty="0">
                          <a:solidFill>
                            <a:schemeClr val="bg1"/>
                          </a:solidFill>
                          <a:latin typeface="+mn-lt"/>
                          <a:ea typeface="+mn-ea"/>
                        </a:rPr>
                        <a:t>6/20</a:t>
                      </a:r>
                      <a:endParaRPr kumimoji="1" lang="ja-JP" altLang="en-US" b="1" dirty="0">
                        <a:solidFill>
                          <a:schemeClr val="bg1"/>
                        </a:solidFill>
                        <a:latin typeface="+mn-lt"/>
                        <a:ea typeface="+mn-ea"/>
                      </a:endParaRPr>
                    </a:p>
                  </a:txBody>
                  <a:tcPr>
                    <a:solidFill>
                      <a:schemeClr val="accent4"/>
                    </a:solidFill>
                  </a:tcPr>
                </a:tc>
                <a:tc>
                  <a:txBody>
                    <a:bodyPr/>
                    <a:lstStyle/>
                    <a:p>
                      <a:r>
                        <a:rPr kumimoji="1" lang="en-US" altLang="ja-JP" b="1" dirty="0">
                          <a:solidFill>
                            <a:schemeClr val="bg1"/>
                          </a:solidFill>
                          <a:latin typeface="+mn-lt"/>
                          <a:ea typeface="+mn-ea"/>
                        </a:rPr>
                        <a:t>   </a:t>
                      </a:r>
                      <a:r>
                        <a:rPr kumimoji="1" lang="ja-JP" altLang="en-US" b="1" dirty="0">
                          <a:solidFill>
                            <a:schemeClr val="bg1"/>
                          </a:solidFill>
                          <a:latin typeface="+mn-lt"/>
                          <a:ea typeface="+mn-ea"/>
                        </a:rPr>
                        <a:t>・・・</a:t>
                      </a:r>
                    </a:p>
                  </a:txBody>
                  <a:tcPr>
                    <a:solidFill>
                      <a:schemeClr val="accent4"/>
                    </a:solidFill>
                  </a:tcPr>
                </a:tc>
                <a:tc>
                  <a:txBody>
                    <a:bodyPr/>
                    <a:lstStyle/>
                    <a:p>
                      <a:r>
                        <a:rPr kumimoji="1" lang="en-US" altLang="ja-JP" b="1" dirty="0">
                          <a:solidFill>
                            <a:schemeClr val="bg1"/>
                          </a:solidFill>
                          <a:latin typeface="+mn-lt"/>
                          <a:ea typeface="+mn-ea"/>
                        </a:rPr>
                        <a:t>6/30</a:t>
                      </a:r>
                      <a:endParaRPr kumimoji="1" lang="ja-JP" altLang="en-US" b="1" dirty="0">
                        <a:solidFill>
                          <a:schemeClr val="bg1"/>
                        </a:solidFill>
                        <a:latin typeface="+mn-lt"/>
                        <a:ea typeface="+mn-ea"/>
                      </a:endParaRPr>
                    </a:p>
                  </a:txBody>
                  <a:tcPr>
                    <a:solidFill>
                      <a:schemeClr val="accent4"/>
                    </a:solidFill>
                  </a:tcPr>
                </a:tc>
                <a:extLst>
                  <a:ext uri="{0D108BD9-81ED-4DB2-BD59-A6C34878D82A}">
                    <a16:rowId xmlns:a16="http://schemas.microsoft.com/office/drawing/2014/main" val="947471924"/>
                  </a:ext>
                </a:extLst>
              </a:tr>
              <a:tr h="472944">
                <a:tc>
                  <a:txBody>
                    <a:bodyPr/>
                    <a:lstStyle/>
                    <a:p>
                      <a:r>
                        <a:rPr kumimoji="1" lang="en-US" altLang="ja-JP" dirty="0"/>
                        <a:t>0.90%</a:t>
                      </a:r>
                      <a:endParaRPr kumimoji="1" lang="ja-JP" altLang="en-US"/>
                    </a:p>
                  </a:txBody>
                  <a:tcPr/>
                </a:tc>
                <a:tc>
                  <a:txBody>
                    <a:bodyPr/>
                    <a:lstStyle/>
                    <a:p>
                      <a:r>
                        <a:rPr kumimoji="1" lang="en-US" altLang="ja-JP" dirty="0"/>
                        <a:t>   </a:t>
                      </a:r>
                      <a:r>
                        <a:rPr kumimoji="1" lang="ja-JP" altLang="en-US"/>
                        <a:t>・・・</a:t>
                      </a:r>
                    </a:p>
                  </a:txBody>
                  <a:tcPr/>
                </a:tc>
                <a:tc>
                  <a:txBody>
                    <a:bodyPr/>
                    <a:lstStyle/>
                    <a:p>
                      <a:r>
                        <a:rPr kumimoji="1" lang="en-US" altLang="ja-JP" dirty="0"/>
                        <a:t>0.52%</a:t>
                      </a:r>
                      <a:endParaRPr kumimoji="1" lang="ja-JP" altLang="en-US" dirty="0"/>
                    </a:p>
                  </a:txBody>
                  <a:tcPr/>
                </a:tc>
                <a:extLst>
                  <a:ext uri="{0D108BD9-81ED-4DB2-BD59-A6C34878D82A}">
                    <a16:rowId xmlns:a16="http://schemas.microsoft.com/office/drawing/2014/main" val="1251411795"/>
                  </a:ext>
                </a:extLst>
              </a:tr>
            </a:tbl>
          </a:graphicData>
        </a:graphic>
      </p:graphicFrame>
      <p:sp>
        <p:nvSpPr>
          <p:cNvPr id="45" name="テキスト ボックス 44">
            <a:extLst>
              <a:ext uri="{FF2B5EF4-FFF2-40B4-BE49-F238E27FC236}">
                <a16:creationId xmlns:a16="http://schemas.microsoft.com/office/drawing/2014/main" id="{72FED833-2DDE-8082-1618-5EC17BFC29B0}"/>
              </a:ext>
            </a:extLst>
          </p:cNvPr>
          <p:cNvSpPr txBox="1"/>
          <p:nvPr/>
        </p:nvSpPr>
        <p:spPr>
          <a:xfrm>
            <a:off x="8738809" y="4009298"/>
            <a:ext cx="1656522" cy="461665"/>
          </a:xfrm>
          <a:prstGeom prst="rect">
            <a:avLst/>
          </a:prstGeom>
          <a:noFill/>
        </p:spPr>
        <p:txBody>
          <a:bodyPr wrap="square" rtlCol="0">
            <a:spAutoFit/>
          </a:bodyPr>
          <a:lstStyle/>
          <a:p>
            <a:r>
              <a:rPr lang="ja-JP" altLang="en-US" sz="2400" b="1" dirty="0"/>
              <a:t>出力</a:t>
            </a:r>
            <a:endParaRPr kumimoji="1" lang="ja-JP" altLang="en-US" sz="2400" b="1" dirty="0"/>
          </a:p>
        </p:txBody>
      </p:sp>
      <p:grpSp>
        <p:nvGrpSpPr>
          <p:cNvPr id="79" name="グループ化 78">
            <a:extLst>
              <a:ext uri="{FF2B5EF4-FFF2-40B4-BE49-F238E27FC236}">
                <a16:creationId xmlns:a16="http://schemas.microsoft.com/office/drawing/2014/main" id="{40C55CE1-6B63-8D3D-4EBE-3F40F1F92491}"/>
              </a:ext>
            </a:extLst>
          </p:cNvPr>
          <p:cNvGrpSpPr/>
          <p:nvPr/>
        </p:nvGrpSpPr>
        <p:grpSpPr>
          <a:xfrm>
            <a:off x="983308" y="3840088"/>
            <a:ext cx="6517998" cy="2755382"/>
            <a:chOff x="136669" y="2801532"/>
            <a:chExt cx="6517998" cy="2755382"/>
          </a:xfrm>
        </p:grpSpPr>
        <p:sp>
          <p:nvSpPr>
            <p:cNvPr id="4" name="右矢印 3">
              <a:extLst>
                <a:ext uri="{FF2B5EF4-FFF2-40B4-BE49-F238E27FC236}">
                  <a16:creationId xmlns:a16="http://schemas.microsoft.com/office/drawing/2014/main" id="{252DAA20-0C78-85BA-BE68-D11B2F06AC16}"/>
                </a:ext>
              </a:extLst>
            </p:cNvPr>
            <p:cNvSpPr/>
            <p:nvPr/>
          </p:nvSpPr>
          <p:spPr>
            <a:xfrm>
              <a:off x="309283" y="4172077"/>
              <a:ext cx="1209655" cy="214882"/>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8" name="グループ化 77">
              <a:extLst>
                <a:ext uri="{FF2B5EF4-FFF2-40B4-BE49-F238E27FC236}">
                  <a16:creationId xmlns:a16="http://schemas.microsoft.com/office/drawing/2014/main" id="{5A10A0CD-9182-CF6E-D83B-9F59E58ED852}"/>
                </a:ext>
              </a:extLst>
            </p:cNvPr>
            <p:cNvGrpSpPr/>
            <p:nvPr/>
          </p:nvGrpSpPr>
          <p:grpSpPr>
            <a:xfrm>
              <a:off x="136669" y="2801532"/>
              <a:ext cx="6517998" cy="2755382"/>
              <a:chOff x="136669" y="2801532"/>
              <a:chExt cx="6517998" cy="2755382"/>
            </a:xfrm>
          </p:grpSpPr>
          <p:grpSp>
            <p:nvGrpSpPr>
              <p:cNvPr id="50" name="グループ化 49">
                <a:extLst>
                  <a:ext uri="{FF2B5EF4-FFF2-40B4-BE49-F238E27FC236}">
                    <a16:creationId xmlns:a16="http://schemas.microsoft.com/office/drawing/2014/main" id="{B4CFB381-6194-3DAF-60A8-0224B4611CCA}"/>
                  </a:ext>
                </a:extLst>
              </p:cNvPr>
              <p:cNvGrpSpPr/>
              <p:nvPr/>
            </p:nvGrpSpPr>
            <p:grpSpPr>
              <a:xfrm>
                <a:off x="136669" y="2801532"/>
                <a:ext cx="5978584" cy="2755382"/>
                <a:chOff x="136669" y="2801532"/>
                <a:chExt cx="5978584" cy="2755382"/>
              </a:xfrm>
            </p:grpSpPr>
            <p:grpSp>
              <p:nvGrpSpPr>
                <p:cNvPr id="48" name="グループ化 47">
                  <a:extLst>
                    <a:ext uri="{FF2B5EF4-FFF2-40B4-BE49-F238E27FC236}">
                      <a16:creationId xmlns:a16="http://schemas.microsoft.com/office/drawing/2014/main" id="{501C1474-2305-C111-6F23-7F0F146CD0DB}"/>
                    </a:ext>
                  </a:extLst>
                </p:cNvPr>
                <p:cNvGrpSpPr/>
                <p:nvPr/>
              </p:nvGrpSpPr>
              <p:grpSpPr>
                <a:xfrm>
                  <a:off x="136669" y="2801532"/>
                  <a:ext cx="5978584" cy="2755382"/>
                  <a:chOff x="149921" y="2828036"/>
                  <a:chExt cx="5978584" cy="2755382"/>
                </a:xfrm>
              </p:grpSpPr>
              <p:grpSp>
                <p:nvGrpSpPr>
                  <p:cNvPr id="21" name="グループ化 20">
                    <a:extLst>
                      <a:ext uri="{FF2B5EF4-FFF2-40B4-BE49-F238E27FC236}">
                        <a16:creationId xmlns:a16="http://schemas.microsoft.com/office/drawing/2014/main" id="{CB696FB6-321A-75A5-CF6B-9EBD0A26C989}"/>
                      </a:ext>
                    </a:extLst>
                  </p:cNvPr>
                  <p:cNvGrpSpPr/>
                  <p:nvPr/>
                </p:nvGrpSpPr>
                <p:grpSpPr>
                  <a:xfrm>
                    <a:off x="149921" y="2828036"/>
                    <a:ext cx="5978584" cy="2755382"/>
                    <a:chOff x="688131" y="4093179"/>
                    <a:chExt cx="5978584" cy="2755382"/>
                  </a:xfrm>
                </p:grpSpPr>
                <p:sp>
                  <p:nvSpPr>
                    <p:cNvPr id="22" name="テキスト ボックス 21">
                      <a:extLst>
                        <a:ext uri="{FF2B5EF4-FFF2-40B4-BE49-F238E27FC236}">
                          <a16:creationId xmlns:a16="http://schemas.microsoft.com/office/drawing/2014/main" id="{9D2700A8-4CFD-11AE-E055-DFA2FCAAF4E9}"/>
                        </a:ext>
                      </a:extLst>
                    </p:cNvPr>
                    <p:cNvSpPr txBox="1"/>
                    <p:nvPr/>
                  </p:nvSpPr>
                  <p:spPr>
                    <a:xfrm>
                      <a:off x="688131" y="4670703"/>
                      <a:ext cx="5320411" cy="707886"/>
                    </a:xfrm>
                    <a:prstGeom prst="rect">
                      <a:avLst/>
                    </a:prstGeom>
                    <a:noFill/>
                  </p:spPr>
                  <p:txBody>
                    <a:bodyPr wrap="square" rtlCol="0">
                      <a:spAutoFit/>
                    </a:bodyPr>
                    <a:lstStyle/>
                    <a:p>
                      <a:r>
                        <a:rPr kumimoji="1" lang="ja-JP" altLang="en-US" sz="2000" b="1" dirty="0"/>
                        <a:t>使用可能な</a:t>
                      </a:r>
                      <a:br>
                        <a:rPr kumimoji="1" lang="en-US" altLang="ja-JP" sz="2000" b="1" dirty="0"/>
                      </a:br>
                      <a:r>
                        <a:rPr lang="en-US" altLang="ja-JP" sz="2000" b="1" dirty="0"/>
                        <a:t>    </a:t>
                      </a:r>
                      <a:r>
                        <a:rPr kumimoji="1" lang="ja-JP" altLang="en-US" sz="2000" b="1" dirty="0"/>
                        <a:t>データ</a:t>
                      </a:r>
                      <a:r>
                        <a:rPr kumimoji="1" lang="en-US" altLang="ja-JP" sz="2000" b="1" dirty="0"/>
                        <a:t>                       </a:t>
                      </a:r>
                      <a:r>
                        <a:rPr kumimoji="1" lang="ja-JP" altLang="en-US" sz="2000" b="1" dirty="0"/>
                        <a:t>　</a:t>
                      </a:r>
                      <a:r>
                        <a:rPr kumimoji="1" lang="en-US" altLang="ja-JP" sz="2000" b="1" dirty="0"/>
                        <a:t>                     </a:t>
                      </a:r>
                      <a:r>
                        <a:rPr lang="ja-JP" altLang="en-US" sz="2000" b="1" dirty="0"/>
                        <a:t>予測</a:t>
                      </a:r>
                      <a:endParaRPr kumimoji="1" lang="ja-JP" altLang="en-US" sz="2000" b="1" dirty="0"/>
                    </a:p>
                  </p:txBody>
                </p:sp>
                <p:sp>
                  <p:nvSpPr>
                    <p:cNvPr id="23" name="テキスト ボックス 22">
                      <a:extLst>
                        <a:ext uri="{FF2B5EF4-FFF2-40B4-BE49-F238E27FC236}">
                          <a16:creationId xmlns:a16="http://schemas.microsoft.com/office/drawing/2014/main" id="{6851ABD3-4E11-1E29-2829-323A3A9E16FA}"/>
                        </a:ext>
                      </a:extLst>
                    </p:cNvPr>
                    <p:cNvSpPr txBox="1"/>
                    <p:nvPr/>
                  </p:nvSpPr>
                  <p:spPr>
                    <a:xfrm>
                      <a:off x="1272336" y="6307190"/>
                      <a:ext cx="757627" cy="523220"/>
                    </a:xfrm>
                    <a:prstGeom prst="rect">
                      <a:avLst/>
                    </a:prstGeom>
                    <a:noFill/>
                  </p:spPr>
                  <p:txBody>
                    <a:bodyPr wrap="square" rtlCol="0">
                      <a:spAutoFit/>
                    </a:bodyPr>
                    <a:lstStyle/>
                    <a:p>
                      <a:r>
                        <a:rPr kumimoji="1" lang="en-US" altLang="ja-JP" sz="2800" b="1" dirty="0">
                          <a:latin typeface="+mn-ea"/>
                        </a:rPr>
                        <a:t>3</a:t>
                      </a:r>
                      <a:r>
                        <a:rPr kumimoji="1" lang="ja-JP" altLang="en-US" sz="2800" b="1" dirty="0">
                          <a:latin typeface="+mn-ea"/>
                        </a:rPr>
                        <a:t>月</a:t>
                      </a:r>
                    </a:p>
                  </p:txBody>
                </p:sp>
                <p:sp>
                  <p:nvSpPr>
                    <p:cNvPr id="24" name="テキスト ボックス 23">
                      <a:extLst>
                        <a:ext uri="{FF2B5EF4-FFF2-40B4-BE49-F238E27FC236}">
                          <a16:creationId xmlns:a16="http://schemas.microsoft.com/office/drawing/2014/main" id="{6E5A7950-18C8-F24B-CC87-858E317B759C}"/>
                        </a:ext>
                      </a:extLst>
                    </p:cNvPr>
                    <p:cNvSpPr txBox="1"/>
                    <p:nvPr/>
                  </p:nvSpPr>
                  <p:spPr>
                    <a:xfrm>
                      <a:off x="2502947" y="6307190"/>
                      <a:ext cx="788218" cy="523220"/>
                    </a:xfrm>
                    <a:prstGeom prst="rect">
                      <a:avLst/>
                    </a:prstGeom>
                    <a:noFill/>
                  </p:spPr>
                  <p:txBody>
                    <a:bodyPr wrap="square" rtlCol="0">
                      <a:spAutoFit/>
                    </a:bodyPr>
                    <a:lstStyle/>
                    <a:p>
                      <a:r>
                        <a:rPr lang="en-US" altLang="ja-JP" sz="2800" b="1" dirty="0">
                          <a:latin typeface="+mn-ea"/>
                        </a:rPr>
                        <a:t>4</a:t>
                      </a:r>
                      <a:r>
                        <a:rPr kumimoji="1" lang="ja-JP" altLang="en-US" sz="2800" b="1" dirty="0">
                          <a:latin typeface="+mn-ea"/>
                        </a:rPr>
                        <a:t>月</a:t>
                      </a:r>
                    </a:p>
                  </p:txBody>
                </p:sp>
                <p:sp>
                  <p:nvSpPr>
                    <p:cNvPr id="25" name="テキスト ボックス 24">
                      <a:extLst>
                        <a:ext uri="{FF2B5EF4-FFF2-40B4-BE49-F238E27FC236}">
                          <a16:creationId xmlns:a16="http://schemas.microsoft.com/office/drawing/2014/main" id="{C8F6E4DF-B495-91C3-F1E8-161463BE8D27}"/>
                        </a:ext>
                      </a:extLst>
                    </p:cNvPr>
                    <p:cNvSpPr txBox="1"/>
                    <p:nvPr/>
                  </p:nvSpPr>
                  <p:spPr>
                    <a:xfrm>
                      <a:off x="4930973" y="6325341"/>
                      <a:ext cx="937946" cy="523220"/>
                    </a:xfrm>
                    <a:prstGeom prst="rect">
                      <a:avLst/>
                    </a:prstGeom>
                    <a:noFill/>
                  </p:spPr>
                  <p:txBody>
                    <a:bodyPr wrap="square" rtlCol="0">
                      <a:spAutoFit/>
                    </a:bodyPr>
                    <a:lstStyle/>
                    <a:p>
                      <a:r>
                        <a:rPr kumimoji="1" lang="en-US" altLang="ja-JP" sz="2800" b="1" dirty="0">
                          <a:latin typeface="+mn-ea"/>
                        </a:rPr>
                        <a:t>6</a:t>
                      </a:r>
                      <a:r>
                        <a:rPr kumimoji="1" lang="ja-JP" altLang="en-US" sz="2800" b="1" dirty="0">
                          <a:latin typeface="+mn-ea"/>
                        </a:rPr>
                        <a:t>月</a:t>
                      </a:r>
                    </a:p>
                  </p:txBody>
                </p:sp>
                <p:grpSp>
                  <p:nvGrpSpPr>
                    <p:cNvPr id="26" name="グループ化 25">
                      <a:extLst>
                        <a:ext uri="{FF2B5EF4-FFF2-40B4-BE49-F238E27FC236}">
                          <a16:creationId xmlns:a16="http://schemas.microsoft.com/office/drawing/2014/main" id="{B8BD427C-31EA-9EB3-53C2-78BE5F6D4337}"/>
                        </a:ext>
                      </a:extLst>
                    </p:cNvPr>
                    <p:cNvGrpSpPr/>
                    <p:nvPr/>
                  </p:nvGrpSpPr>
                  <p:grpSpPr>
                    <a:xfrm>
                      <a:off x="792858" y="4093179"/>
                      <a:ext cx="5873857" cy="2623090"/>
                      <a:chOff x="792858" y="4093179"/>
                      <a:chExt cx="5873857" cy="2623090"/>
                    </a:xfrm>
                  </p:grpSpPr>
                  <p:grpSp>
                    <p:nvGrpSpPr>
                      <p:cNvPr id="27" name="グループ化 26">
                        <a:extLst>
                          <a:ext uri="{FF2B5EF4-FFF2-40B4-BE49-F238E27FC236}">
                            <a16:creationId xmlns:a16="http://schemas.microsoft.com/office/drawing/2014/main" id="{356E3243-09FF-BDF1-A0A0-DA3BBA906583}"/>
                          </a:ext>
                        </a:extLst>
                      </p:cNvPr>
                      <p:cNvGrpSpPr/>
                      <p:nvPr/>
                    </p:nvGrpSpPr>
                    <p:grpSpPr>
                      <a:xfrm>
                        <a:off x="847492" y="5669571"/>
                        <a:ext cx="5079984" cy="1046698"/>
                        <a:chOff x="847492" y="5360304"/>
                        <a:chExt cx="5079984" cy="1046698"/>
                      </a:xfrm>
                      <a:solidFill>
                        <a:schemeClr val="accent4">
                          <a:lumMod val="40000"/>
                          <a:lumOff val="60000"/>
                        </a:schemeClr>
                      </a:solidFill>
                    </p:grpSpPr>
                    <p:sp>
                      <p:nvSpPr>
                        <p:cNvPr id="29" name="右矢印 28">
                          <a:extLst>
                            <a:ext uri="{FF2B5EF4-FFF2-40B4-BE49-F238E27FC236}">
                              <a16:creationId xmlns:a16="http://schemas.microsoft.com/office/drawing/2014/main" id="{825CA0BF-1CA3-83AF-6ABF-9605778B4D86}"/>
                            </a:ext>
                          </a:extLst>
                        </p:cNvPr>
                        <p:cNvSpPr/>
                        <p:nvPr/>
                      </p:nvSpPr>
                      <p:spPr>
                        <a:xfrm>
                          <a:off x="869795" y="5620868"/>
                          <a:ext cx="5057681" cy="534605"/>
                        </a:xfrm>
                        <a:prstGeom prst="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9DA4E22A-8115-E05D-73C7-95F1A9451758}"/>
                            </a:ext>
                          </a:extLst>
                        </p:cNvPr>
                        <p:cNvSpPr/>
                        <p:nvPr/>
                      </p:nvSpPr>
                      <p:spPr>
                        <a:xfrm>
                          <a:off x="847492" y="5377351"/>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165B073F-8F80-BE88-9F2C-3BF000D8DAC0}"/>
                            </a:ext>
                          </a:extLst>
                        </p:cNvPr>
                        <p:cNvSpPr/>
                        <p:nvPr/>
                      </p:nvSpPr>
                      <p:spPr>
                        <a:xfrm>
                          <a:off x="3304647" y="5376445"/>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31F06120-7AFB-F90E-E848-61C6091585AA}"/>
                            </a:ext>
                          </a:extLst>
                        </p:cNvPr>
                        <p:cNvSpPr/>
                        <p:nvPr/>
                      </p:nvSpPr>
                      <p:spPr>
                        <a:xfrm>
                          <a:off x="2122176" y="5383552"/>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135E2612-24F9-A1DF-E3B7-67738DB4F3A3}"/>
                            </a:ext>
                          </a:extLst>
                        </p:cNvPr>
                        <p:cNvSpPr/>
                        <p:nvPr/>
                      </p:nvSpPr>
                      <p:spPr>
                        <a:xfrm>
                          <a:off x="5659847" y="5360304"/>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8" name="テキスト ボックス 27">
                        <a:extLst>
                          <a:ext uri="{FF2B5EF4-FFF2-40B4-BE49-F238E27FC236}">
                            <a16:creationId xmlns:a16="http://schemas.microsoft.com/office/drawing/2014/main" id="{24BAAFC0-A2B2-279C-05DE-E20779E0F5CA}"/>
                          </a:ext>
                        </a:extLst>
                      </p:cNvPr>
                      <p:cNvSpPr txBox="1"/>
                      <p:nvPr/>
                    </p:nvSpPr>
                    <p:spPr>
                      <a:xfrm>
                        <a:off x="792858" y="4093179"/>
                        <a:ext cx="5873857" cy="461665"/>
                      </a:xfrm>
                      <a:prstGeom prst="rect">
                        <a:avLst/>
                      </a:prstGeom>
                      <a:noFill/>
                    </p:spPr>
                    <p:txBody>
                      <a:bodyPr wrap="square" rtlCol="0">
                        <a:spAutoFit/>
                      </a:bodyPr>
                      <a:lstStyle/>
                      <a:p>
                        <a:r>
                          <a:rPr kumimoji="1" lang="ja-JP" altLang="en-US" sz="2400" b="1" dirty="0">
                            <a:latin typeface="+mn-ea"/>
                          </a:rPr>
                          <a:t>例　</a:t>
                        </a:r>
                        <a:r>
                          <a:rPr lang="en-US" altLang="ja-JP" sz="2400" b="1" dirty="0">
                            <a:latin typeface="+mn-ea"/>
                          </a:rPr>
                          <a:t>6</a:t>
                        </a:r>
                        <a:r>
                          <a:rPr kumimoji="1" lang="ja-JP" altLang="en-US" sz="2400" b="1" dirty="0">
                            <a:latin typeface="+mn-ea"/>
                          </a:rPr>
                          <a:t>月の日時稼働率</a:t>
                        </a:r>
                        <a:r>
                          <a:rPr lang="ja-JP" altLang="en-US" sz="2400" b="1" dirty="0">
                            <a:latin typeface="+mn-ea"/>
                          </a:rPr>
                          <a:t>を予測する場合</a:t>
                        </a:r>
                        <a:endParaRPr kumimoji="1" lang="ja-JP" altLang="en-US" sz="2400" b="1" dirty="0">
                          <a:latin typeface="+mn-ea"/>
                        </a:endParaRPr>
                      </a:p>
                    </p:txBody>
                  </p:sp>
                </p:grpSp>
              </p:grpSp>
              <p:sp>
                <p:nvSpPr>
                  <p:cNvPr id="35" name="左右矢印 34">
                    <a:extLst>
                      <a:ext uri="{FF2B5EF4-FFF2-40B4-BE49-F238E27FC236}">
                        <a16:creationId xmlns:a16="http://schemas.microsoft.com/office/drawing/2014/main" id="{0AF5A7D0-448C-39CF-4A0E-D8D8EE106A4B}"/>
                      </a:ext>
                    </a:extLst>
                  </p:cNvPr>
                  <p:cNvSpPr/>
                  <p:nvPr/>
                </p:nvSpPr>
                <p:spPr>
                  <a:xfrm>
                    <a:off x="4338475" y="4152899"/>
                    <a:ext cx="783161" cy="217618"/>
                  </a:xfrm>
                  <a:prstGeom prst="lef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6" name="グラフィックス 35" descr="男性のプロフィール 単色塗りつぶし">
                    <a:extLst>
                      <a:ext uri="{FF2B5EF4-FFF2-40B4-BE49-F238E27FC236}">
                        <a16:creationId xmlns:a16="http://schemas.microsoft.com/office/drawing/2014/main" id="{B437A75E-EBE8-BAE1-1FFE-2FBD3E7AE2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2190" y="4005313"/>
                    <a:ext cx="439071" cy="439071"/>
                  </a:xfrm>
                  <a:prstGeom prst="rect">
                    <a:avLst/>
                  </a:prstGeom>
                </p:spPr>
              </p:pic>
            </p:grpSp>
            <p:sp>
              <p:nvSpPr>
                <p:cNvPr id="37" name="テキスト ボックス 36">
                  <a:extLst>
                    <a:ext uri="{FF2B5EF4-FFF2-40B4-BE49-F238E27FC236}">
                      <a16:creationId xmlns:a16="http://schemas.microsoft.com/office/drawing/2014/main" id="{BCDA8927-0F8A-BFC0-0556-030DEA017CAF}"/>
                    </a:ext>
                  </a:extLst>
                </p:cNvPr>
                <p:cNvSpPr txBox="1"/>
                <p:nvPr/>
              </p:nvSpPr>
              <p:spPr>
                <a:xfrm>
                  <a:off x="1309342" y="3680534"/>
                  <a:ext cx="898902" cy="338554"/>
                </a:xfrm>
                <a:prstGeom prst="rect">
                  <a:avLst/>
                </a:prstGeom>
                <a:noFill/>
              </p:spPr>
              <p:txBody>
                <a:bodyPr wrap="square" rtlCol="0">
                  <a:spAutoFit/>
                </a:bodyPr>
                <a:lstStyle/>
                <a:p>
                  <a:r>
                    <a:rPr kumimoji="1" lang="ja-JP" altLang="en-US" sz="1600" b="1" dirty="0"/>
                    <a:t>管理者</a:t>
                  </a:r>
                </a:p>
              </p:txBody>
            </p:sp>
          </p:grpSp>
          <p:sp>
            <p:nvSpPr>
              <p:cNvPr id="47" name="右矢印 46">
                <a:extLst>
                  <a:ext uri="{FF2B5EF4-FFF2-40B4-BE49-F238E27FC236}">
                    <a16:creationId xmlns:a16="http://schemas.microsoft.com/office/drawing/2014/main" id="{3778784F-EB1F-191E-AC35-155800B1B488}"/>
                  </a:ext>
                </a:extLst>
              </p:cNvPr>
              <p:cNvSpPr/>
              <p:nvPr/>
            </p:nvSpPr>
            <p:spPr>
              <a:xfrm>
                <a:off x="5755765" y="3551457"/>
                <a:ext cx="898902" cy="158232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a:extLst>
                  <a:ext uri="{FF2B5EF4-FFF2-40B4-BE49-F238E27FC236}">
                    <a16:creationId xmlns:a16="http://schemas.microsoft.com/office/drawing/2014/main" id="{7A3085C3-20C0-A4F8-88C8-EE2F3DA7ACC8}"/>
                  </a:ext>
                </a:extLst>
              </p:cNvPr>
              <p:cNvSpPr/>
              <p:nvPr/>
            </p:nvSpPr>
            <p:spPr>
              <a:xfrm>
                <a:off x="4008959" y="4377924"/>
                <a:ext cx="267629" cy="102345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6348D7E6-6BF3-5E7A-A0C4-BB1605073BBB}"/>
                  </a:ext>
                </a:extLst>
              </p:cNvPr>
              <p:cNvSpPr txBox="1"/>
              <p:nvPr/>
            </p:nvSpPr>
            <p:spPr>
              <a:xfrm>
                <a:off x="3147437" y="5015543"/>
                <a:ext cx="933343" cy="523220"/>
              </a:xfrm>
              <a:prstGeom prst="rect">
                <a:avLst/>
              </a:prstGeom>
              <a:noFill/>
            </p:spPr>
            <p:txBody>
              <a:bodyPr wrap="square" rtlCol="0">
                <a:spAutoFit/>
              </a:bodyPr>
              <a:lstStyle/>
              <a:p>
                <a:r>
                  <a:rPr kumimoji="1" lang="en-US" altLang="ja-JP" sz="2800" b="1" dirty="0">
                    <a:latin typeface="+mn-ea"/>
                  </a:rPr>
                  <a:t>5</a:t>
                </a:r>
                <a:r>
                  <a:rPr kumimoji="1" lang="ja-JP" altLang="en-US" sz="2800" b="1" dirty="0">
                    <a:latin typeface="+mn-ea"/>
                  </a:rPr>
                  <a:t>月</a:t>
                </a:r>
              </a:p>
            </p:txBody>
          </p:sp>
        </p:grpSp>
      </p:grpSp>
      <p:sp>
        <p:nvSpPr>
          <p:cNvPr id="44" name="グラフィックス 41" descr="フリップ式カレンダー 枠線">
            <a:extLst>
              <a:ext uri="{FF2B5EF4-FFF2-40B4-BE49-F238E27FC236}">
                <a16:creationId xmlns:a16="http://schemas.microsoft.com/office/drawing/2014/main" id="{197E35A2-70BF-8964-11D5-285D6E00DC4B}"/>
              </a:ext>
            </a:extLst>
          </p:cNvPr>
          <p:cNvSpPr/>
          <p:nvPr/>
        </p:nvSpPr>
        <p:spPr>
          <a:xfrm>
            <a:off x="7731940" y="3658358"/>
            <a:ext cx="2808977" cy="2876473"/>
          </a:xfrm>
          <a:custGeom>
            <a:avLst/>
            <a:gdLst>
              <a:gd name="connsiteX0" fmla="*/ 2269350 w 2857700"/>
              <a:gd name="connsiteY0" fmla="*/ 42301 h 2876473"/>
              <a:gd name="connsiteX1" fmla="*/ 2227325 w 2857700"/>
              <a:gd name="connsiteY1" fmla="*/ 0 h 2876473"/>
              <a:gd name="connsiteX2" fmla="*/ 2185300 w 2857700"/>
              <a:gd name="connsiteY2" fmla="*/ 42301 h 2876473"/>
              <a:gd name="connsiteX3" fmla="*/ 2185300 w 2857700"/>
              <a:gd name="connsiteY3" fmla="*/ 253807 h 2876473"/>
              <a:gd name="connsiteX4" fmla="*/ 672400 w 2857700"/>
              <a:gd name="connsiteY4" fmla="*/ 253807 h 2876473"/>
              <a:gd name="connsiteX5" fmla="*/ 672400 w 2857700"/>
              <a:gd name="connsiteY5" fmla="*/ 42301 h 2876473"/>
              <a:gd name="connsiteX6" fmla="*/ 630375 w 2857700"/>
              <a:gd name="connsiteY6" fmla="*/ 0 h 2876473"/>
              <a:gd name="connsiteX7" fmla="*/ 588350 w 2857700"/>
              <a:gd name="connsiteY7" fmla="*/ 42301 h 2876473"/>
              <a:gd name="connsiteX8" fmla="*/ 588350 w 2857700"/>
              <a:gd name="connsiteY8" fmla="*/ 253807 h 2876473"/>
              <a:gd name="connsiteX9" fmla="*/ 0 w 2857700"/>
              <a:gd name="connsiteY9" fmla="*/ 253807 h 2876473"/>
              <a:gd name="connsiteX10" fmla="*/ 0 w 2857700"/>
              <a:gd name="connsiteY10" fmla="*/ 2876474 h 2876473"/>
              <a:gd name="connsiteX11" fmla="*/ 2857700 w 2857700"/>
              <a:gd name="connsiteY11" fmla="*/ 2876474 h 2876473"/>
              <a:gd name="connsiteX12" fmla="*/ 2857700 w 2857700"/>
              <a:gd name="connsiteY12" fmla="*/ 253807 h 2876473"/>
              <a:gd name="connsiteX13" fmla="*/ 2269350 w 2857700"/>
              <a:gd name="connsiteY13" fmla="*/ 253807 h 2876473"/>
              <a:gd name="connsiteX14" fmla="*/ 2773650 w 2857700"/>
              <a:gd name="connsiteY14" fmla="*/ 2791872 h 2876473"/>
              <a:gd name="connsiteX15" fmla="*/ 84050 w 2857700"/>
              <a:gd name="connsiteY15" fmla="*/ 2791872 h 2876473"/>
              <a:gd name="connsiteX16" fmla="*/ 84050 w 2857700"/>
              <a:gd name="connsiteY16" fmla="*/ 972925 h 2876473"/>
              <a:gd name="connsiteX17" fmla="*/ 2773650 w 2857700"/>
              <a:gd name="connsiteY17" fmla="*/ 972925 h 2876473"/>
              <a:gd name="connsiteX18" fmla="*/ 2773650 w 2857700"/>
              <a:gd name="connsiteY18" fmla="*/ 338409 h 2876473"/>
              <a:gd name="connsiteX19" fmla="*/ 2773650 w 2857700"/>
              <a:gd name="connsiteY19" fmla="*/ 888323 h 2876473"/>
              <a:gd name="connsiteX20" fmla="*/ 84050 w 2857700"/>
              <a:gd name="connsiteY20" fmla="*/ 888323 h 2876473"/>
              <a:gd name="connsiteX21" fmla="*/ 84050 w 2857700"/>
              <a:gd name="connsiteY21" fmla="*/ 338409 h 2876473"/>
              <a:gd name="connsiteX22" fmla="*/ 588350 w 2857700"/>
              <a:gd name="connsiteY22" fmla="*/ 338409 h 2876473"/>
              <a:gd name="connsiteX23" fmla="*/ 588350 w 2857700"/>
              <a:gd name="connsiteY23" fmla="*/ 507613 h 2876473"/>
              <a:gd name="connsiteX24" fmla="*/ 630375 w 2857700"/>
              <a:gd name="connsiteY24" fmla="*/ 549914 h 2876473"/>
              <a:gd name="connsiteX25" fmla="*/ 672400 w 2857700"/>
              <a:gd name="connsiteY25" fmla="*/ 507613 h 2876473"/>
              <a:gd name="connsiteX26" fmla="*/ 672400 w 2857700"/>
              <a:gd name="connsiteY26" fmla="*/ 338409 h 2876473"/>
              <a:gd name="connsiteX27" fmla="*/ 2185300 w 2857700"/>
              <a:gd name="connsiteY27" fmla="*/ 338409 h 2876473"/>
              <a:gd name="connsiteX28" fmla="*/ 2185300 w 2857700"/>
              <a:gd name="connsiteY28" fmla="*/ 507613 h 2876473"/>
              <a:gd name="connsiteX29" fmla="*/ 2227325 w 2857700"/>
              <a:gd name="connsiteY29" fmla="*/ 549914 h 2876473"/>
              <a:gd name="connsiteX30" fmla="*/ 2269350 w 2857700"/>
              <a:gd name="connsiteY30" fmla="*/ 507613 h 2876473"/>
              <a:gd name="connsiteX31" fmla="*/ 2269350 w 2857700"/>
              <a:gd name="connsiteY31" fmla="*/ 338409 h 28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700" h="2876473">
                <a:moveTo>
                  <a:pt x="2269350" y="42301"/>
                </a:moveTo>
                <a:cubicBezTo>
                  <a:pt x="2269350" y="18938"/>
                  <a:pt x="2250536" y="0"/>
                  <a:pt x="2227325" y="0"/>
                </a:cubicBezTo>
                <a:cubicBezTo>
                  <a:pt x="2204115" y="0"/>
                  <a:pt x="2185300" y="18938"/>
                  <a:pt x="2185300" y="42301"/>
                </a:cubicBezTo>
                <a:lnTo>
                  <a:pt x="2185300" y="253807"/>
                </a:lnTo>
                <a:lnTo>
                  <a:pt x="672400" y="253807"/>
                </a:lnTo>
                <a:lnTo>
                  <a:pt x="672400" y="42301"/>
                </a:lnTo>
                <a:cubicBezTo>
                  <a:pt x="672400" y="18938"/>
                  <a:pt x="653585" y="0"/>
                  <a:pt x="630375" y="0"/>
                </a:cubicBezTo>
                <a:cubicBezTo>
                  <a:pt x="607165" y="0"/>
                  <a:pt x="588350" y="18938"/>
                  <a:pt x="588350" y="42301"/>
                </a:cubicBezTo>
                <a:lnTo>
                  <a:pt x="588350" y="253807"/>
                </a:lnTo>
                <a:lnTo>
                  <a:pt x="0" y="253807"/>
                </a:lnTo>
                <a:lnTo>
                  <a:pt x="0" y="2876474"/>
                </a:lnTo>
                <a:lnTo>
                  <a:pt x="2857700" y="2876474"/>
                </a:lnTo>
                <a:lnTo>
                  <a:pt x="2857700" y="253807"/>
                </a:lnTo>
                <a:lnTo>
                  <a:pt x="2269350" y="253807"/>
                </a:lnTo>
                <a:close/>
                <a:moveTo>
                  <a:pt x="2773650" y="2791872"/>
                </a:moveTo>
                <a:lnTo>
                  <a:pt x="84050" y="2791872"/>
                </a:lnTo>
                <a:lnTo>
                  <a:pt x="84050" y="972925"/>
                </a:lnTo>
                <a:lnTo>
                  <a:pt x="2773650" y="972925"/>
                </a:lnTo>
                <a:close/>
                <a:moveTo>
                  <a:pt x="2773650" y="338409"/>
                </a:moveTo>
                <a:lnTo>
                  <a:pt x="2773650" y="888323"/>
                </a:lnTo>
                <a:lnTo>
                  <a:pt x="84050" y="888323"/>
                </a:lnTo>
                <a:lnTo>
                  <a:pt x="84050" y="338409"/>
                </a:lnTo>
                <a:lnTo>
                  <a:pt x="588350" y="338409"/>
                </a:lnTo>
                <a:lnTo>
                  <a:pt x="588350" y="507613"/>
                </a:lnTo>
                <a:cubicBezTo>
                  <a:pt x="588350" y="530976"/>
                  <a:pt x="607165" y="549914"/>
                  <a:pt x="630375" y="549914"/>
                </a:cubicBezTo>
                <a:cubicBezTo>
                  <a:pt x="653585" y="549914"/>
                  <a:pt x="672400" y="530976"/>
                  <a:pt x="672400" y="507613"/>
                </a:cubicBezTo>
                <a:lnTo>
                  <a:pt x="672400" y="338409"/>
                </a:lnTo>
                <a:lnTo>
                  <a:pt x="2185300" y="338409"/>
                </a:lnTo>
                <a:lnTo>
                  <a:pt x="2185300" y="507613"/>
                </a:lnTo>
                <a:cubicBezTo>
                  <a:pt x="2185300" y="530976"/>
                  <a:pt x="2204115" y="549914"/>
                  <a:pt x="2227325" y="549914"/>
                </a:cubicBezTo>
                <a:cubicBezTo>
                  <a:pt x="2250536" y="549914"/>
                  <a:pt x="2269350" y="530976"/>
                  <a:pt x="2269350" y="507613"/>
                </a:cubicBezTo>
                <a:lnTo>
                  <a:pt x="2269350" y="338409"/>
                </a:lnTo>
                <a:close/>
              </a:path>
            </a:pathLst>
          </a:custGeom>
          <a:solidFill>
            <a:srgbClr val="000000"/>
          </a:solidFill>
          <a:ln w="41970" cap="flat">
            <a:noFill/>
            <a:prstDash val="solid"/>
            <a:miter/>
          </a:ln>
        </p:spPr>
        <p:txBody>
          <a:bodyPr rtlCol="0" anchor="ctr"/>
          <a:lstStyle/>
          <a:p>
            <a:endParaRPr lang="ja-JP" altLang="en-US"/>
          </a:p>
        </p:txBody>
      </p:sp>
      <p:grpSp>
        <p:nvGrpSpPr>
          <p:cNvPr id="82" name="グループ化 81">
            <a:extLst>
              <a:ext uri="{FF2B5EF4-FFF2-40B4-BE49-F238E27FC236}">
                <a16:creationId xmlns:a16="http://schemas.microsoft.com/office/drawing/2014/main" id="{495092D2-75E4-6B1A-6BBB-9F7AFED08838}"/>
              </a:ext>
            </a:extLst>
          </p:cNvPr>
          <p:cNvGrpSpPr/>
          <p:nvPr/>
        </p:nvGrpSpPr>
        <p:grpSpPr>
          <a:xfrm>
            <a:off x="1036799" y="1401564"/>
            <a:ext cx="9053286" cy="1580827"/>
            <a:chOff x="4381090" y="2201584"/>
            <a:chExt cx="9053286" cy="1580827"/>
          </a:xfrm>
        </p:grpSpPr>
        <p:sp>
          <p:nvSpPr>
            <p:cNvPr id="80" name="正方形/長方形 79">
              <a:extLst>
                <a:ext uri="{FF2B5EF4-FFF2-40B4-BE49-F238E27FC236}">
                  <a16:creationId xmlns:a16="http://schemas.microsoft.com/office/drawing/2014/main" id="{C56638FD-E7B7-C474-FBDF-AD72D61D597C}"/>
                </a:ext>
              </a:extLst>
            </p:cNvPr>
            <p:cNvSpPr/>
            <p:nvPr/>
          </p:nvSpPr>
          <p:spPr>
            <a:xfrm>
              <a:off x="4381090" y="2201584"/>
              <a:ext cx="8851807" cy="1580827"/>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1" name="コンテンツ プレースホルダー 1">
              <a:extLst>
                <a:ext uri="{FF2B5EF4-FFF2-40B4-BE49-F238E27FC236}">
                  <a16:creationId xmlns:a16="http://schemas.microsoft.com/office/drawing/2014/main" id="{5D60B31D-0470-D76B-F779-374E6FBA29FF}"/>
                </a:ext>
              </a:extLst>
            </p:cNvPr>
            <p:cNvSpPr txBox="1">
              <a:spLocks/>
            </p:cNvSpPr>
            <p:nvPr/>
          </p:nvSpPr>
          <p:spPr>
            <a:xfrm>
              <a:off x="4400168" y="2291394"/>
              <a:ext cx="9034208" cy="1469688"/>
            </a:xfrm>
            <a:prstGeom prst="rect">
              <a:avLst/>
            </a:prstGeom>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t>モデル ：</a:t>
              </a:r>
              <a:r>
                <a:rPr lang="en-US" altLang="ja-JP" sz="1800" dirty="0"/>
                <a:t> </a:t>
              </a:r>
              <a:r>
                <a:rPr lang="ja-JP" altLang="en-US" sz="1800" dirty="0"/>
                <a:t>勾配ブースティング決定木（</a:t>
              </a:r>
              <a:r>
                <a:rPr lang="en-US" altLang="ja-JP" sz="1800" dirty="0" err="1"/>
                <a:t>CatBoost</a:t>
              </a:r>
              <a:r>
                <a:rPr lang="ja-JP" altLang="en-US" sz="1800" dirty="0"/>
                <a:t>）</a:t>
              </a:r>
              <a:r>
                <a:rPr lang="en-US" altLang="ja-JP" sz="1800" dirty="0"/>
                <a:t>  </a:t>
              </a:r>
            </a:p>
            <a:p>
              <a:r>
                <a:rPr lang="ja-JP" altLang="en-US" sz="1800" dirty="0"/>
                <a:t>出力</a:t>
              </a:r>
              <a:r>
                <a:rPr lang="en-US" altLang="ja-JP" sz="1800" dirty="0"/>
                <a:t> </a:t>
              </a:r>
              <a:r>
                <a:rPr lang="ja-JP" altLang="en-US" sz="1800" dirty="0"/>
                <a:t>：</a:t>
              </a:r>
              <a:r>
                <a:rPr lang="en-US" altLang="ja-JP" sz="1800" dirty="0"/>
                <a:t> </a:t>
              </a:r>
              <a:r>
                <a:rPr lang="ja-JP" altLang="en-US" sz="1800" dirty="0"/>
                <a:t>ホテルの総合日時稼働率</a:t>
              </a:r>
              <a:r>
                <a:rPr lang="en-US" altLang="ja-JP" sz="1800" dirty="0"/>
                <a:t> [0 〜 1]</a:t>
              </a:r>
            </a:p>
            <a:p>
              <a:r>
                <a:rPr lang="ja-JP" altLang="en-US" sz="1800" dirty="0"/>
                <a:t>特徴量：</a:t>
              </a:r>
              <a:r>
                <a:rPr lang="ja-JP" altLang="en-US" sz="1800" dirty="0">
                  <a:solidFill>
                    <a:srgbClr val="C00000"/>
                  </a:solidFill>
                </a:rPr>
                <a:t>口コミ感情（清掃）</a:t>
              </a:r>
              <a:r>
                <a:rPr lang="ja-JP" altLang="en-US" sz="1800" dirty="0"/>
                <a:t>、時系列系（曜日・月）、イベント情報（長野市）</a:t>
              </a:r>
              <a:br>
                <a:rPr lang="en-US" altLang="ja-JP" sz="1800" dirty="0"/>
              </a:br>
              <a:endParaRPr lang="ja-JP" altLang="en-US" sz="1800" dirty="0"/>
            </a:p>
          </p:txBody>
        </p:sp>
      </p:grpSp>
      <p:sp>
        <p:nvSpPr>
          <p:cNvPr id="5" name="正方形/長方形 4">
            <a:extLst>
              <a:ext uri="{FF2B5EF4-FFF2-40B4-BE49-F238E27FC236}">
                <a16:creationId xmlns:a16="http://schemas.microsoft.com/office/drawing/2014/main" id="{C4E00997-4127-1BD8-D16E-D6CFC958C571}"/>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二か月後（可変）の日時稼働率を予測できるモデルを開発した</a:t>
            </a:r>
          </a:p>
        </p:txBody>
      </p:sp>
      <p:sp>
        <p:nvSpPr>
          <p:cNvPr id="8" name="テキスト プレースホルダー 2">
            <a:extLst>
              <a:ext uri="{FF2B5EF4-FFF2-40B4-BE49-F238E27FC236}">
                <a16:creationId xmlns:a16="http://schemas.microsoft.com/office/drawing/2014/main" id="{5CD1C5FB-F9BE-2B80-FB6A-F9904253E830}"/>
              </a:ext>
            </a:extLst>
          </p:cNvPr>
          <p:cNvSpPr>
            <a:spLocks noGrp="1"/>
          </p:cNvSpPr>
          <p:nvPr>
            <p:ph type="body" sz="quarter" idx="11"/>
          </p:nvPr>
        </p:nvSpPr>
        <p:spPr>
          <a:xfrm>
            <a:off x="289826" y="85437"/>
            <a:ext cx="12271604" cy="589362"/>
          </a:xfrm>
        </p:spPr>
        <p:txBody>
          <a:bodyPr>
            <a:normAutofit/>
          </a:bodyPr>
          <a:lstStyle/>
          <a:p>
            <a:r>
              <a:rPr kumimoji="1" lang="ja-JP" altLang="en-US" sz="2300" b="1" dirty="0"/>
              <a:t>需要予測モデル</a:t>
            </a:r>
          </a:p>
        </p:txBody>
      </p:sp>
    </p:spTree>
    <p:extLst>
      <p:ext uri="{BB962C8B-B14F-4D97-AF65-F5344CB8AC3E}">
        <p14:creationId xmlns:p14="http://schemas.microsoft.com/office/powerpoint/2010/main" val="3087737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2DCD414-B149-F686-C0BD-6FB2AC623FE3}"/>
              </a:ext>
            </a:extLst>
          </p:cNvPr>
          <p:cNvSpPr>
            <a:spLocks noGrp="1"/>
          </p:cNvSpPr>
          <p:nvPr>
            <p:ph idx="1"/>
          </p:nvPr>
        </p:nvSpPr>
        <p:spPr/>
        <p:txBody>
          <a:bodyPr>
            <a:normAutofit fontScale="85000" lnSpcReduction="20000"/>
          </a:bodyPr>
          <a:lstStyle/>
          <a:p>
            <a:r>
              <a:rPr lang="ja-JP" altLang="en-US" dirty="0"/>
              <a:t>勾配ブースティング</a:t>
            </a:r>
            <a:endParaRPr lang="ja-JP" altLang="en-US" b="1" dirty="0"/>
          </a:p>
          <a:p>
            <a:pPr>
              <a:buFont typeface="Arial" panose="020B0604020202020204" pitchFamily="34" charset="0"/>
              <a:buChar char="•"/>
            </a:pPr>
            <a:r>
              <a:rPr lang="ja-JP" altLang="en-US" sz="2000" b="1" dirty="0"/>
              <a:t>「非線形特徴」を最も効率的に学習</a:t>
            </a:r>
            <a:br>
              <a:rPr lang="ja-JP" altLang="en-US" sz="2000" dirty="0"/>
            </a:br>
            <a:r>
              <a:rPr lang="ja-JP" altLang="en-US" sz="2000" dirty="0"/>
              <a:t>　→ 価格</a:t>
            </a:r>
            <a:r>
              <a:rPr lang="en-US" altLang="ja-JP" sz="2000" dirty="0"/>
              <a:t>×</a:t>
            </a:r>
            <a:r>
              <a:rPr lang="ja-JP" altLang="en-US" sz="2000" dirty="0"/>
              <a:t>感情スコア</a:t>
            </a:r>
            <a:r>
              <a:rPr lang="en-US" altLang="ja-JP" sz="2000" dirty="0"/>
              <a:t>×</a:t>
            </a:r>
            <a:r>
              <a:rPr lang="ja-JP" altLang="en-US" sz="2000" dirty="0"/>
              <a:t>曜日のような</a:t>
            </a:r>
            <a:r>
              <a:rPr lang="ja-JP" altLang="en-US" sz="2000" b="1" dirty="0"/>
              <a:t>交互作用</a:t>
            </a:r>
            <a:r>
              <a:rPr lang="ja-JP" altLang="en-US" sz="2000" dirty="0"/>
              <a:t>を自動で捉える</a:t>
            </a:r>
          </a:p>
          <a:p>
            <a:pPr>
              <a:buFont typeface="Arial" panose="020B0604020202020204" pitchFamily="34" charset="0"/>
              <a:buChar char="•"/>
            </a:pPr>
            <a:r>
              <a:rPr lang="ja-JP" altLang="en-US" sz="2000" b="1" dirty="0"/>
              <a:t>欠損・カテゴリ混在を自然に処理</a:t>
            </a:r>
            <a:r>
              <a:rPr lang="ja-JP" altLang="en-US" sz="2000" dirty="0"/>
              <a:t>（</a:t>
            </a:r>
            <a:r>
              <a:rPr lang="ja-JP" altLang="en-US" sz="2000" b="1" dirty="0"/>
              <a:t>少量データでも安定高精度・高速学習</a:t>
            </a:r>
            <a:r>
              <a:rPr lang="ja-JP" altLang="en-US" sz="2000" dirty="0"/>
              <a:t>（</a:t>
            </a:r>
            <a:r>
              <a:rPr lang="en" altLang="ja-JP" sz="2000" dirty="0"/>
              <a:t>CPU</a:t>
            </a:r>
            <a:r>
              <a:rPr lang="ja-JP" altLang="en-US" sz="2000" dirty="0"/>
              <a:t>環境でも十分）</a:t>
            </a:r>
          </a:p>
          <a:p>
            <a:pPr>
              <a:buFont typeface="Arial" panose="020B0604020202020204" pitchFamily="34" charset="0"/>
              <a:buChar char="•"/>
            </a:pPr>
            <a:r>
              <a:rPr lang="en" altLang="ja-JP" sz="2000" b="1" dirty="0"/>
              <a:t>SHAP</a:t>
            </a:r>
            <a:r>
              <a:rPr lang="ja-JP" altLang="en-US" sz="2000" b="1" dirty="0"/>
              <a:t>分析で要因の寄与を定量化可能</a:t>
            </a:r>
            <a:br>
              <a:rPr lang="ja-JP" altLang="en-US" sz="2000" dirty="0"/>
            </a:br>
            <a:r>
              <a:rPr lang="ja-JP" altLang="en-US" sz="2000" dirty="0"/>
              <a:t>　→ 「どのアスペクトが稼働率に効いたか」を説明できる</a:t>
            </a:r>
          </a:p>
          <a:p>
            <a:r>
              <a:rPr lang="ja-JP" altLang="en-US" dirty="0"/>
              <a:t>ロジスティック</a:t>
            </a:r>
            <a:r>
              <a:rPr kumimoji="1" lang="ja-JP" altLang="en-US" dirty="0"/>
              <a:t>回帰・線形回帰</a:t>
            </a:r>
            <a:endParaRPr kumimoji="1" lang="en-US" altLang="ja-JP" dirty="0"/>
          </a:p>
          <a:p>
            <a:pPr>
              <a:buFont typeface="Arial" panose="020B0604020202020204" pitchFamily="34" charset="0"/>
              <a:buChar char="•"/>
            </a:pPr>
            <a:r>
              <a:rPr lang="ja-JP" altLang="en-US" sz="1900" dirty="0"/>
              <a:t>非線形や交互作用（価格</a:t>
            </a:r>
            <a:r>
              <a:rPr lang="en-US" altLang="ja-JP" sz="1900" dirty="0"/>
              <a:t>×</a:t>
            </a:r>
            <a:r>
              <a:rPr lang="ja-JP" altLang="en-US" sz="1900" dirty="0"/>
              <a:t>感情</a:t>
            </a:r>
            <a:r>
              <a:rPr lang="en-US" altLang="ja-JP" sz="1900" dirty="0"/>
              <a:t>×</a:t>
            </a:r>
            <a:r>
              <a:rPr lang="ja-JP" altLang="en-US" sz="1900" dirty="0"/>
              <a:t>曜日）を表現できない</a:t>
            </a:r>
            <a:endParaRPr kumimoji="1" lang="en-US" altLang="ja-JP" sz="1900" dirty="0"/>
          </a:p>
          <a:p>
            <a:r>
              <a:rPr lang="en-US" altLang="ja-JP" dirty="0"/>
              <a:t>Deep-learning</a:t>
            </a:r>
          </a:p>
          <a:p>
            <a:pPr>
              <a:buFont typeface="Arial" panose="020B0604020202020204" pitchFamily="34" charset="0"/>
              <a:buChar char="•"/>
            </a:pPr>
            <a:r>
              <a:rPr lang="ja-JP" altLang="en-US" sz="1800" dirty="0"/>
              <a:t>データ量不足・説明性が低く、</a:t>
            </a:r>
            <a:r>
              <a:rPr lang="ja-JP" altLang="en-US" sz="1800" b="1" dirty="0"/>
              <a:t>特徴量の意味解釈が困難</a:t>
            </a:r>
            <a:endParaRPr lang="en-US" altLang="ja-JP" sz="1800" dirty="0"/>
          </a:p>
        </p:txBody>
      </p:sp>
      <p:sp>
        <p:nvSpPr>
          <p:cNvPr id="3" name="テキスト プレースホルダー 2">
            <a:extLst>
              <a:ext uri="{FF2B5EF4-FFF2-40B4-BE49-F238E27FC236}">
                <a16:creationId xmlns:a16="http://schemas.microsoft.com/office/drawing/2014/main" id="{6FD930BF-3129-192B-1293-2BE2E48E765A}"/>
              </a:ext>
            </a:extLst>
          </p:cNvPr>
          <p:cNvSpPr>
            <a:spLocks noGrp="1"/>
          </p:cNvSpPr>
          <p:nvPr>
            <p:ph type="body" sz="quarter" idx="11"/>
          </p:nvPr>
        </p:nvSpPr>
        <p:spPr/>
        <p:txBody>
          <a:bodyPr>
            <a:normAutofit fontScale="92500" lnSpcReduction="10000"/>
          </a:bodyPr>
          <a:lstStyle/>
          <a:p>
            <a:r>
              <a:rPr kumimoji="1" lang="ja-JP" altLang="en-US" b="1" dirty="0"/>
              <a:t>稼働率予測モデルの選定</a:t>
            </a:r>
          </a:p>
        </p:txBody>
      </p:sp>
    </p:spTree>
    <p:extLst>
      <p:ext uri="{BB962C8B-B14F-4D97-AF65-F5344CB8AC3E}">
        <p14:creationId xmlns:p14="http://schemas.microsoft.com/office/powerpoint/2010/main" val="760039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1AD10-BCF6-8719-754B-0C305D5036C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3DC045B-6249-6BC2-6B58-1E80E8C92B65}"/>
              </a:ext>
            </a:extLst>
          </p:cNvPr>
          <p:cNvSpPr>
            <a:spLocks noGrp="1"/>
          </p:cNvSpPr>
          <p:nvPr>
            <p:ph idx="1"/>
          </p:nvPr>
        </p:nvSpPr>
        <p:spPr/>
        <p:txBody>
          <a:bodyPr>
            <a:normAutofit fontScale="70000" lnSpcReduction="20000"/>
          </a:bodyPr>
          <a:lstStyle/>
          <a:p>
            <a:r>
              <a:rPr lang="ja-JP" altLang="en-US"/>
              <a:t>研究対象の</a:t>
            </a:r>
            <a:r>
              <a:rPr kumimoji="1" lang="ja-JP" altLang="en-US"/>
              <a:t>宿泊施設（１社）から提供されたデータ</a:t>
            </a:r>
            <a:r>
              <a:rPr lang="ja-JP" altLang="en-US"/>
              <a:t>（目的変数）</a:t>
            </a:r>
            <a:endParaRPr kumimoji="1" lang="en-US" altLang="ja-JP" dirty="0"/>
          </a:p>
          <a:p>
            <a:pPr lvl="1">
              <a:buFont typeface="Wingdings" pitchFamily="2" charset="2"/>
              <a:buChar char="Ø"/>
            </a:pPr>
            <a:r>
              <a:rPr lang="ja-JP" altLang="en-US"/>
              <a:t>ホテルの総合稼働率</a:t>
            </a:r>
            <a:br>
              <a:rPr lang="en-US" altLang="ja-JP" dirty="0"/>
            </a:br>
            <a:r>
              <a:rPr lang="ja-JP" altLang="en-US"/>
              <a:t>　　</a:t>
            </a:r>
            <a:r>
              <a:rPr lang="en-US" altLang="ja-JP" dirty="0"/>
              <a:t>{0 〜 1} </a:t>
            </a:r>
            <a:r>
              <a:rPr lang="ja-JP" altLang="en-US"/>
              <a:t>の連続値</a:t>
            </a:r>
            <a:endParaRPr lang="en-US" altLang="ja-JP" dirty="0"/>
          </a:p>
          <a:p>
            <a:r>
              <a:rPr kumimoji="1" lang="ja-JP" altLang="en-US"/>
              <a:t>外部データ</a:t>
            </a:r>
            <a:r>
              <a:rPr lang="ja-JP" altLang="en-US"/>
              <a:t>（説明変数）</a:t>
            </a:r>
            <a:endParaRPr kumimoji="1" lang="en-US" altLang="ja-JP" sz="2400" b="0" dirty="0">
              <a:solidFill>
                <a:schemeClr val="tx1">
                  <a:lumMod val="50000"/>
                </a:schemeClr>
              </a:solidFill>
            </a:endParaRPr>
          </a:p>
          <a:p>
            <a:pPr lvl="1">
              <a:buFont typeface="Wingdings" pitchFamily="2" charset="2"/>
              <a:buChar char="Ø"/>
            </a:pPr>
            <a:r>
              <a:rPr lang="ja-JP" altLang="en-US"/>
              <a:t>曜日</a:t>
            </a:r>
            <a:r>
              <a:rPr lang="en-US" altLang="ja-JP" dirty="0"/>
              <a:t>(</a:t>
            </a:r>
            <a:r>
              <a:rPr lang="ja-JP" altLang="en-US"/>
              <a:t>カテゴリ変数</a:t>
            </a:r>
            <a:r>
              <a:rPr lang="en-US" altLang="ja-JP" dirty="0"/>
              <a:t>)</a:t>
            </a:r>
            <a:br>
              <a:rPr lang="en-US" altLang="ja-JP" dirty="0"/>
            </a:br>
            <a:r>
              <a:rPr lang="en-US" altLang="ja-JP" dirty="0"/>
              <a:t>{ 0</a:t>
            </a:r>
            <a:r>
              <a:rPr lang="ja-JP" altLang="en-US"/>
              <a:t>：月曜</a:t>
            </a:r>
            <a:r>
              <a:rPr lang="en-US" altLang="ja-JP" dirty="0"/>
              <a:t>, 1</a:t>
            </a:r>
            <a:r>
              <a:rPr lang="ja-JP" altLang="en-US"/>
              <a:t>：火曜</a:t>
            </a:r>
            <a:r>
              <a:rPr lang="en-US" altLang="ja-JP" dirty="0"/>
              <a:t>, …. 6</a:t>
            </a:r>
            <a:r>
              <a:rPr lang="ja-JP" altLang="en-US"/>
              <a:t>：日曜</a:t>
            </a:r>
            <a:r>
              <a:rPr lang="en-US" altLang="ja-JP" dirty="0"/>
              <a:t> }</a:t>
            </a:r>
            <a:br>
              <a:rPr lang="en-US" altLang="ja-JP" dirty="0"/>
            </a:br>
            <a:endParaRPr lang="en-US" altLang="ja-JP" dirty="0"/>
          </a:p>
          <a:p>
            <a:pPr lvl="1">
              <a:buFont typeface="Wingdings" pitchFamily="2" charset="2"/>
              <a:buChar char="Ø"/>
            </a:pPr>
            <a:r>
              <a:rPr lang="ja-JP" altLang="en-US"/>
              <a:t>予約サイトの口コミ文</a:t>
            </a:r>
            <a:r>
              <a:rPr lang="en-US" altLang="ja-JP" dirty="0"/>
              <a:t>1230</a:t>
            </a:r>
            <a:r>
              <a:rPr lang="ja-JP" altLang="en-US"/>
              <a:t>件（じゃらん・楽天トラベル・一休）を対象に</a:t>
            </a:r>
            <a:br>
              <a:rPr lang="ja-JP" altLang="en-US"/>
            </a:br>
            <a:r>
              <a:rPr lang="ja-JP" altLang="en-US"/>
              <a:t>「清掃」観点の感情分析を行い</a:t>
            </a:r>
            <a:r>
              <a:rPr lang="en-US" altLang="ja-JP" dirty="0"/>
              <a:t>3</a:t>
            </a:r>
            <a:r>
              <a:rPr lang="ja-JP" altLang="en-US"/>
              <a:t>ヶ月の平均でスコア化したデータ</a:t>
            </a:r>
            <a:br>
              <a:rPr lang="ja-JP" altLang="en-US"/>
            </a:br>
            <a:r>
              <a:rPr lang="en-US" altLang="ja-JP" dirty="0"/>
              <a:t>{ -1</a:t>
            </a:r>
            <a:r>
              <a:rPr lang="ja-JP" altLang="en-US"/>
              <a:t>：</a:t>
            </a:r>
            <a:r>
              <a:rPr lang="en" altLang="ja-JP" dirty="0"/>
              <a:t>Negative</a:t>
            </a:r>
            <a:r>
              <a:rPr lang="ja-JP" altLang="en"/>
              <a:t>，</a:t>
            </a:r>
            <a:r>
              <a:rPr lang="en" altLang="ja-JP" dirty="0"/>
              <a:t>0</a:t>
            </a:r>
            <a:r>
              <a:rPr lang="ja-JP" altLang="en"/>
              <a:t>：</a:t>
            </a:r>
            <a:r>
              <a:rPr lang="en" altLang="ja-JP" dirty="0"/>
              <a:t>Neutral</a:t>
            </a:r>
            <a:r>
              <a:rPr lang="ja-JP" altLang="en"/>
              <a:t>，</a:t>
            </a:r>
            <a:r>
              <a:rPr lang="en" altLang="ja-JP" dirty="0"/>
              <a:t>1</a:t>
            </a:r>
            <a:r>
              <a:rPr lang="ja-JP" altLang="en"/>
              <a:t>：</a:t>
            </a:r>
            <a:r>
              <a:rPr lang="en" altLang="ja-JP" dirty="0"/>
              <a:t>Positive }</a:t>
            </a:r>
            <a:br>
              <a:rPr lang="en-US" altLang="ja-JP" dirty="0"/>
            </a:br>
            <a:endParaRPr lang="en-US" altLang="ja-JP" dirty="0"/>
          </a:p>
          <a:p>
            <a:pPr lvl="1">
              <a:buFont typeface="Wingdings" pitchFamily="2" charset="2"/>
              <a:buChar char="Ø"/>
            </a:pPr>
            <a:r>
              <a:rPr lang="ja-JP" altLang="en-US"/>
              <a:t>長野市内のイベント情報</a:t>
            </a:r>
            <a:br>
              <a:rPr lang="ja-JP" altLang="en-US"/>
            </a:br>
            <a:r>
              <a:rPr lang="ja-JP" altLang="en-US"/>
              <a:t>（イベント当日／前日か否かを示すダミー変数）</a:t>
            </a:r>
            <a:br>
              <a:rPr lang="ja-JP" altLang="en-US"/>
            </a:br>
            <a:r>
              <a:rPr lang="en-US" altLang="ja-JP" dirty="0"/>
              <a:t>{1</a:t>
            </a:r>
            <a:r>
              <a:rPr lang="ja-JP" altLang="en-US"/>
              <a:t>：</a:t>
            </a:r>
            <a:r>
              <a:rPr lang="en" altLang="ja-JP" dirty="0"/>
              <a:t>Yes</a:t>
            </a:r>
            <a:r>
              <a:rPr lang="ja-JP" altLang="en"/>
              <a:t>，</a:t>
            </a:r>
            <a:r>
              <a:rPr lang="en" altLang="ja-JP" dirty="0"/>
              <a:t>0</a:t>
            </a:r>
            <a:r>
              <a:rPr lang="ja-JP" altLang="en"/>
              <a:t>：</a:t>
            </a:r>
            <a:r>
              <a:rPr lang="en" altLang="ja-JP" dirty="0"/>
              <a:t>No}</a:t>
            </a:r>
            <a:endParaRPr lang="en-US" altLang="ja-JP" dirty="0"/>
          </a:p>
        </p:txBody>
      </p:sp>
      <p:sp>
        <p:nvSpPr>
          <p:cNvPr id="3" name="テキスト プレースホルダー 2">
            <a:extLst>
              <a:ext uri="{FF2B5EF4-FFF2-40B4-BE49-F238E27FC236}">
                <a16:creationId xmlns:a16="http://schemas.microsoft.com/office/drawing/2014/main" id="{34FEB265-2582-29CF-30F8-5B023B8337C6}"/>
              </a:ext>
            </a:extLst>
          </p:cNvPr>
          <p:cNvSpPr>
            <a:spLocks noGrp="1"/>
          </p:cNvSpPr>
          <p:nvPr>
            <p:ph type="body" sz="quarter" idx="11"/>
          </p:nvPr>
        </p:nvSpPr>
        <p:spPr>
          <a:xfrm>
            <a:off x="301908" y="9420"/>
            <a:ext cx="11356692" cy="670194"/>
          </a:xfrm>
        </p:spPr>
        <p:txBody>
          <a:bodyPr>
            <a:normAutofit/>
          </a:bodyPr>
          <a:lstStyle/>
          <a:p>
            <a:r>
              <a:rPr kumimoji="1" lang="ja-JP" altLang="en-US" sz="2800" b="1" dirty="0"/>
              <a:t>需要予測に使用するデータ</a:t>
            </a:r>
            <a:r>
              <a:rPr kumimoji="1" lang="ja-JP" altLang="en-US" sz="1800" b="1" dirty="0"/>
              <a:t>（期間</a:t>
            </a:r>
            <a:r>
              <a:rPr kumimoji="1" lang="en-US" altLang="ja-JP" sz="1800" b="1" dirty="0"/>
              <a:t> : 2022/8/1〜2024/7/30</a:t>
            </a:r>
            <a:r>
              <a:rPr kumimoji="1" lang="ja-JP" altLang="en-US" sz="1800" b="1" dirty="0"/>
              <a:t>）</a:t>
            </a:r>
            <a:r>
              <a:rPr kumimoji="1" lang="en-US" altLang="ja-JP" sz="1800" b="1" dirty="0"/>
              <a:t> </a:t>
            </a:r>
            <a:endParaRPr kumimoji="1" lang="ja-JP" altLang="en-US" sz="1800" b="1" dirty="0"/>
          </a:p>
        </p:txBody>
      </p:sp>
    </p:spTree>
    <p:extLst>
      <p:ext uri="{BB962C8B-B14F-4D97-AF65-F5344CB8AC3E}">
        <p14:creationId xmlns:p14="http://schemas.microsoft.com/office/powerpoint/2010/main" val="3563204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4A8C-1295-653F-0BBA-66FAB80985A9}"/>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EF79E29-4E7C-5114-3FDD-8D9107187C84}"/>
              </a:ext>
            </a:extLst>
          </p:cNvPr>
          <p:cNvSpPr>
            <a:spLocks noGrp="1"/>
          </p:cNvSpPr>
          <p:nvPr>
            <p:ph type="body" sz="quarter" idx="11"/>
          </p:nvPr>
        </p:nvSpPr>
        <p:spPr/>
        <p:txBody>
          <a:bodyPr>
            <a:normAutofit fontScale="92500" lnSpcReduction="10000"/>
          </a:bodyPr>
          <a:lstStyle/>
          <a:p>
            <a:r>
              <a:rPr kumimoji="1" lang="ja-JP" altLang="en-US" dirty="0"/>
              <a:t>稼働率予測モデルの選定</a:t>
            </a:r>
          </a:p>
        </p:txBody>
      </p:sp>
      <p:sp>
        <p:nvSpPr>
          <p:cNvPr id="9" name="コンテンツ プレースホルダー 1">
            <a:extLst>
              <a:ext uri="{FF2B5EF4-FFF2-40B4-BE49-F238E27FC236}">
                <a16:creationId xmlns:a16="http://schemas.microsoft.com/office/drawing/2014/main" id="{E29B0FEE-57BA-FB9B-E4AB-5F9F0480CABE}"/>
              </a:ext>
            </a:extLst>
          </p:cNvPr>
          <p:cNvSpPr txBox="1">
            <a:spLocks/>
          </p:cNvSpPr>
          <p:nvPr/>
        </p:nvSpPr>
        <p:spPr>
          <a:xfrm>
            <a:off x="371194" y="754989"/>
            <a:ext cx="11349318" cy="534802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solidFill>
                  <a:srgbClr val="C00000"/>
                </a:solidFill>
              </a:rPr>
              <a:t>CatBoost</a:t>
            </a:r>
            <a:r>
              <a:rPr lang="ja-JP" altLang="en-US" dirty="0"/>
              <a:t>の精度が他手法の手法の精度を上回った</a:t>
            </a:r>
            <a:endParaRPr lang="en-US" altLang="ja-JP" dirty="0"/>
          </a:p>
          <a:p>
            <a:pPr marL="0" indent="0">
              <a:buFont typeface="Wingdings" pitchFamily="2" charset="2"/>
              <a:buNone/>
            </a:pPr>
            <a:endParaRPr lang="ja-JP" altLang="en-US" dirty="0"/>
          </a:p>
        </p:txBody>
      </p:sp>
      <p:graphicFrame>
        <p:nvGraphicFramePr>
          <p:cNvPr id="6" name="表 5">
            <a:extLst>
              <a:ext uri="{FF2B5EF4-FFF2-40B4-BE49-F238E27FC236}">
                <a16:creationId xmlns:a16="http://schemas.microsoft.com/office/drawing/2014/main" id="{CE0D392E-9A84-F3C8-93B1-4E14020045AC}"/>
              </a:ext>
            </a:extLst>
          </p:cNvPr>
          <p:cNvGraphicFramePr>
            <a:graphicFrameLocks noGrp="1"/>
          </p:cNvGraphicFramePr>
          <p:nvPr/>
        </p:nvGraphicFramePr>
        <p:xfrm>
          <a:off x="6173821" y="2325681"/>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6.8</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8.7</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0.09</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5.0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7.5</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0.37</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2" name="正方形/長方形 11">
            <a:extLst>
              <a:ext uri="{FF2B5EF4-FFF2-40B4-BE49-F238E27FC236}">
                <a16:creationId xmlns:a16="http://schemas.microsoft.com/office/drawing/2014/main" id="{55CB4AFD-B1D2-28E1-274A-A69765A4DDA6}"/>
              </a:ext>
            </a:extLst>
          </p:cNvPr>
          <p:cNvSpPr/>
          <p:nvPr/>
        </p:nvSpPr>
        <p:spPr>
          <a:xfrm>
            <a:off x="6164093" y="1935807"/>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err="1">
                <a:solidFill>
                  <a:schemeClr val="bg1">
                    <a:lumMod val="25000"/>
                  </a:schemeClr>
                </a:solidFill>
                <a:latin typeface="+mn-ea"/>
              </a:rPr>
              <a:t>LightGBM</a:t>
            </a:r>
            <a:endParaRPr kumimoji="1" lang="ja-JP" altLang="en-US" sz="2000" b="1" dirty="0">
              <a:solidFill>
                <a:schemeClr val="bg1">
                  <a:lumMod val="25000"/>
                </a:schemeClr>
              </a:solidFill>
              <a:latin typeface="+mn-ea"/>
            </a:endParaRPr>
          </a:p>
        </p:txBody>
      </p:sp>
      <p:graphicFrame>
        <p:nvGraphicFramePr>
          <p:cNvPr id="13" name="表 12">
            <a:extLst>
              <a:ext uri="{FF2B5EF4-FFF2-40B4-BE49-F238E27FC236}">
                <a16:creationId xmlns:a16="http://schemas.microsoft.com/office/drawing/2014/main" id="{23B2D7F5-4E87-AD11-526E-D5191DEEAE59}"/>
              </a:ext>
            </a:extLst>
          </p:cNvPr>
          <p:cNvGraphicFramePr>
            <a:graphicFrameLocks noGrp="1"/>
          </p:cNvGraphicFramePr>
          <p:nvPr/>
        </p:nvGraphicFramePr>
        <p:xfrm>
          <a:off x="6219217" y="4725176"/>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7.8</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0.27</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6.2</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9.0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0.10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4" name="正方形/長方形 13">
            <a:extLst>
              <a:ext uri="{FF2B5EF4-FFF2-40B4-BE49-F238E27FC236}">
                <a16:creationId xmlns:a16="http://schemas.microsoft.com/office/drawing/2014/main" id="{9EF7E787-FD03-695E-AFE9-2C66F38AA5CF}"/>
              </a:ext>
            </a:extLst>
          </p:cNvPr>
          <p:cNvSpPr/>
          <p:nvPr/>
        </p:nvSpPr>
        <p:spPr>
          <a:xfrm>
            <a:off x="6209489" y="4335302"/>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bg1">
                    <a:lumMod val="25000"/>
                  </a:schemeClr>
                </a:solidFill>
                <a:latin typeface="+mn-ea"/>
              </a:rPr>
              <a:t>Cart</a:t>
            </a:r>
            <a:endParaRPr kumimoji="1" lang="ja-JP" altLang="en-US" sz="2000" b="1" dirty="0">
              <a:solidFill>
                <a:schemeClr val="bg1">
                  <a:lumMod val="25000"/>
                </a:schemeClr>
              </a:solidFill>
              <a:latin typeface="+mn-ea"/>
            </a:endParaRPr>
          </a:p>
        </p:txBody>
      </p:sp>
      <p:graphicFrame>
        <p:nvGraphicFramePr>
          <p:cNvPr id="15" name="表 14">
            <a:extLst>
              <a:ext uri="{FF2B5EF4-FFF2-40B4-BE49-F238E27FC236}">
                <a16:creationId xmlns:a16="http://schemas.microsoft.com/office/drawing/2014/main" id="{4C26806D-7A66-AE09-1111-67D5929EBDDB}"/>
              </a:ext>
            </a:extLst>
          </p:cNvPr>
          <p:cNvGraphicFramePr>
            <a:graphicFrameLocks noGrp="1"/>
          </p:cNvGraphicFramePr>
          <p:nvPr>
            <p:extLst>
              <p:ext uri="{D42A27DB-BD31-4B8C-83A1-F6EECF244321}">
                <p14:modId xmlns:p14="http://schemas.microsoft.com/office/powerpoint/2010/main" val="1621775705"/>
              </p:ext>
            </p:extLst>
          </p:nvPr>
        </p:nvGraphicFramePr>
        <p:xfrm>
          <a:off x="450698" y="4725179"/>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5.6</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7.3</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0.51</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5.8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0.48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6" name="正方形/長方形 15">
            <a:extLst>
              <a:ext uri="{FF2B5EF4-FFF2-40B4-BE49-F238E27FC236}">
                <a16:creationId xmlns:a16="http://schemas.microsoft.com/office/drawing/2014/main" id="{EB8DD180-EFFB-0A20-AF52-AE14B8809C99}"/>
              </a:ext>
            </a:extLst>
          </p:cNvPr>
          <p:cNvSpPr/>
          <p:nvPr/>
        </p:nvSpPr>
        <p:spPr>
          <a:xfrm>
            <a:off x="440970" y="4335305"/>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err="1">
                <a:solidFill>
                  <a:srgbClr val="C00000"/>
                </a:solidFill>
                <a:latin typeface="+mn-ea"/>
              </a:rPr>
              <a:t>CatBoost</a:t>
            </a:r>
            <a:endParaRPr kumimoji="1" lang="ja-JP" altLang="en-US" sz="2000" b="1" dirty="0">
              <a:solidFill>
                <a:srgbClr val="C00000"/>
              </a:solidFill>
              <a:latin typeface="+mn-ea"/>
            </a:endParaRPr>
          </a:p>
        </p:txBody>
      </p:sp>
      <p:graphicFrame>
        <p:nvGraphicFramePr>
          <p:cNvPr id="17" name="表 16">
            <a:extLst>
              <a:ext uri="{FF2B5EF4-FFF2-40B4-BE49-F238E27FC236}">
                <a16:creationId xmlns:a16="http://schemas.microsoft.com/office/drawing/2014/main" id="{12D7BF53-5E31-8984-3B67-204E3863CBBD}"/>
              </a:ext>
            </a:extLst>
          </p:cNvPr>
          <p:cNvGraphicFramePr>
            <a:graphicFrameLocks noGrp="1"/>
          </p:cNvGraphicFramePr>
          <p:nvPr/>
        </p:nvGraphicFramePr>
        <p:xfrm>
          <a:off x="411785" y="2322436"/>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7.6</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0.30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8.8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0.15</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8" name="正方形/長方形 17">
            <a:extLst>
              <a:ext uri="{FF2B5EF4-FFF2-40B4-BE49-F238E27FC236}">
                <a16:creationId xmlns:a16="http://schemas.microsoft.com/office/drawing/2014/main" id="{951759A3-E575-86E6-C6CF-D9306047F957}"/>
              </a:ext>
            </a:extLst>
          </p:cNvPr>
          <p:cNvSpPr/>
          <p:nvPr/>
        </p:nvSpPr>
        <p:spPr>
          <a:xfrm>
            <a:off x="402057" y="1932562"/>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err="1">
                <a:solidFill>
                  <a:schemeClr val="bg1">
                    <a:lumMod val="25000"/>
                  </a:schemeClr>
                </a:solidFill>
                <a:latin typeface="+mn-ea"/>
              </a:rPr>
              <a:t>XGBoost</a:t>
            </a:r>
            <a:endParaRPr kumimoji="1" lang="ja-JP" altLang="en-US" sz="2000" b="1" dirty="0">
              <a:solidFill>
                <a:schemeClr val="bg1">
                  <a:lumMod val="25000"/>
                </a:schemeClr>
              </a:solidFill>
              <a:latin typeface="+mn-ea"/>
            </a:endParaRPr>
          </a:p>
        </p:txBody>
      </p:sp>
    </p:spTree>
    <p:extLst>
      <p:ext uri="{BB962C8B-B14F-4D97-AF65-F5344CB8AC3E}">
        <p14:creationId xmlns:p14="http://schemas.microsoft.com/office/powerpoint/2010/main" val="169090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EAE201B-D1B6-7E2B-DEFC-2071CC849151}"/>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D153BC9B-5BD9-7B9B-E70E-E8F2C34870CE}"/>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84A58606-8C4A-5AC9-02F2-14B657AB2AD8}"/>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0FC6A20-DBC9-B113-AD25-2E9BE734303B}"/>
              </a:ext>
            </a:extLst>
          </p:cNvPr>
          <p:cNvSpPr txBox="1"/>
          <p:nvPr/>
        </p:nvSpPr>
        <p:spPr>
          <a:xfrm>
            <a:off x="3408381" y="2204720"/>
            <a:ext cx="5151120" cy="1569660"/>
          </a:xfrm>
          <a:prstGeom prst="rect">
            <a:avLst/>
          </a:prstGeom>
          <a:noFill/>
        </p:spPr>
        <p:txBody>
          <a:bodyPr wrap="square" rtlCol="0">
            <a:spAutoFit/>
          </a:bodyPr>
          <a:lstStyle/>
          <a:p>
            <a:r>
              <a:rPr lang="ja-JP" altLang="en-US" sz="9600" b="1" dirty="0"/>
              <a:t>感情分析</a:t>
            </a:r>
            <a:endParaRPr kumimoji="1" lang="ja-JP" altLang="en-US" sz="9600" b="1" dirty="0"/>
          </a:p>
        </p:txBody>
      </p:sp>
    </p:spTree>
    <p:extLst>
      <p:ext uri="{BB962C8B-B14F-4D97-AF65-F5344CB8AC3E}">
        <p14:creationId xmlns:p14="http://schemas.microsoft.com/office/powerpoint/2010/main" val="2187148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F4FC9-0A94-A02F-A712-20BE69E38EA6}"/>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DF020223-A3DE-F8AC-3F50-2C12BFF3C99A}"/>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26E39904-E5AB-CF24-A648-2989C8D0ED88}"/>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89A73891-9405-5743-FB98-E47EBB8F4455}"/>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A8A89486-312F-63AB-CD5B-DE191A39430A}"/>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1FF8A32B-0E3F-201B-B963-A2A90AF02982}"/>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536694FF-6FD8-8C19-4AD8-7E1200BAAC46}"/>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4D359E59-30FF-D4AF-2EA2-21CBB4DB2AC5}"/>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EE5DDA74-C187-D503-0C62-823A664CDA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5C4FE73A-4095-8F67-6358-63766DAD224A}"/>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49DF677A-D560-5661-A53B-2A850C4BB3EC}"/>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DD42C7AF-400B-362B-C4FC-28EB3D528C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AADC9E30-326C-092C-0C18-E1DBA2392F05}"/>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D8CDBAD2-7495-AD22-5C7B-8744615AF04F}"/>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640A9BD3-5CF9-D80B-241E-06BD1DC08894}"/>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6C111D18-83B4-5566-03B3-F50B52A49F27}"/>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ADE6BDD4-7A9B-293C-D761-35BEE8CD12B9}"/>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53655644-362C-1912-4A97-21DFF2C41E6F}"/>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8CE46481-6B91-6B25-65CA-6B3C1691E3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EC5E1072-25ED-E32E-5BBC-9BC748EE8D95}"/>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03A898E4-30D6-76AB-47EE-56F953B2045A}"/>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06A33F45-9FE9-1ED9-29EC-D255A1EB5B01}"/>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4ABC13B0-DDD6-4201-B855-07C20A7113A2}"/>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F5A6E793-37B1-A917-92FC-C8AA52D734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54201445-183F-6E23-4480-1EDB581D80E7}"/>
              </a:ext>
            </a:extLst>
          </p:cNvPr>
          <p:cNvSpPr txBox="1"/>
          <p:nvPr/>
        </p:nvSpPr>
        <p:spPr>
          <a:xfrm>
            <a:off x="7752864" y="1539202"/>
            <a:ext cx="219902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D90E7BF9-06E3-12BE-A02B-A4EAF63518B8}"/>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DC705907-578B-AE27-83AA-FA40C203BB4F}"/>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B54C57C2-59FF-BD6B-FE16-EE3D7FC79BAA}"/>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400BE5DC-84C2-7ADA-C0DE-C34E2CBB76E7}"/>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DEADE3A6-1804-DE21-C790-2AA7ED3AFFA5}"/>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A90F6B2F-F595-3B49-C4E5-AE3B16E7D26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E0E2E9DA-8420-9CD2-4CD9-058DBD6BECF4}"/>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E0E2E9DA-8420-9CD2-4CD9-058DBD6BECF4}"/>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B3A0992E-9DBC-A704-3E0A-F94397C51EDD}"/>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B3932AD9-52EC-346F-D48C-E2237D4AA1C2}"/>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8056CC22-6AD1-6DE2-7A62-991B944AC262}"/>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A08F9103-1D13-4A45-7073-B384C8EDAF65}"/>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6A4C338C-0D50-DA92-0E84-98DC58D6716D}"/>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B12C64B7-828F-8FB2-0ED4-87FDE3D869E9}"/>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DAB5861F-EACE-17E5-D60F-8AC6F357C9C8}"/>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48D5AFB3-0BEE-C639-88AE-BFC4948620D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A4DDD165-BBDA-9585-4AEB-5B2C961CF2B9}"/>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E898F87C-B064-BDD8-8A84-1A9583BC6699}"/>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9DBC774C-AEAD-BA22-10D3-41675224DF25}"/>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21F44BC3-6050-9AEE-7F30-F421318046BF}"/>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2F503FF6-6D56-0E71-72B8-C9E6A0F6F0FE}"/>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0D7AF4FA-DC20-7A1A-DA14-D30D73F06300}"/>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84FE25CD-9F1D-91BD-89FD-4A8709D44975}"/>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551C391B-BD1C-B0E4-911F-727547FBD2F4}"/>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42BA8D19-9FEF-E66C-0AA5-1B0F8D8E90A3}"/>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F6935713-1505-B5F6-3269-76A464EB26C5}"/>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8C2FA357-AD94-B112-3F50-4D8519FBCF30}"/>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435AEE8C-2BB2-71F0-BC55-0EEAF0CDE61B}"/>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A2B46BE5-CF5A-C93F-3B9F-DEF97CAD9589}"/>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1204482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4F9E-8D47-9519-6F2E-286C021BE4F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42691E3-A1F4-D53A-99D5-E37222CE85EE}"/>
              </a:ext>
            </a:extLst>
          </p:cNvPr>
          <p:cNvSpPr>
            <a:spLocks noGrp="1"/>
          </p:cNvSpPr>
          <p:nvPr>
            <p:ph type="body" sz="quarter" idx="11"/>
          </p:nvPr>
        </p:nvSpPr>
        <p:spPr/>
        <p:txBody>
          <a:bodyPr>
            <a:normAutofit fontScale="92500" lnSpcReduction="10000"/>
          </a:bodyPr>
          <a:lstStyle/>
          <a:p>
            <a:r>
              <a:rPr lang="en-US" altLang="ja-JP" b="1" dirty="0"/>
              <a:t>LLM</a:t>
            </a:r>
            <a:r>
              <a:rPr lang="ja-JP" altLang="en-US" b="1" dirty="0"/>
              <a:t>プロンプトの改善</a:t>
            </a:r>
            <a:endParaRPr kumimoji="1" lang="ja-JP" altLang="en-US" b="1" dirty="0"/>
          </a:p>
        </p:txBody>
      </p:sp>
      <p:cxnSp>
        <p:nvCxnSpPr>
          <p:cNvPr id="5" name="直線コネクタ 4">
            <a:extLst>
              <a:ext uri="{FF2B5EF4-FFF2-40B4-BE49-F238E27FC236}">
                <a16:creationId xmlns:a16="http://schemas.microsoft.com/office/drawing/2014/main" id="{8D3FECFB-CBB0-9056-B75A-159653CAB008}"/>
              </a:ext>
            </a:extLst>
          </p:cNvPr>
          <p:cNvCxnSpPr/>
          <p:nvPr/>
        </p:nvCxnSpPr>
        <p:spPr>
          <a:xfrm>
            <a:off x="5862188" y="56896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306414CB-D830-D5B7-C41A-FEB7CA3E94E2}"/>
              </a:ext>
            </a:extLst>
          </p:cNvPr>
          <p:cNvCxnSpPr>
            <a:cxnSpLocks/>
          </p:cNvCxnSpPr>
          <p:nvPr/>
        </p:nvCxnSpPr>
        <p:spPr>
          <a:xfrm>
            <a:off x="653" y="3713480"/>
            <a:ext cx="12090400" cy="0"/>
          </a:xfrm>
          <a:prstGeom prst="line">
            <a:avLst/>
          </a:prstGeom>
          <a:ln w="38100">
            <a:solidFill>
              <a:schemeClr val="accent4">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AEC01294-384C-8AF8-03DD-794F11CFAC2A}"/>
              </a:ext>
            </a:extLst>
          </p:cNvPr>
          <p:cNvSpPr txBox="1"/>
          <p:nvPr/>
        </p:nvSpPr>
        <p:spPr>
          <a:xfrm>
            <a:off x="0" y="603419"/>
            <a:ext cx="296671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STEP1 : </a:t>
            </a:r>
            <a:r>
              <a:rPr lang="ja-JP" altLang="en-US" sz="1600" b="1" dirty="0">
                <a:solidFill>
                  <a:schemeClr val="bg1"/>
                </a:solidFill>
              </a:rPr>
              <a:t>最も簡易的なプロンプト</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1070E573-D22D-C0F9-4F3F-02B6BD881EA4}"/>
              </a:ext>
            </a:extLst>
          </p:cNvPr>
          <p:cNvSpPr txBox="1"/>
          <p:nvPr/>
        </p:nvSpPr>
        <p:spPr>
          <a:xfrm>
            <a:off x="-35299" y="3707299"/>
            <a:ext cx="470054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STEP2: </a:t>
            </a:r>
            <a:r>
              <a:rPr lang="ja-JP" altLang="en-US" sz="1600" b="1" dirty="0">
                <a:solidFill>
                  <a:schemeClr val="bg1"/>
                </a:solidFill>
              </a:rPr>
              <a:t>厳密なプロンプト</a:t>
            </a:r>
            <a:r>
              <a:rPr lang="en-US" altLang="ja-JP" sz="1600" b="1" dirty="0">
                <a:solidFill>
                  <a:schemeClr val="bg1"/>
                </a:solidFill>
              </a:rPr>
              <a:t>(</a:t>
            </a:r>
            <a:r>
              <a:rPr lang="ja-JP" altLang="en-US" sz="1600" b="1" dirty="0">
                <a:solidFill>
                  <a:schemeClr val="bg1"/>
                </a:solidFill>
              </a:rPr>
              <a:t>代表的な語彙 </a:t>
            </a:r>
            <a:r>
              <a:rPr lang="en-US" altLang="ja-JP" sz="1600" b="1" dirty="0">
                <a:solidFill>
                  <a:schemeClr val="bg1"/>
                </a:solidFill>
              </a:rPr>
              <a:t>+ </a:t>
            </a:r>
            <a:r>
              <a:rPr lang="ja-JP" altLang="en-US" sz="1600" b="1" dirty="0">
                <a:solidFill>
                  <a:schemeClr val="bg1"/>
                </a:solidFill>
              </a:rPr>
              <a:t>対象外</a:t>
            </a:r>
            <a:r>
              <a:rPr lang="en-US" altLang="ja-JP" sz="1600" b="1" dirty="0">
                <a:solidFill>
                  <a:schemeClr val="bg1"/>
                </a:solidFill>
              </a:rPr>
              <a:t>)</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A07E558D-AC41-12C8-C41E-E2C22A1C11F4}"/>
              </a:ext>
            </a:extLst>
          </p:cNvPr>
          <p:cNvSpPr txBox="1"/>
          <p:nvPr/>
        </p:nvSpPr>
        <p:spPr>
          <a:xfrm>
            <a:off x="5886683" y="603419"/>
            <a:ext cx="367319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STEP3: </a:t>
            </a:r>
            <a:r>
              <a:rPr lang="ja-JP" altLang="en-US" sz="1600" b="1" dirty="0">
                <a:solidFill>
                  <a:schemeClr val="bg1"/>
                </a:solidFill>
              </a:rPr>
              <a:t>学習過程に合わせたプロンプト</a:t>
            </a:r>
            <a:endParaRPr kumimoji="1" lang="ja-JP" altLang="en-US" sz="1600" b="1" dirty="0">
              <a:solidFill>
                <a:schemeClr val="bg1"/>
              </a:solidFill>
            </a:endParaRPr>
          </a:p>
        </p:txBody>
      </p:sp>
      <p:grpSp>
        <p:nvGrpSpPr>
          <p:cNvPr id="25" name="グループ化 24">
            <a:extLst>
              <a:ext uri="{FF2B5EF4-FFF2-40B4-BE49-F238E27FC236}">
                <a16:creationId xmlns:a16="http://schemas.microsoft.com/office/drawing/2014/main" id="{7E3022D7-91BF-E010-4C58-0C66A429C914}"/>
              </a:ext>
            </a:extLst>
          </p:cNvPr>
          <p:cNvGrpSpPr/>
          <p:nvPr/>
        </p:nvGrpSpPr>
        <p:grpSpPr>
          <a:xfrm>
            <a:off x="550288" y="1603202"/>
            <a:ext cx="2674377" cy="1195973"/>
            <a:chOff x="1355388" y="2012293"/>
            <a:chExt cx="8861897" cy="3865461"/>
          </a:xfrm>
          <a:solidFill>
            <a:schemeClr val="bg1"/>
          </a:solidFill>
        </p:grpSpPr>
        <p:sp>
          <p:nvSpPr>
            <p:cNvPr id="26" name="正方形/長方形 25">
              <a:extLst>
                <a:ext uri="{FF2B5EF4-FFF2-40B4-BE49-F238E27FC236}">
                  <a16:creationId xmlns:a16="http://schemas.microsoft.com/office/drawing/2014/main" id="{BC53337D-5F8F-9F4C-BF96-12A72252EEEB}"/>
                </a:ext>
              </a:extLst>
            </p:cNvPr>
            <p:cNvSpPr/>
            <p:nvPr/>
          </p:nvSpPr>
          <p:spPr>
            <a:xfrm>
              <a:off x="1355388" y="2012293"/>
              <a:ext cx="8861897" cy="386546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D56C5436-FC15-E1DD-D423-9F3A8A5FC26C}"/>
                </a:ext>
              </a:extLst>
            </p:cNvPr>
            <p:cNvSpPr txBox="1"/>
            <p:nvPr/>
          </p:nvSpPr>
          <p:spPr>
            <a:xfrm>
              <a:off x="1451788" y="2080619"/>
              <a:ext cx="8669090" cy="3780063"/>
            </a:xfrm>
            <a:prstGeom prst="rect">
              <a:avLst/>
            </a:prstGeom>
            <a:grpFill/>
          </p:spPr>
          <p:txBody>
            <a:bodyPr wrap="square" rtlCol="0">
              <a:spAutoFit/>
            </a:bodyPr>
            <a:lstStyle/>
            <a:p>
              <a:r>
                <a:rPr lang="ja-JP" altLang="en-US" sz="1400" dirty="0"/>
                <a:t>アスペクト名</a:t>
              </a:r>
              <a:r>
                <a:rPr lang="en-US" altLang="ja-JP" sz="1400" dirty="0"/>
                <a:t>: </a:t>
              </a:r>
              <a:r>
                <a:rPr lang="ja-JP" altLang="en-US" sz="1400" dirty="0"/>
                <a:t>食事</a:t>
              </a:r>
              <a:r>
                <a:rPr lang="en-US" altLang="ja-JP" sz="1400" dirty="0"/>
                <a:t>, </a:t>
              </a:r>
              <a:r>
                <a:rPr lang="ja-JP" altLang="en-US" sz="1400" dirty="0"/>
                <a:t>立地</a:t>
              </a:r>
              <a:r>
                <a:rPr lang="en-US" altLang="ja-JP" sz="1400" dirty="0"/>
                <a:t>, </a:t>
              </a:r>
              <a:r>
                <a:rPr lang="ja-JP" altLang="en-US" sz="1400" dirty="0"/>
                <a:t>スタッフ</a:t>
              </a:r>
              <a:r>
                <a:rPr lang="en-US" altLang="ja-JP" sz="1400" dirty="0"/>
                <a:t>, </a:t>
              </a:r>
              <a:r>
                <a:rPr lang="ja-JP" altLang="en-US" sz="1400" dirty="0"/>
                <a:t>清掃</a:t>
              </a:r>
              <a:r>
                <a:rPr lang="en-US" altLang="ja-JP" sz="1400" dirty="0"/>
                <a:t>, </a:t>
              </a:r>
              <a:r>
                <a:rPr lang="ja-JP" altLang="en-US" sz="1400" dirty="0"/>
                <a:t>価格</a:t>
              </a:r>
              <a:r>
                <a:rPr lang="en-US" altLang="ja-JP" sz="1400" dirty="0"/>
                <a:t>, </a:t>
              </a:r>
              <a:r>
                <a:rPr lang="ja-JP" altLang="en-US" sz="1400" dirty="0"/>
                <a:t>部屋</a:t>
              </a:r>
              <a:r>
                <a:rPr lang="en-US" altLang="ja-JP" sz="1400" dirty="0"/>
                <a:t>, </a:t>
              </a:r>
              <a:r>
                <a:rPr lang="ja-JP" altLang="en-US" sz="1400" dirty="0"/>
                <a:t>雰囲気</a:t>
              </a:r>
              <a:r>
                <a:rPr lang="en-US" altLang="ja-JP" sz="1400" dirty="0"/>
                <a:t>, </a:t>
              </a:r>
              <a:r>
                <a:rPr lang="ja-JP" altLang="en-US" sz="1400" dirty="0"/>
                <a:t>施設・設備</a:t>
              </a:r>
              <a:r>
                <a:rPr lang="en-US" altLang="ja-JP" sz="1400" dirty="0"/>
                <a:t>, </a:t>
              </a:r>
              <a:r>
                <a:rPr lang="ja-JP" altLang="en-US" sz="1400" dirty="0"/>
                <a:t>予約・手続き</a:t>
              </a:r>
              <a:r>
                <a:rPr lang="en-US" altLang="ja-JP" sz="1400" dirty="0"/>
                <a:t>, </a:t>
              </a:r>
              <a:r>
                <a:rPr lang="ja-JP" altLang="en-US" sz="1400" dirty="0"/>
                <a:t>再訪意向</a:t>
              </a:r>
              <a:endParaRPr lang="en-US" altLang="ja-JP" sz="1400" dirty="0"/>
            </a:p>
            <a:p>
              <a:endParaRPr lang="en-US" altLang="ja-JP" sz="1400" dirty="0"/>
            </a:p>
            <a:p>
              <a:r>
                <a:rPr lang="ja-JP" altLang="en-US" sz="1400" dirty="0"/>
                <a:t>に口コミ文を分解してください</a:t>
              </a:r>
              <a:r>
                <a:rPr lang="en-US" altLang="ja-JP" sz="1400" dirty="0"/>
                <a:t>.</a:t>
              </a:r>
              <a:endParaRPr lang="ja-JP" altLang="en-US" sz="1400" dirty="0"/>
            </a:p>
          </p:txBody>
        </p:sp>
      </p:grpSp>
      <p:sp>
        <p:nvSpPr>
          <p:cNvPr id="28" name="コンテンツ プレースホルダー 1">
            <a:extLst>
              <a:ext uri="{FF2B5EF4-FFF2-40B4-BE49-F238E27FC236}">
                <a16:creationId xmlns:a16="http://schemas.microsoft.com/office/drawing/2014/main" id="{72CD014F-AF6C-E191-66C3-629A2034F914}"/>
              </a:ext>
            </a:extLst>
          </p:cNvPr>
          <p:cNvSpPr>
            <a:spLocks noGrp="1"/>
          </p:cNvSpPr>
          <p:nvPr>
            <p:ph idx="1"/>
          </p:nvPr>
        </p:nvSpPr>
        <p:spPr>
          <a:xfrm>
            <a:off x="514621" y="1172902"/>
            <a:ext cx="1698868" cy="479232"/>
          </a:xfrm>
        </p:spPr>
        <p:txBody>
          <a:bodyPr>
            <a:normAutofit fontScale="92500"/>
          </a:bodyPr>
          <a:lstStyle/>
          <a:p>
            <a:r>
              <a:rPr lang="ja-JP" altLang="en-US" sz="1600" dirty="0"/>
              <a:t>精度　</a:t>
            </a:r>
            <a:r>
              <a:rPr lang="en-US" altLang="ja-JP" sz="1600" dirty="0"/>
              <a:t>0.813</a:t>
            </a:r>
            <a:endParaRPr lang="ja-JP" altLang="en-US" sz="1600" dirty="0"/>
          </a:p>
        </p:txBody>
      </p:sp>
      <p:sp>
        <p:nvSpPr>
          <p:cNvPr id="29" name="テキスト ボックス 28">
            <a:extLst>
              <a:ext uri="{FF2B5EF4-FFF2-40B4-BE49-F238E27FC236}">
                <a16:creationId xmlns:a16="http://schemas.microsoft.com/office/drawing/2014/main" id="{3E16129A-D698-740D-C416-35C454E133CC}"/>
              </a:ext>
            </a:extLst>
          </p:cNvPr>
          <p:cNvSpPr txBox="1"/>
          <p:nvPr/>
        </p:nvSpPr>
        <p:spPr>
          <a:xfrm>
            <a:off x="32628" y="2955951"/>
            <a:ext cx="8669091" cy="584775"/>
          </a:xfrm>
          <a:prstGeom prst="rect">
            <a:avLst/>
          </a:prstGeom>
          <a:noFill/>
        </p:spPr>
        <p:txBody>
          <a:bodyPr wrap="square" rtlCol="0">
            <a:spAutoFit/>
          </a:bodyPr>
          <a:lstStyle/>
          <a:p>
            <a:r>
              <a:rPr lang="ja-JP" altLang="en-US" sz="1600" dirty="0"/>
              <a:t>結果：境界が曖昧で、</a:t>
            </a:r>
            <a:r>
              <a:rPr lang="ja-JP" altLang="en-US" sz="1600" b="1" u="sng" dirty="0">
                <a:solidFill>
                  <a:schemeClr val="accent2">
                    <a:lumMod val="75000"/>
                  </a:schemeClr>
                </a:solidFill>
              </a:rPr>
              <a:t>誤判定が多発</a:t>
            </a:r>
            <a:br>
              <a:rPr lang="en-US" altLang="ja-JP" sz="1600" dirty="0"/>
            </a:br>
            <a:r>
              <a:rPr lang="ja-JP" altLang="en-US" sz="1600" dirty="0"/>
              <a:t>例：「外食できる店がたくさんある」→立地ではなく食事に分類</a:t>
            </a:r>
            <a:endParaRPr lang="ja-JP" altLang="en-US" sz="1600" dirty="0">
              <a:latin typeface="+mn-ea"/>
            </a:endParaRPr>
          </a:p>
        </p:txBody>
      </p:sp>
      <p:grpSp>
        <p:nvGrpSpPr>
          <p:cNvPr id="30" name="グループ化 29">
            <a:extLst>
              <a:ext uri="{FF2B5EF4-FFF2-40B4-BE49-F238E27FC236}">
                <a16:creationId xmlns:a16="http://schemas.microsoft.com/office/drawing/2014/main" id="{DD7CCF9E-4CE4-50EA-B773-8EA2301EE44E}"/>
              </a:ext>
            </a:extLst>
          </p:cNvPr>
          <p:cNvGrpSpPr/>
          <p:nvPr/>
        </p:nvGrpSpPr>
        <p:grpSpPr>
          <a:xfrm>
            <a:off x="134623" y="4762133"/>
            <a:ext cx="4955537" cy="1241191"/>
            <a:chOff x="1355389" y="2012293"/>
            <a:chExt cx="4955537" cy="1424897"/>
          </a:xfrm>
        </p:grpSpPr>
        <p:sp>
          <p:nvSpPr>
            <p:cNvPr id="31" name="正方形/長方形 30">
              <a:extLst>
                <a:ext uri="{FF2B5EF4-FFF2-40B4-BE49-F238E27FC236}">
                  <a16:creationId xmlns:a16="http://schemas.microsoft.com/office/drawing/2014/main" id="{D8D8124E-5286-C300-5A3D-4A204C695389}"/>
                </a:ext>
              </a:extLst>
            </p:cNvPr>
            <p:cNvSpPr/>
            <p:nvPr/>
          </p:nvSpPr>
          <p:spPr>
            <a:xfrm>
              <a:off x="1355389" y="2012293"/>
              <a:ext cx="4955537" cy="1424897"/>
            </a:xfrm>
            <a:prstGeom prst="rect">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74A4D68F-561E-43D5-1364-319B68046EF8}"/>
                </a:ext>
              </a:extLst>
            </p:cNvPr>
            <p:cNvSpPr txBox="1"/>
            <p:nvPr/>
          </p:nvSpPr>
          <p:spPr>
            <a:xfrm>
              <a:off x="1390351" y="2012293"/>
              <a:ext cx="4920575" cy="1342654"/>
            </a:xfrm>
            <a:prstGeom prst="rect">
              <a:avLst/>
            </a:prstGeom>
            <a:noFill/>
          </p:spPr>
          <p:txBody>
            <a:bodyPr wrap="square" rtlCol="0">
              <a:spAutoFit/>
            </a:bodyPr>
            <a:lstStyle/>
            <a:p>
              <a:r>
                <a:rPr lang="ja-JP" altLang="en-US" sz="1400" dirty="0"/>
                <a:t>アスペクト定義</a:t>
              </a:r>
              <a:r>
                <a:rPr lang="en-US" altLang="ja-JP" sz="1400" dirty="0"/>
                <a:t>:</a:t>
              </a:r>
              <a:endParaRPr lang="ja-JP" altLang="en-US" sz="1400" dirty="0"/>
            </a:p>
            <a:p>
              <a:pPr marL="285750" indent="-285750">
                <a:buFontTx/>
                <a:buChar char="-"/>
              </a:pPr>
              <a:r>
                <a:rPr lang="ja-JP" altLang="en-US" sz="1400" dirty="0"/>
                <a:t>食事</a:t>
              </a:r>
              <a:r>
                <a:rPr lang="en-US" altLang="ja-JP" sz="1400" dirty="0"/>
                <a:t>: </a:t>
              </a:r>
              <a:r>
                <a:rPr lang="ja-JP" altLang="en-US" sz="1400" dirty="0"/>
                <a:t>朝食・夕食など</a:t>
              </a:r>
              <a:endParaRPr lang="en-US" altLang="ja-JP" sz="1400" dirty="0"/>
            </a:p>
            <a:p>
              <a:r>
                <a:rPr lang="ja-JP" altLang="en-US" sz="1400" dirty="0"/>
                <a:t>  </a:t>
              </a:r>
              <a:r>
                <a:rPr lang="en-US" altLang="ja-JP" sz="1400" dirty="0"/>
                <a:t>※</a:t>
              </a:r>
              <a:r>
                <a:rPr lang="ja-JP" altLang="en-US" sz="1400" dirty="0"/>
                <a:t>「外部レストラン」や「周辺グルメ」は対象外。</a:t>
              </a:r>
            </a:p>
            <a:p>
              <a:r>
                <a:rPr lang="en-US" altLang="ja-JP" sz="1400" dirty="0"/>
                <a:t>- </a:t>
              </a:r>
              <a:r>
                <a:rPr lang="ja-JP" altLang="en-US" sz="1400" dirty="0"/>
                <a:t>清掃</a:t>
              </a:r>
              <a:r>
                <a:rPr lang="en-US" altLang="ja-JP" sz="1400" dirty="0"/>
                <a:t>: </a:t>
              </a:r>
              <a:r>
                <a:rPr lang="ja-JP" altLang="en-US" sz="1400" dirty="0"/>
                <a:t>清潔さ・衛生状態など。</a:t>
              </a:r>
            </a:p>
            <a:p>
              <a:r>
                <a:rPr lang="ja-JP" altLang="en-US" sz="1400" dirty="0"/>
                <a:t>  </a:t>
              </a:r>
              <a:r>
                <a:rPr lang="en-US" altLang="ja-JP" sz="1400" dirty="0"/>
                <a:t>※</a:t>
              </a:r>
              <a:r>
                <a:rPr lang="ja-JP" altLang="en-US" sz="1400" dirty="0"/>
                <a:t>「老朽化」や「古さ」は清掃ではなく部屋または施設・設備へ。</a:t>
              </a:r>
              <a:r>
                <a:rPr lang="en-US" altLang="ja-JP" sz="1400" dirty="0"/>
                <a:t>…</a:t>
              </a:r>
              <a:endParaRPr lang="en-US" altLang="ja-JP" sz="1400" b="1" dirty="0">
                <a:latin typeface="+mn-ea"/>
              </a:endParaRPr>
            </a:p>
          </p:txBody>
        </p:sp>
      </p:grpSp>
      <p:sp>
        <p:nvSpPr>
          <p:cNvPr id="36" name="コンテンツ プレースホルダー 1">
            <a:extLst>
              <a:ext uri="{FF2B5EF4-FFF2-40B4-BE49-F238E27FC236}">
                <a16:creationId xmlns:a16="http://schemas.microsoft.com/office/drawing/2014/main" id="{3E9ED5B1-2B78-5E86-79F5-874B2056DD60}"/>
              </a:ext>
            </a:extLst>
          </p:cNvPr>
          <p:cNvSpPr txBox="1">
            <a:spLocks/>
          </p:cNvSpPr>
          <p:nvPr/>
        </p:nvSpPr>
        <p:spPr>
          <a:xfrm>
            <a:off x="610556" y="4305394"/>
            <a:ext cx="1698868" cy="479232"/>
          </a:xfrm>
          <a:prstGeom prst="rect">
            <a:avLst/>
          </a:prstGeom>
        </p:spPr>
        <p:txBody>
          <a:bodyPr vert="horz" lIns="91440" tIns="45720" rIns="91440" bIns="45720" rtlCol="0">
            <a:normAutofit fontScale="92500"/>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精度　</a:t>
            </a:r>
            <a:r>
              <a:rPr lang="en-US" altLang="ja-JP" sz="1600" dirty="0"/>
              <a:t>0.687</a:t>
            </a:r>
            <a:endParaRPr lang="ja-JP" altLang="en-US" sz="1600" dirty="0"/>
          </a:p>
        </p:txBody>
      </p:sp>
      <p:sp>
        <p:nvSpPr>
          <p:cNvPr id="37" name="テキスト ボックス 36">
            <a:extLst>
              <a:ext uri="{FF2B5EF4-FFF2-40B4-BE49-F238E27FC236}">
                <a16:creationId xmlns:a16="http://schemas.microsoft.com/office/drawing/2014/main" id="{72BE761B-B35A-9379-64FE-882F018CC2A1}"/>
              </a:ext>
            </a:extLst>
          </p:cNvPr>
          <p:cNvSpPr txBox="1"/>
          <p:nvPr/>
        </p:nvSpPr>
        <p:spPr>
          <a:xfrm>
            <a:off x="32629" y="6127929"/>
            <a:ext cx="4067288" cy="584775"/>
          </a:xfrm>
          <a:prstGeom prst="rect">
            <a:avLst/>
          </a:prstGeom>
          <a:noFill/>
        </p:spPr>
        <p:txBody>
          <a:bodyPr wrap="square">
            <a:spAutoFit/>
          </a:bodyPr>
          <a:lstStyle/>
          <a:p>
            <a:pPr lvl="0"/>
            <a:r>
              <a:rPr kumimoji="1" lang="ja-JP" altLang="en-US" sz="1600" dirty="0">
                <a:latin typeface="+mn-ea"/>
                <a:ea typeface="+mn-ea"/>
              </a:rPr>
              <a:t>結果：制約が細かすぎて</a:t>
            </a:r>
            <a:r>
              <a:rPr kumimoji="1" lang="en-US" altLang="ja-JP" sz="1600" dirty="0">
                <a:latin typeface="+mn-ea"/>
                <a:ea typeface="+mn-ea"/>
              </a:rPr>
              <a:t>LLM</a:t>
            </a:r>
            <a:r>
              <a:rPr kumimoji="1" lang="ja-JP" altLang="en-US" sz="1600" dirty="0">
                <a:latin typeface="+mn-ea"/>
                <a:ea typeface="+mn-ea"/>
              </a:rPr>
              <a:t>が慎重になり、</a:t>
            </a:r>
            <a:endParaRPr kumimoji="1" lang="en-US" altLang="ja-JP" sz="1600" dirty="0">
              <a:latin typeface="+mn-ea"/>
              <a:ea typeface="+mn-ea"/>
            </a:endParaRPr>
          </a:p>
          <a:p>
            <a:pPr lvl="0"/>
            <a:r>
              <a:rPr lang="en-US" altLang="ja-JP" sz="1600" b="1" dirty="0">
                <a:solidFill>
                  <a:schemeClr val="accent2">
                    <a:lumMod val="75000"/>
                  </a:schemeClr>
                </a:solidFill>
                <a:latin typeface="+mn-ea"/>
              </a:rPr>
              <a:t>           </a:t>
            </a:r>
            <a:r>
              <a:rPr lang="ja-JP" altLang="en-US" sz="1600" b="1" u="sng" dirty="0">
                <a:solidFill>
                  <a:schemeClr val="accent2">
                    <a:lumMod val="75000"/>
                  </a:schemeClr>
                </a:solidFill>
              </a:rPr>
              <a:t>抽出漏れが増えた（未言及）</a:t>
            </a:r>
            <a:endParaRPr kumimoji="1" lang="ja-JP" altLang="en-US" sz="1600" u="sng" dirty="0">
              <a:solidFill>
                <a:schemeClr val="accent2">
                  <a:lumMod val="75000"/>
                </a:schemeClr>
              </a:solidFill>
              <a:latin typeface="+mn-ea"/>
              <a:ea typeface="+mn-ea"/>
            </a:endParaRPr>
          </a:p>
        </p:txBody>
      </p:sp>
      <p:grpSp>
        <p:nvGrpSpPr>
          <p:cNvPr id="38" name="グループ化 37">
            <a:extLst>
              <a:ext uri="{FF2B5EF4-FFF2-40B4-BE49-F238E27FC236}">
                <a16:creationId xmlns:a16="http://schemas.microsoft.com/office/drawing/2014/main" id="{610E2614-3DA7-1180-386A-672B6354632F}"/>
              </a:ext>
            </a:extLst>
          </p:cNvPr>
          <p:cNvGrpSpPr/>
          <p:nvPr/>
        </p:nvGrpSpPr>
        <p:grpSpPr>
          <a:xfrm>
            <a:off x="6128058" y="1661953"/>
            <a:ext cx="3893931" cy="1144531"/>
            <a:chOff x="2753495" y="2300346"/>
            <a:chExt cx="3893931" cy="1313931"/>
          </a:xfrm>
        </p:grpSpPr>
        <p:sp>
          <p:nvSpPr>
            <p:cNvPr id="39" name="正方形/長方形 38">
              <a:extLst>
                <a:ext uri="{FF2B5EF4-FFF2-40B4-BE49-F238E27FC236}">
                  <a16:creationId xmlns:a16="http://schemas.microsoft.com/office/drawing/2014/main" id="{7FD32E0E-57F3-1994-D2DD-24800A91E5EC}"/>
                </a:ext>
              </a:extLst>
            </p:cNvPr>
            <p:cNvSpPr/>
            <p:nvPr/>
          </p:nvSpPr>
          <p:spPr>
            <a:xfrm>
              <a:off x="2753495" y="2300346"/>
              <a:ext cx="3893931" cy="1313931"/>
            </a:xfrm>
            <a:prstGeom prst="rect">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EFC49B70-FEFC-5551-B84C-EE457378ADBF}"/>
                </a:ext>
              </a:extLst>
            </p:cNvPr>
            <p:cNvSpPr txBox="1"/>
            <p:nvPr/>
          </p:nvSpPr>
          <p:spPr>
            <a:xfrm>
              <a:off x="2753495" y="2338985"/>
              <a:ext cx="3893931" cy="1236655"/>
            </a:xfrm>
            <a:prstGeom prst="rect">
              <a:avLst/>
            </a:prstGeom>
            <a:noFill/>
          </p:spPr>
          <p:txBody>
            <a:bodyPr wrap="square" rtlCol="0">
              <a:spAutoFit/>
            </a:bodyPr>
            <a:lstStyle/>
            <a:p>
              <a:r>
                <a:rPr lang="ja-JP" altLang="en-US" sz="1600" dirty="0">
                  <a:latin typeface="+mn-ea"/>
                </a:rPr>
                <a:t>アスペクト定義（境界の注意）：</a:t>
              </a:r>
            </a:p>
            <a:p>
              <a:endParaRPr lang="ja-JP" altLang="en-US" sz="1600" dirty="0">
                <a:latin typeface="+mn-ea"/>
              </a:endParaRPr>
            </a:p>
            <a:p>
              <a:r>
                <a:rPr lang="en-US" altLang="ja-JP" sz="1600" dirty="0">
                  <a:latin typeface="+mn-ea"/>
                </a:rPr>
                <a:t>- </a:t>
              </a:r>
              <a:r>
                <a:rPr lang="ja-JP" altLang="en-US" sz="1600" dirty="0">
                  <a:latin typeface="+mn-ea"/>
                </a:rPr>
                <a:t>食事：朝食</a:t>
              </a:r>
              <a:r>
                <a:rPr lang="en-US" altLang="ja-JP" sz="1600" dirty="0">
                  <a:latin typeface="+mn-ea"/>
                </a:rPr>
                <a:t>/</a:t>
              </a:r>
              <a:r>
                <a:rPr lang="ja-JP" altLang="en-US" sz="1600" dirty="0">
                  <a:latin typeface="+mn-ea"/>
                </a:rPr>
                <a:t>夕食など（ホテルの食事）</a:t>
              </a:r>
            </a:p>
            <a:p>
              <a:r>
                <a:rPr lang="en-US" altLang="ja-JP" sz="1600" dirty="0">
                  <a:latin typeface="+mn-ea"/>
                </a:rPr>
                <a:t>- </a:t>
              </a:r>
              <a:r>
                <a:rPr lang="ja-JP" altLang="en-US" sz="1600" dirty="0">
                  <a:latin typeface="+mn-ea"/>
                </a:rPr>
                <a:t>清掃：清潔さ</a:t>
              </a:r>
              <a:r>
                <a:rPr lang="en-US" altLang="ja-JP" sz="1600" dirty="0">
                  <a:latin typeface="+mn-ea"/>
                </a:rPr>
                <a:t>/</a:t>
              </a:r>
              <a:r>
                <a:rPr lang="ja-JP" altLang="en-US" sz="1600" dirty="0">
                  <a:latin typeface="+mn-ea"/>
                </a:rPr>
                <a:t>汚れなど（部屋のきれいさ）</a:t>
              </a:r>
            </a:p>
          </p:txBody>
        </p:sp>
      </p:grpSp>
      <p:sp>
        <p:nvSpPr>
          <p:cNvPr id="41" name="コンテンツ プレースホルダー 1">
            <a:extLst>
              <a:ext uri="{FF2B5EF4-FFF2-40B4-BE49-F238E27FC236}">
                <a16:creationId xmlns:a16="http://schemas.microsoft.com/office/drawing/2014/main" id="{9448042F-974C-593F-E035-5945758D6F7D}"/>
              </a:ext>
            </a:extLst>
          </p:cNvPr>
          <p:cNvSpPr txBox="1">
            <a:spLocks/>
          </p:cNvSpPr>
          <p:nvPr/>
        </p:nvSpPr>
        <p:spPr>
          <a:xfrm>
            <a:off x="6128058" y="1204056"/>
            <a:ext cx="1698868" cy="479232"/>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精度　</a:t>
            </a:r>
            <a:r>
              <a:rPr lang="en-US" altLang="ja-JP" sz="1600" dirty="0"/>
              <a:t>0.90</a:t>
            </a:r>
            <a:endParaRPr lang="ja-JP" altLang="en-US" sz="1600" dirty="0"/>
          </a:p>
        </p:txBody>
      </p:sp>
      <p:sp>
        <p:nvSpPr>
          <p:cNvPr id="42" name="テキスト ボックス 41">
            <a:extLst>
              <a:ext uri="{FF2B5EF4-FFF2-40B4-BE49-F238E27FC236}">
                <a16:creationId xmlns:a16="http://schemas.microsoft.com/office/drawing/2014/main" id="{863DAA20-F501-39ED-CF3D-3489A6148F82}"/>
              </a:ext>
            </a:extLst>
          </p:cNvPr>
          <p:cNvSpPr txBox="1"/>
          <p:nvPr/>
        </p:nvSpPr>
        <p:spPr>
          <a:xfrm>
            <a:off x="6009327" y="2975662"/>
            <a:ext cx="6245156" cy="338554"/>
          </a:xfrm>
          <a:prstGeom prst="rect">
            <a:avLst/>
          </a:prstGeom>
          <a:noFill/>
        </p:spPr>
        <p:txBody>
          <a:bodyPr wrap="square">
            <a:spAutoFit/>
          </a:bodyPr>
          <a:lstStyle/>
          <a:p>
            <a:pPr lvl="0"/>
            <a:r>
              <a:rPr kumimoji="1" lang="ja-JP" altLang="en-US" sz="1600" dirty="0">
                <a:latin typeface="+mn-ea"/>
                <a:ea typeface="+mn-ea"/>
              </a:rPr>
              <a:t>結果：抽出精度が</a:t>
            </a:r>
            <a:r>
              <a:rPr lang="ja-JP" altLang="en-US" sz="1600" dirty="0">
                <a:latin typeface="+mn-ea"/>
              </a:rPr>
              <a:t>大きく</a:t>
            </a:r>
            <a:r>
              <a:rPr kumimoji="1" lang="ja-JP" altLang="en-US" sz="1600" dirty="0">
                <a:latin typeface="+mn-ea"/>
                <a:ea typeface="+mn-ea"/>
              </a:rPr>
              <a:t>向上。</a:t>
            </a:r>
            <a:r>
              <a:rPr lang="ja-JP" altLang="en-US" sz="1600" b="1" u="sng" dirty="0">
                <a:solidFill>
                  <a:schemeClr val="accent2">
                    <a:lumMod val="75000"/>
                  </a:schemeClr>
                </a:solidFill>
                <a:latin typeface="+mn-ea"/>
              </a:rPr>
              <a:t>抽出漏れ</a:t>
            </a:r>
            <a:r>
              <a:rPr kumimoji="1" lang="ja-JP" altLang="en-US" sz="1600" b="1" u="sng" dirty="0">
                <a:solidFill>
                  <a:schemeClr val="accent2">
                    <a:lumMod val="75000"/>
                  </a:schemeClr>
                </a:solidFill>
                <a:latin typeface="+mn-ea"/>
                <a:ea typeface="+mn-ea"/>
              </a:rPr>
              <a:t>が減った</a:t>
            </a:r>
          </a:p>
        </p:txBody>
      </p:sp>
      <p:sp>
        <p:nvSpPr>
          <p:cNvPr id="43" name="コンテンツ プレースホルダー 1">
            <a:extLst>
              <a:ext uri="{FF2B5EF4-FFF2-40B4-BE49-F238E27FC236}">
                <a16:creationId xmlns:a16="http://schemas.microsoft.com/office/drawing/2014/main" id="{1D933137-1C85-25A2-1299-7C24814D77BD}"/>
              </a:ext>
            </a:extLst>
          </p:cNvPr>
          <p:cNvSpPr txBox="1">
            <a:spLocks/>
          </p:cNvSpPr>
          <p:nvPr/>
        </p:nvSpPr>
        <p:spPr>
          <a:xfrm>
            <a:off x="-1320" y="854676"/>
            <a:ext cx="4616259"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境界がなくとも、観点が過不足なく抽出できる？</a:t>
            </a:r>
            <a:endParaRPr lang="ja-JP" altLang="en-US" sz="1600" dirty="0"/>
          </a:p>
          <a:p>
            <a:pPr marL="0" indent="0">
              <a:buNone/>
            </a:pPr>
            <a:endParaRPr lang="en-US" altLang="ja-JP" sz="1600" dirty="0"/>
          </a:p>
        </p:txBody>
      </p:sp>
      <p:sp>
        <p:nvSpPr>
          <p:cNvPr id="45" name="コンテンツ プレースホルダー 1">
            <a:extLst>
              <a:ext uri="{FF2B5EF4-FFF2-40B4-BE49-F238E27FC236}">
                <a16:creationId xmlns:a16="http://schemas.microsoft.com/office/drawing/2014/main" id="{6F047BE4-04F7-EF54-464E-D5FBAAEF1BFC}"/>
              </a:ext>
            </a:extLst>
          </p:cNvPr>
          <p:cNvSpPr txBox="1">
            <a:spLocks/>
          </p:cNvSpPr>
          <p:nvPr/>
        </p:nvSpPr>
        <p:spPr>
          <a:xfrm>
            <a:off x="32628" y="3973641"/>
            <a:ext cx="5057532"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定義を細かくし、厳密にすれば精度が上がるのでは？</a:t>
            </a:r>
            <a:endParaRPr lang="ja-JP" altLang="en-US" sz="1600" dirty="0"/>
          </a:p>
          <a:p>
            <a:pPr marL="0" indent="0">
              <a:buNone/>
            </a:pPr>
            <a:endParaRPr lang="en-US" altLang="ja-JP" sz="1600" dirty="0"/>
          </a:p>
        </p:txBody>
      </p:sp>
      <p:sp>
        <p:nvSpPr>
          <p:cNvPr id="46" name="コンテンツ プレースホルダー 1">
            <a:extLst>
              <a:ext uri="{FF2B5EF4-FFF2-40B4-BE49-F238E27FC236}">
                <a16:creationId xmlns:a16="http://schemas.microsoft.com/office/drawing/2014/main" id="{2EF50493-D389-FDC2-62F0-A0F57E0E6BD7}"/>
              </a:ext>
            </a:extLst>
          </p:cNvPr>
          <p:cNvSpPr txBox="1">
            <a:spLocks/>
          </p:cNvSpPr>
          <p:nvPr/>
        </p:nvSpPr>
        <p:spPr>
          <a:xfrm>
            <a:off x="5911177" y="873240"/>
            <a:ext cx="6379832"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定義を</a:t>
            </a:r>
            <a:r>
              <a:rPr lang="en-US" altLang="ja-JP" sz="1600" dirty="0">
                <a:latin typeface="+mn-ea"/>
              </a:rPr>
              <a:t>LLM</a:t>
            </a:r>
            <a:r>
              <a:rPr lang="ja-JP" altLang="en-US" sz="1600" dirty="0">
                <a:latin typeface="+mn-ea"/>
              </a:rPr>
              <a:t>の学習過程に合わせて設定すれば精度が上がるのでは？</a:t>
            </a:r>
            <a:endParaRPr lang="en-US" altLang="ja-JP" sz="1600" dirty="0"/>
          </a:p>
        </p:txBody>
      </p:sp>
      <p:sp>
        <p:nvSpPr>
          <p:cNvPr id="47" name="テキスト ボックス 46">
            <a:extLst>
              <a:ext uri="{FF2B5EF4-FFF2-40B4-BE49-F238E27FC236}">
                <a16:creationId xmlns:a16="http://schemas.microsoft.com/office/drawing/2014/main" id="{C4D18EB4-C8D1-FAD9-3A8B-7A86864FD14B}"/>
              </a:ext>
            </a:extLst>
          </p:cNvPr>
          <p:cNvSpPr txBox="1"/>
          <p:nvPr/>
        </p:nvSpPr>
        <p:spPr>
          <a:xfrm>
            <a:off x="6029109" y="3816923"/>
            <a:ext cx="6126425" cy="2862322"/>
          </a:xfrm>
          <a:prstGeom prst="rect">
            <a:avLst/>
          </a:prstGeom>
          <a:noFill/>
        </p:spPr>
        <p:txBody>
          <a:bodyPr wrap="square" rtlCol="0">
            <a:spAutoFit/>
          </a:bodyPr>
          <a:lstStyle/>
          <a:p>
            <a:r>
              <a:rPr kumimoji="1" lang="ja-JP" altLang="en-US" b="1" dirty="0"/>
              <a:t>結果・考察</a:t>
            </a:r>
            <a:endParaRPr kumimoji="1" lang="en-US" altLang="ja-JP" b="1" dirty="0"/>
          </a:p>
          <a:p>
            <a:endParaRPr kumimoji="1" lang="en-US" altLang="ja-JP" dirty="0"/>
          </a:p>
          <a:p>
            <a:r>
              <a:rPr lang="ja-JP" altLang="en-US" dirty="0"/>
              <a:t>観点抽出の精度は</a:t>
            </a:r>
            <a:r>
              <a:rPr lang="ja-JP" altLang="en-US" b="1" dirty="0"/>
              <a:t>プロンプト設計に大きく依存</a:t>
            </a:r>
            <a:endParaRPr lang="ja-JP" altLang="en-US" dirty="0"/>
          </a:p>
          <a:p>
            <a:r>
              <a:rPr lang="ja-JP" altLang="en-US" dirty="0"/>
              <a:t>ルールの</a:t>
            </a:r>
            <a:r>
              <a:rPr lang="ja-JP" altLang="en-US" b="1" dirty="0"/>
              <a:t>過度な単純化 → 誤判定増加</a:t>
            </a:r>
            <a:endParaRPr lang="ja-JP" altLang="en-US" dirty="0"/>
          </a:p>
          <a:p>
            <a:r>
              <a:rPr lang="ja-JP" altLang="en-US" dirty="0"/>
              <a:t>ルールの</a:t>
            </a:r>
            <a:r>
              <a:rPr lang="ja-JP" altLang="en-US" b="1" dirty="0"/>
              <a:t>過度な厳密化 → 抽出漏れ増加</a:t>
            </a:r>
            <a:endParaRPr lang="ja-JP" altLang="en-US" dirty="0"/>
          </a:p>
          <a:p>
            <a:r>
              <a:rPr lang="en-US" altLang="ja-JP" b="1" dirty="0"/>
              <a:t>LLM</a:t>
            </a:r>
            <a:r>
              <a:rPr lang="ja-JP" altLang="en-US" b="1" dirty="0"/>
              <a:t>の学習過程に沿った定義提示</a:t>
            </a:r>
            <a:r>
              <a:rPr lang="ja-JP" altLang="en-US" dirty="0"/>
              <a:t>により精度向上</a:t>
            </a:r>
            <a:endParaRPr lang="en-US" altLang="ja-JP" dirty="0"/>
          </a:p>
          <a:p>
            <a:endParaRPr lang="ja-JP" altLang="en-US" dirty="0"/>
          </a:p>
          <a:p>
            <a:r>
              <a:rPr lang="ja-JP" altLang="en-US" dirty="0"/>
              <a:t>→ </a:t>
            </a:r>
            <a:r>
              <a:rPr lang="en-US" altLang="ja-JP" b="1" dirty="0"/>
              <a:t>LLM</a:t>
            </a:r>
            <a:r>
              <a:rPr lang="ja-JP" altLang="en-US" b="1" dirty="0"/>
              <a:t>特性を踏まえたプロンプト設計が重要</a:t>
            </a:r>
            <a:endParaRPr lang="en-US" altLang="ja-JP" b="1" dirty="0"/>
          </a:p>
          <a:p>
            <a:r>
              <a:rPr lang="ja-JP" altLang="en-US" b="1" dirty="0"/>
              <a:t>→ 複雑な解析な場合、マルチエージェント化が必須な可能性</a:t>
            </a:r>
            <a:endParaRPr kumimoji="1" lang="en-US" altLang="ja-JP" dirty="0"/>
          </a:p>
          <a:p>
            <a:endParaRPr kumimoji="1" lang="en-US" altLang="ja-JP" dirty="0"/>
          </a:p>
        </p:txBody>
      </p:sp>
    </p:spTree>
    <p:extLst>
      <p:ext uri="{BB962C8B-B14F-4D97-AF65-F5344CB8AC3E}">
        <p14:creationId xmlns:p14="http://schemas.microsoft.com/office/powerpoint/2010/main" val="1320908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473FBC0-1713-0991-BD91-73304B7D7F31}"/>
              </a:ext>
            </a:extLst>
          </p:cNvPr>
          <p:cNvSpPr>
            <a:spLocks noGrp="1"/>
          </p:cNvSpPr>
          <p:nvPr>
            <p:ph type="body" sz="quarter" idx="11"/>
          </p:nvPr>
        </p:nvSpPr>
        <p:spPr/>
        <p:txBody>
          <a:bodyPr>
            <a:normAutofit fontScale="92500" lnSpcReduction="10000"/>
          </a:bodyPr>
          <a:lstStyle/>
          <a:p>
            <a:r>
              <a:rPr kumimoji="1" lang="en-US" altLang="ja-JP" b="1" dirty="0"/>
              <a:t>LLM</a:t>
            </a:r>
            <a:r>
              <a:rPr kumimoji="1" lang="ja-JP" altLang="en-US" b="1" dirty="0"/>
              <a:t>モデル</a:t>
            </a:r>
          </a:p>
        </p:txBody>
      </p:sp>
      <p:graphicFrame>
        <p:nvGraphicFramePr>
          <p:cNvPr id="6" name="表 5">
            <a:extLst>
              <a:ext uri="{FF2B5EF4-FFF2-40B4-BE49-F238E27FC236}">
                <a16:creationId xmlns:a16="http://schemas.microsoft.com/office/drawing/2014/main" id="{358DF77E-A791-3C9A-8701-2589963E3950}"/>
              </a:ext>
            </a:extLst>
          </p:cNvPr>
          <p:cNvGraphicFramePr>
            <a:graphicFrameLocks noGrp="1"/>
          </p:cNvGraphicFramePr>
          <p:nvPr>
            <p:extLst>
              <p:ext uri="{D42A27DB-BD31-4B8C-83A1-F6EECF244321}">
                <p14:modId xmlns:p14="http://schemas.microsoft.com/office/powerpoint/2010/main" val="3801103244"/>
              </p:ext>
            </p:extLst>
          </p:nvPr>
        </p:nvGraphicFramePr>
        <p:xfrm>
          <a:off x="726141" y="1966124"/>
          <a:ext cx="10515600" cy="3840480"/>
        </p:xfrm>
        <a:graphic>
          <a:graphicData uri="http://schemas.openxmlformats.org/drawingml/2006/table">
            <a:tbl>
              <a:tblPr/>
              <a:tblGrid>
                <a:gridCol w="3505200">
                  <a:extLst>
                    <a:ext uri="{9D8B030D-6E8A-4147-A177-3AD203B41FA5}">
                      <a16:colId xmlns:a16="http://schemas.microsoft.com/office/drawing/2014/main" val="561318060"/>
                    </a:ext>
                  </a:extLst>
                </a:gridCol>
                <a:gridCol w="3505200">
                  <a:extLst>
                    <a:ext uri="{9D8B030D-6E8A-4147-A177-3AD203B41FA5}">
                      <a16:colId xmlns:a16="http://schemas.microsoft.com/office/drawing/2014/main" val="1002215281"/>
                    </a:ext>
                  </a:extLst>
                </a:gridCol>
                <a:gridCol w="3505200">
                  <a:extLst>
                    <a:ext uri="{9D8B030D-6E8A-4147-A177-3AD203B41FA5}">
                      <a16:colId xmlns:a16="http://schemas.microsoft.com/office/drawing/2014/main" val="2570698295"/>
                    </a:ext>
                  </a:extLst>
                </a:gridCol>
              </a:tblGrid>
              <a:tr h="0">
                <a:tc>
                  <a:txBody>
                    <a:bodyPr/>
                    <a:lstStyle/>
                    <a:p>
                      <a:r>
                        <a:rPr lang="ja-JP" altLang="en-US" b="1" dirty="0"/>
                        <a:t>モデル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ja-JP" altLang="en-US" b="1"/>
                        <a:t>特徴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ja-JP" altLang="en-US" b="1" dirty="0"/>
                        <a:t>本研究での課題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44691536"/>
                  </a:ext>
                </a:extLst>
              </a:tr>
              <a:tr h="0">
                <a:tc>
                  <a:txBody>
                    <a:bodyPr/>
                    <a:lstStyle/>
                    <a:p>
                      <a:r>
                        <a:rPr lang="en" b="1" dirty="0">
                          <a:solidFill>
                            <a:srgbClr val="FF0000"/>
                          </a:solidFill>
                        </a:rPr>
                        <a:t>Qwen3 4B（</a:t>
                      </a:r>
                      <a:r>
                        <a:rPr lang="ja-JP" altLang="en-US" b="1">
                          <a:solidFill>
                            <a:srgbClr val="FF0000"/>
                          </a:solidFill>
                        </a:rPr>
                        <a:t>採用）</a:t>
                      </a:r>
                      <a:endParaRPr lang="ja-JP" altLang="en-US">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dirty="0"/>
                        <a:t>日本語性能が高く、</a:t>
                      </a:r>
                      <a:br>
                        <a:rPr lang="en-US" altLang="ja-JP" dirty="0"/>
                      </a:br>
                      <a:r>
                        <a:rPr lang="ja-JP" altLang="en-US" dirty="0"/>
                        <a:t>軽量・安定。ローカルモデルなため、</a:t>
                      </a:r>
                      <a:endParaRPr lang="en-US" altLang="ja-JP" dirty="0"/>
                    </a:p>
                    <a:p>
                      <a:r>
                        <a:rPr lang="ja-JP" altLang="en-US" dirty="0"/>
                        <a:t>コストがかからない。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a:t>クラウドモデルより</a:t>
                      </a:r>
                      <a:br>
                        <a:rPr lang="en-US" altLang="ja-JP" dirty="0"/>
                      </a:br>
                      <a:r>
                        <a:rPr lang="ja-JP" altLang="en-US"/>
                        <a:t>言語理解の複雑性は劣る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1861399"/>
                  </a:ext>
                </a:extLst>
              </a:tr>
              <a:tr h="0">
                <a:tc>
                  <a:txBody>
                    <a:bodyPr/>
                    <a:lstStyle/>
                    <a:p>
                      <a:r>
                        <a:rPr lang="en" b="1" dirty="0"/>
                        <a:t>GPT-5.2 </a:t>
                      </a:r>
                      <a:endParaRPr lang="e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高精度・多言語対応。複雑な推論に強い。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商用</a:t>
                      </a:r>
                      <a:r>
                        <a:rPr lang="en"/>
                        <a:t>API</a:t>
                      </a:r>
                      <a:r>
                        <a:rPr lang="ja-JP" altLang="en-US"/>
                        <a:t>依存で再現性・コストに課題。出力の一貫性が制御しにくい。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7001294"/>
                  </a:ext>
                </a:extLst>
              </a:tr>
              <a:tr h="0">
                <a:tc>
                  <a:txBody>
                    <a:bodyPr/>
                    <a:lstStyle/>
                    <a:p>
                      <a:r>
                        <a:rPr lang="en" b="1"/>
                        <a:t>ELYZA-7B / 13B</a:t>
                      </a:r>
                      <a:endParaRPr lang="e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日本語特化・論理的出力が安定。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モデルサイズが大きく、</a:t>
                      </a:r>
                      <a:r>
                        <a:rPr lang="en" dirty="0"/>
                        <a:t>CPU</a:t>
                      </a:r>
                      <a:r>
                        <a:rPr lang="ja-JP" altLang="en-US"/>
                        <a:t>環境では非現実的。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7409190"/>
                  </a:ext>
                </a:extLst>
              </a:tr>
              <a:tr h="0">
                <a:tc>
                  <a:txBody>
                    <a:bodyPr/>
                    <a:lstStyle/>
                    <a:p>
                      <a:r>
                        <a:rPr lang="en" b="1"/>
                        <a:t>Llama-3 8B / 70B</a:t>
                      </a:r>
                      <a:endParaRPr lang="e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英語中心だが汎用性能が高い。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日本語タスクで微妙なニュアンスを誤判定。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289932"/>
                  </a:ext>
                </a:extLst>
              </a:tr>
              <a:tr h="0">
                <a:tc>
                  <a:txBody>
                    <a:bodyPr/>
                    <a:lstStyle/>
                    <a:p>
                      <a:r>
                        <a:rPr lang="en" b="1" dirty="0"/>
                        <a:t>Gemma / Mistral</a:t>
                      </a:r>
                      <a:r>
                        <a:rPr lang="ja-JP" altLang="en-US" b="1" dirty="0"/>
                        <a:t>系</a:t>
                      </a:r>
                      <a:endParaRPr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en-US"/>
                        <a:t>軽量で推論速度が速い。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dirty="0"/>
                        <a:t>日本語感情表現（皮肉・丁寧語）の理解が不十分。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6481280"/>
                  </a:ext>
                </a:extLst>
              </a:tr>
            </a:tbl>
          </a:graphicData>
        </a:graphic>
      </p:graphicFrame>
      <p:sp>
        <p:nvSpPr>
          <p:cNvPr id="4" name="正方形/長方形 3">
            <a:extLst>
              <a:ext uri="{FF2B5EF4-FFF2-40B4-BE49-F238E27FC236}">
                <a16:creationId xmlns:a16="http://schemas.microsoft.com/office/drawing/2014/main" id="{1CC80FC7-EC8D-F15D-2A2D-6E736969D146}"/>
              </a:ext>
            </a:extLst>
          </p:cNvPr>
          <p:cNvSpPr/>
          <p:nvPr/>
        </p:nvSpPr>
        <p:spPr>
          <a:xfrm>
            <a:off x="1" y="600039"/>
            <a:ext cx="12192000" cy="480448"/>
          </a:xfrm>
          <a:prstGeom prst="rect">
            <a:avLst/>
          </a:prstGeom>
          <a:solidFill>
            <a:srgbClr val="EEB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コストの低さ・ファインチューニングによる応用性の高さからローカル</a:t>
            </a:r>
            <a:r>
              <a:rPr kumimoji="1" lang="en-US" altLang="ja-JP" sz="2400" dirty="0">
                <a:solidFill>
                  <a:schemeClr val="tx1"/>
                </a:solidFill>
              </a:rPr>
              <a:t>LLM</a:t>
            </a:r>
            <a:r>
              <a:rPr kumimoji="1" lang="ja-JP" altLang="en-US" sz="2400" dirty="0">
                <a:solidFill>
                  <a:schemeClr val="tx1"/>
                </a:solidFill>
              </a:rPr>
              <a:t>（</a:t>
            </a:r>
            <a:r>
              <a:rPr kumimoji="1" lang="en-US" altLang="ja-JP" sz="2400" dirty="0">
                <a:solidFill>
                  <a:schemeClr val="tx1"/>
                </a:solidFill>
              </a:rPr>
              <a:t>Qwen3</a:t>
            </a:r>
            <a:r>
              <a:rPr kumimoji="1" lang="ja-JP" altLang="en-US" sz="2400" dirty="0">
                <a:solidFill>
                  <a:schemeClr val="tx1"/>
                </a:solidFill>
              </a:rPr>
              <a:t> </a:t>
            </a:r>
            <a:r>
              <a:rPr kumimoji="1" lang="en-US" altLang="ja-JP" sz="2400" dirty="0">
                <a:solidFill>
                  <a:schemeClr val="tx1"/>
                </a:solidFill>
              </a:rPr>
              <a:t>4B</a:t>
            </a:r>
            <a:r>
              <a:rPr kumimoji="1" lang="ja-JP" altLang="en-US" sz="2400" dirty="0">
                <a:solidFill>
                  <a:schemeClr val="tx1"/>
                </a:solidFill>
              </a:rPr>
              <a:t>）を選択</a:t>
            </a:r>
          </a:p>
        </p:txBody>
      </p:sp>
    </p:spTree>
    <p:extLst>
      <p:ext uri="{BB962C8B-B14F-4D97-AF65-F5344CB8AC3E}">
        <p14:creationId xmlns:p14="http://schemas.microsoft.com/office/powerpoint/2010/main" val="1897642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43CDDE6-28BC-D56C-AB9C-D6DEB373B10D}"/>
              </a:ext>
            </a:extLst>
          </p:cNvPr>
          <p:cNvSpPr>
            <a:spLocks noGrp="1"/>
          </p:cNvSpPr>
          <p:nvPr>
            <p:ph idx="1"/>
          </p:nvPr>
        </p:nvSpPr>
        <p:spPr/>
        <p:txBody>
          <a:bodyPr>
            <a:normAutofit fontScale="62500" lnSpcReduction="20000"/>
          </a:bodyPr>
          <a:lstStyle/>
          <a:p>
            <a:r>
              <a:rPr lang="ja-JP" altLang="en-US" dirty="0"/>
              <a:t>事前学習モデル（</a:t>
            </a:r>
            <a:r>
              <a:rPr lang="en-US" altLang="ja-JP" dirty="0"/>
              <a:t>Base</a:t>
            </a:r>
            <a:r>
              <a:rPr lang="ja-JP" altLang="en-US" dirty="0"/>
              <a:t>）</a:t>
            </a:r>
          </a:p>
          <a:p>
            <a:pPr>
              <a:buFont typeface="Wingdings" panose="05000000000000000000" pitchFamily="2" charset="2"/>
              <a:buChar char="Ø"/>
            </a:pPr>
            <a:r>
              <a:rPr lang="en-US" altLang="ja-JP" dirty="0"/>
              <a:t>cl-</a:t>
            </a:r>
            <a:r>
              <a:rPr lang="en-US" altLang="ja-JP" dirty="0" err="1"/>
              <a:t>tohoku</a:t>
            </a:r>
            <a:r>
              <a:rPr lang="en-US" altLang="ja-JP" dirty="0"/>
              <a:t>/</a:t>
            </a:r>
            <a:r>
              <a:rPr lang="en-US" altLang="ja-JP" dirty="0" err="1"/>
              <a:t>bert</a:t>
            </a:r>
            <a:r>
              <a:rPr lang="en-US" altLang="ja-JP" dirty="0"/>
              <a:t>-base-</a:t>
            </a:r>
            <a:r>
              <a:rPr lang="en-US" altLang="ja-JP" dirty="0" err="1"/>
              <a:t>japanese</a:t>
            </a:r>
            <a:endParaRPr lang="ja-JP" altLang="en-US" dirty="0"/>
          </a:p>
          <a:p>
            <a:pPr>
              <a:buFont typeface="Wingdings" panose="05000000000000000000" pitchFamily="2" charset="2"/>
              <a:buChar char="Ø"/>
            </a:pPr>
            <a:r>
              <a:rPr lang="ja-JP" altLang="en-US" dirty="0"/>
              <a:t>日本語</a:t>
            </a:r>
            <a:r>
              <a:rPr lang="en-US" altLang="ja-JP" dirty="0"/>
              <a:t>BERT</a:t>
            </a:r>
            <a:r>
              <a:rPr lang="ja-JP" altLang="en-US" dirty="0"/>
              <a:t>として最も早く公開された学術モデル（</a:t>
            </a:r>
            <a:r>
              <a:rPr lang="en-US" altLang="ja-JP" dirty="0"/>
              <a:t>2019</a:t>
            </a:r>
            <a:r>
              <a:rPr lang="ja-JP" altLang="en-US" dirty="0"/>
              <a:t>）</a:t>
            </a:r>
          </a:p>
          <a:p>
            <a:pPr>
              <a:buFont typeface="Wingdings" panose="05000000000000000000" pitchFamily="2" charset="2"/>
              <a:buChar char="Ø"/>
            </a:pPr>
            <a:r>
              <a:rPr lang="ja-JP" altLang="en-US" dirty="0"/>
              <a:t>多くの日本語研究 </a:t>
            </a:r>
            <a:r>
              <a:rPr lang="en-US" altLang="ja-JP" dirty="0"/>
              <a:t>/ </a:t>
            </a:r>
            <a:r>
              <a:rPr lang="ja-JP" altLang="en-US" dirty="0"/>
              <a:t>企業プロジェクトで標準的に採用</a:t>
            </a:r>
          </a:p>
          <a:p>
            <a:pPr>
              <a:buFont typeface="Wingdings" panose="05000000000000000000" pitchFamily="2" charset="2"/>
              <a:buChar char="Ø"/>
            </a:pPr>
            <a:r>
              <a:rPr lang="ja-JP" altLang="en-US" dirty="0"/>
              <a:t>日本語形態素解析を利用し 最適な単語分割（トークナイズ） が可能</a:t>
            </a:r>
            <a:br>
              <a:rPr lang="ja-JP" altLang="en-US" dirty="0"/>
            </a:br>
            <a:endParaRPr lang="ja-JP" altLang="en-US" dirty="0"/>
          </a:p>
          <a:p>
            <a:r>
              <a:rPr lang="ja-JP" altLang="en-US" dirty="0"/>
              <a:t>感情分類モデル（</a:t>
            </a:r>
            <a:r>
              <a:rPr lang="en-US" altLang="ja-JP" dirty="0"/>
              <a:t>Fine-tuned</a:t>
            </a:r>
            <a:r>
              <a:rPr lang="ja-JP" altLang="en-US" dirty="0"/>
              <a:t>モデル）</a:t>
            </a:r>
          </a:p>
          <a:p>
            <a:pPr>
              <a:buFont typeface="Wingdings" panose="05000000000000000000" pitchFamily="2" charset="2"/>
              <a:buChar char="Ø"/>
            </a:pPr>
            <a:r>
              <a:rPr lang="en-US" altLang="ja-JP" dirty="0" err="1"/>
              <a:t>koheiduck</a:t>
            </a:r>
            <a:r>
              <a:rPr lang="en-US" altLang="ja-JP" dirty="0"/>
              <a:t>/</a:t>
            </a:r>
            <a:r>
              <a:rPr lang="en-US" altLang="ja-JP" dirty="0" err="1"/>
              <a:t>bert</a:t>
            </a:r>
            <a:r>
              <a:rPr lang="en-US" altLang="ja-JP" dirty="0"/>
              <a:t>-</a:t>
            </a:r>
            <a:r>
              <a:rPr lang="en-US" altLang="ja-JP" dirty="0" err="1"/>
              <a:t>japanese</a:t>
            </a:r>
            <a:r>
              <a:rPr lang="en-US" altLang="ja-JP" dirty="0"/>
              <a:t>-finetuned-sentiment</a:t>
            </a:r>
            <a:endParaRPr lang="ja-JP" altLang="en-US" dirty="0"/>
          </a:p>
          <a:p>
            <a:pPr>
              <a:buFont typeface="Wingdings" panose="05000000000000000000" pitchFamily="2" charset="2"/>
              <a:buChar char="Ø"/>
            </a:pPr>
            <a:r>
              <a:rPr lang="ja-JP" altLang="en-US" dirty="0"/>
              <a:t>日本語の語彙体系・文構造に最適化された感情分類モデル</a:t>
            </a:r>
          </a:p>
          <a:p>
            <a:pPr>
              <a:buFont typeface="Wingdings" panose="05000000000000000000" pitchFamily="2" charset="2"/>
              <a:buChar char="Ø"/>
            </a:pPr>
            <a:r>
              <a:rPr lang="ja-JP" altLang="en-US" dirty="0"/>
              <a:t>口コミ </a:t>
            </a:r>
            <a:r>
              <a:rPr lang="en-US" altLang="ja-JP" dirty="0"/>
              <a:t>/ </a:t>
            </a:r>
            <a:r>
              <a:rPr lang="ja-JP" altLang="en-US" dirty="0"/>
              <a:t>レビュー </a:t>
            </a:r>
            <a:r>
              <a:rPr lang="en-US" altLang="ja-JP" dirty="0"/>
              <a:t>/ </a:t>
            </a:r>
            <a:r>
              <a:rPr lang="ja-JP" altLang="en-US" dirty="0"/>
              <a:t>会話体の文章に強い</a:t>
            </a:r>
          </a:p>
          <a:p>
            <a:endParaRPr kumimoji="1" lang="ja-JP" altLang="en-US" dirty="0"/>
          </a:p>
        </p:txBody>
      </p:sp>
      <p:sp>
        <p:nvSpPr>
          <p:cNvPr id="3" name="テキスト プレースホルダー 2">
            <a:extLst>
              <a:ext uri="{FF2B5EF4-FFF2-40B4-BE49-F238E27FC236}">
                <a16:creationId xmlns:a16="http://schemas.microsoft.com/office/drawing/2014/main" id="{81F24775-5D7D-3B20-A5E5-C64409E2799D}"/>
              </a:ext>
            </a:extLst>
          </p:cNvPr>
          <p:cNvSpPr>
            <a:spLocks noGrp="1"/>
          </p:cNvSpPr>
          <p:nvPr>
            <p:ph type="body" sz="quarter" idx="11"/>
          </p:nvPr>
        </p:nvSpPr>
        <p:spPr/>
        <p:txBody>
          <a:bodyPr>
            <a:normAutofit fontScale="92500" lnSpcReduction="10000"/>
          </a:bodyPr>
          <a:lstStyle/>
          <a:p>
            <a:r>
              <a:rPr kumimoji="1" lang="en-US" altLang="ja-JP" b="1" dirty="0"/>
              <a:t>BERT</a:t>
            </a:r>
            <a:r>
              <a:rPr kumimoji="1" lang="ja-JP" altLang="en-US" b="1" dirty="0"/>
              <a:t>モデル</a:t>
            </a:r>
          </a:p>
        </p:txBody>
      </p:sp>
    </p:spTree>
    <p:extLst>
      <p:ext uri="{BB962C8B-B14F-4D97-AF65-F5344CB8AC3E}">
        <p14:creationId xmlns:p14="http://schemas.microsoft.com/office/powerpoint/2010/main" val="383575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03644FC-0F91-0C8D-14A5-7C2C6D919161}"/>
              </a:ext>
            </a:extLst>
          </p:cNvPr>
          <p:cNvSpPr>
            <a:spLocks noGrp="1"/>
          </p:cNvSpPr>
          <p:nvPr>
            <p:ph idx="1"/>
          </p:nvPr>
        </p:nvSpPr>
        <p:spPr>
          <a:xfrm>
            <a:off x="113383" y="635383"/>
            <a:ext cx="12320869" cy="5587234"/>
          </a:xfrm>
        </p:spPr>
        <p:txBody>
          <a:bodyPr>
            <a:normAutofit lnSpcReduction="10000"/>
          </a:bodyPr>
          <a:lstStyle/>
          <a:p>
            <a:r>
              <a:rPr lang="ja-JP" altLang="en-US" b="1" dirty="0"/>
              <a:t>妥当性検証データ</a:t>
            </a:r>
            <a:endParaRPr lang="ja-JP" altLang="en-US" dirty="0"/>
          </a:p>
          <a:p>
            <a:pPr>
              <a:buFont typeface="Arial" panose="020B0604020202020204" pitchFamily="34" charset="0"/>
              <a:buChar char="•"/>
            </a:pPr>
            <a:r>
              <a:rPr lang="ja-JP" altLang="en-US" dirty="0"/>
              <a:t>各観点 </a:t>
            </a:r>
            <a:r>
              <a:rPr lang="en-US" altLang="ja-JP" dirty="0"/>
              <a:t>× </a:t>
            </a:r>
            <a:r>
              <a:rPr lang="ja-JP" altLang="en-US" dirty="0"/>
              <a:t>感情</a:t>
            </a:r>
            <a:r>
              <a:rPr lang="en-US" altLang="ja-JP" dirty="0"/>
              <a:t>3</a:t>
            </a:r>
            <a:r>
              <a:rPr lang="ja-JP" altLang="en-US" dirty="0"/>
              <a:t>種 </a:t>
            </a:r>
            <a:r>
              <a:rPr lang="en-US" altLang="ja-JP" dirty="0"/>
              <a:t>× 5</a:t>
            </a:r>
            <a:r>
              <a:rPr lang="ja-JP" altLang="en-US" dirty="0"/>
              <a:t>件 ＝ </a:t>
            </a:r>
            <a:r>
              <a:rPr lang="en-US" altLang="ja-JP" b="1" dirty="0"/>
              <a:t>150</a:t>
            </a:r>
            <a:r>
              <a:rPr lang="ja-JP" altLang="en-US" b="1" dirty="0"/>
              <a:t>件（ゴールドデータ）</a:t>
            </a:r>
            <a:endParaRPr lang="en-US" altLang="ja-JP" dirty="0"/>
          </a:p>
          <a:p>
            <a:pPr marL="0" indent="0">
              <a:buNone/>
            </a:pPr>
            <a:endParaRPr lang="en-US" altLang="ja-JP" dirty="0"/>
          </a:p>
          <a:p>
            <a:pPr marL="0" indent="0">
              <a:buNone/>
            </a:pPr>
            <a:endParaRPr lang="ja-JP" altLang="en-US" dirty="0"/>
          </a:p>
          <a:p>
            <a:r>
              <a:rPr lang="ja-JP" altLang="en-US" b="1" dirty="0"/>
              <a:t>評価指標</a:t>
            </a:r>
            <a:endParaRPr lang="ja-JP" altLang="en-US" dirty="0"/>
          </a:p>
          <a:p>
            <a:pPr>
              <a:buFont typeface="Arial" panose="020B0604020202020204" pitchFamily="34" charset="0"/>
              <a:buChar char="•"/>
            </a:pPr>
            <a:r>
              <a:rPr lang="ja-JP" altLang="en-US" b="1" dirty="0"/>
              <a:t>精度（</a:t>
            </a:r>
            <a:r>
              <a:rPr lang="en" altLang="ja-JP" b="1" dirty="0"/>
              <a:t>Accuracy</a:t>
            </a:r>
            <a:r>
              <a:rPr lang="ja-JP" altLang="en" b="1" dirty="0"/>
              <a:t>）・</a:t>
            </a:r>
            <a:r>
              <a:rPr lang="ja-JP" altLang="en-US" dirty="0"/>
              <a:t>（観点別／全体）</a:t>
            </a:r>
          </a:p>
          <a:p>
            <a:pPr>
              <a:buFont typeface="Arial" panose="020B0604020202020204" pitchFamily="34" charset="0"/>
              <a:buChar char="•"/>
            </a:pPr>
            <a:r>
              <a:rPr lang="ja-JP" altLang="en-US" b="1" dirty="0"/>
              <a:t>根拠文の類似度整合率</a:t>
            </a:r>
            <a:r>
              <a:rPr lang="en" altLang="ja-JP" dirty="0"/>
              <a:t> </a:t>
            </a:r>
            <a:r>
              <a:rPr lang="en-US" altLang="ja-JP" dirty="0"/>
              <a:t>(BERT</a:t>
            </a:r>
            <a:r>
              <a:rPr lang="ja-JP" altLang="en-US" dirty="0"/>
              <a:t>による類似度検証</a:t>
            </a:r>
            <a:r>
              <a:rPr lang="en-US" altLang="ja-JP" dirty="0"/>
              <a:t>)</a:t>
            </a:r>
            <a:endParaRPr lang="ja-JP" altLang="en-US" dirty="0"/>
          </a:p>
        </p:txBody>
      </p:sp>
      <p:sp>
        <p:nvSpPr>
          <p:cNvPr id="3" name="テキスト プレースホルダー 2">
            <a:extLst>
              <a:ext uri="{FF2B5EF4-FFF2-40B4-BE49-F238E27FC236}">
                <a16:creationId xmlns:a16="http://schemas.microsoft.com/office/drawing/2014/main" id="{9DF530C5-620A-39C3-ED7B-6456A817065F}"/>
              </a:ext>
            </a:extLst>
          </p:cNvPr>
          <p:cNvSpPr>
            <a:spLocks noGrp="1"/>
          </p:cNvSpPr>
          <p:nvPr>
            <p:ph type="body" sz="quarter" idx="11"/>
          </p:nvPr>
        </p:nvSpPr>
        <p:spPr/>
        <p:txBody>
          <a:bodyPr>
            <a:normAutofit fontScale="92500" lnSpcReduction="10000"/>
          </a:bodyPr>
          <a:lstStyle/>
          <a:p>
            <a:r>
              <a:rPr lang="ja-JP" altLang="en-US" b="1" dirty="0"/>
              <a:t>実験要件</a:t>
            </a:r>
            <a:endParaRPr kumimoji="1" lang="ja-JP" altLang="en-US" b="1" dirty="0"/>
          </a:p>
        </p:txBody>
      </p:sp>
      <p:pic>
        <p:nvPicPr>
          <p:cNvPr id="10" name="図 9" descr="テキスト, テーブル&#10;&#10;自動的に生成された説明">
            <a:extLst>
              <a:ext uri="{FF2B5EF4-FFF2-40B4-BE49-F238E27FC236}">
                <a16:creationId xmlns:a16="http://schemas.microsoft.com/office/drawing/2014/main" id="{06BB5863-1A8B-C352-34DC-9CE383F043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1200" y="2153920"/>
            <a:ext cx="4484688" cy="1442073"/>
          </a:xfrm>
          <a:prstGeom prst="rect">
            <a:avLst/>
          </a:prstGeom>
        </p:spPr>
      </p:pic>
    </p:spTree>
    <p:extLst>
      <p:ext uri="{BB962C8B-B14F-4D97-AF65-F5344CB8AC3E}">
        <p14:creationId xmlns:p14="http://schemas.microsoft.com/office/powerpoint/2010/main" val="3942809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a:xfrm>
            <a:off x="338465" y="29235"/>
            <a:ext cx="11356692" cy="670194"/>
          </a:xfrm>
        </p:spPr>
        <p:txBody>
          <a:bodyPr/>
          <a:lstStyle/>
          <a:p>
            <a:r>
              <a:rPr lang="ja-JP" altLang="en-US" b="1" dirty="0"/>
              <a:t>研究成果　ラベル一致・根拠文整合率</a:t>
            </a:r>
            <a:endParaRPr kumimoji="1" lang="ja-JP" altLang="en-US" b="1" dirty="0"/>
          </a:p>
        </p:txBody>
      </p:sp>
      <p:sp>
        <p:nvSpPr>
          <p:cNvPr id="9" name="コンテンツ プレースホルダー 8">
            <a:extLst>
              <a:ext uri="{FF2B5EF4-FFF2-40B4-BE49-F238E27FC236}">
                <a16:creationId xmlns:a16="http://schemas.microsoft.com/office/drawing/2014/main" id="{CF4EB7FE-B04D-0725-7B20-74B926C5DCD7}"/>
              </a:ext>
            </a:extLst>
          </p:cNvPr>
          <p:cNvSpPr>
            <a:spLocks noGrp="1"/>
          </p:cNvSpPr>
          <p:nvPr>
            <p:ph idx="1"/>
          </p:nvPr>
        </p:nvSpPr>
        <p:spPr>
          <a:xfrm>
            <a:off x="106380" y="1075779"/>
            <a:ext cx="12705379" cy="5348022"/>
          </a:xfrm>
        </p:spPr>
        <p:txBody>
          <a:bodyPr>
            <a:normAutofit/>
          </a:bodyPr>
          <a:lstStyle/>
          <a:p>
            <a:pPr marL="0" indent="0">
              <a:buNone/>
            </a:pPr>
            <a:r>
              <a:rPr lang="ja-JP" altLang="en-US" sz="2400" dirty="0">
                <a:solidFill>
                  <a:srgbClr val="C00000"/>
                </a:solidFill>
              </a:rPr>
              <a:t>提案手法（</a:t>
            </a:r>
            <a:r>
              <a:rPr lang="en-US" altLang="ja-JP" sz="2400" dirty="0">
                <a:solidFill>
                  <a:srgbClr val="C00000"/>
                </a:solidFill>
              </a:rPr>
              <a:t>LLM×BERT</a:t>
            </a:r>
            <a:r>
              <a:rPr lang="ja-JP" altLang="en-US" sz="2400" dirty="0">
                <a:solidFill>
                  <a:srgbClr val="C00000"/>
                </a:solidFill>
              </a:rPr>
              <a:t>）： </a:t>
            </a:r>
            <a:r>
              <a:rPr lang="en-US" altLang="ja-JP" sz="2400" dirty="0"/>
              <a:t>accuracy : 0.900</a:t>
            </a:r>
            <a:r>
              <a:rPr lang="ja-JP" altLang="en-US" sz="2400" dirty="0">
                <a:solidFill>
                  <a:srgbClr val="FF0000"/>
                </a:solidFill>
              </a:rPr>
              <a:t>↑　</a:t>
            </a:r>
            <a:r>
              <a:rPr lang="ja-JP" altLang="en-US" sz="2400" dirty="0"/>
              <a:t>既存手法（</a:t>
            </a:r>
            <a:r>
              <a:rPr lang="en-US" altLang="ja-JP" sz="2400" dirty="0"/>
              <a:t>LLM</a:t>
            </a:r>
            <a:r>
              <a:rPr lang="ja-JP" altLang="en-US" sz="2400" dirty="0"/>
              <a:t>）：</a:t>
            </a:r>
            <a:r>
              <a:rPr lang="en-US" altLang="ja-JP" sz="2400" dirty="0"/>
              <a:t> accuracy : 0.813</a:t>
            </a:r>
            <a:r>
              <a:rPr lang="ja-JP" altLang="en-US" sz="2400" dirty="0">
                <a:solidFill>
                  <a:srgbClr val="0070C0"/>
                </a:solidFill>
              </a:rPr>
              <a:t>↓</a:t>
            </a:r>
            <a:endParaRPr lang="en-US" altLang="ja-JP" sz="2400" dirty="0">
              <a:solidFill>
                <a:srgbClr val="0070C0"/>
              </a:solidFill>
            </a:endParaRPr>
          </a:p>
        </p:txBody>
      </p:sp>
      <p:sp>
        <p:nvSpPr>
          <p:cNvPr id="2" name="正方形/長方形 1">
            <a:extLst>
              <a:ext uri="{FF2B5EF4-FFF2-40B4-BE49-F238E27FC236}">
                <a16:creationId xmlns:a16="http://schemas.microsoft.com/office/drawing/2014/main" id="{12ED65D3-8117-CD4D-7B93-1211BBD9A2C2}"/>
              </a:ext>
            </a:extLst>
          </p:cNvPr>
          <p:cNvSpPr/>
          <p:nvPr/>
        </p:nvSpPr>
        <p:spPr>
          <a:xfrm>
            <a:off x="0" y="595331"/>
            <a:ext cx="12192000" cy="480448"/>
          </a:xfrm>
          <a:prstGeom prst="rect">
            <a:avLst/>
          </a:prstGeom>
          <a:solidFill>
            <a:srgbClr val="EEB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提案手法により、感情分析の精度が向上した</a:t>
            </a:r>
            <a:endParaRPr kumimoji="1" lang="ja-JP" altLang="en-US" sz="2400" dirty="0">
              <a:solidFill>
                <a:schemeClr val="tx1">
                  <a:lumMod val="75000"/>
                </a:schemeClr>
              </a:solidFill>
            </a:endParaRPr>
          </a:p>
        </p:txBody>
      </p:sp>
      <p:pic>
        <p:nvPicPr>
          <p:cNvPr id="5" name="図 4" descr="グラフ, 棒グラフ&#10;&#10;AI 生成コンテンツは誤りを含む可能性があります。">
            <a:extLst>
              <a:ext uri="{FF2B5EF4-FFF2-40B4-BE49-F238E27FC236}">
                <a16:creationId xmlns:a16="http://schemas.microsoft.com/office/drawing/2014/main" id="{C9D2B96B-1E26-0951-A4FE-63AA15C32F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6941" y="2037073"/>
            <a:ext cx="7981683" cy="4225596"/>
          </a:xfrm>
          <a:prstGeom prst="rect">
            <a:avLst/>
          </a:prstGeom>
        </p:spPr>
      </p:pic>
    </p:spTree>
    <p:extLst>
      <p:ext uri="{BB962C8B-B14F-4D97-AF65-F5344CB8AC3E}">
        <p14:creationId xmlns:p14="http://schemas.microsoft.com/office/powerpoint/2010/main" val="1168559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コンテンツ プレースホルダー 5">
            <a:extLst>
              <a:ext uri="{FF2B5EF4-FFF2-40B4-BE49-F238E27FC236}">
                <a16:creationId xmlns:a16="http://schemas.microsoft.com/office/drawing/2014/main" id="{460B4CA7-6D4E-EEBD-8322-6C698FD628A6}"/>
              </a:ext>
            </a:extLst>
          </p:cNvPr>
          <p:cNvGraphicFramePr>
            <a:graphicFrameLocks noGrp="1"/>
          </p:cNvGraphicFramePr>
          <p:nvPr>
            <p:ph idx="1"/>
            <p:extLst>
              <p:ext uri="{D42A27DB-BD31-4B8C-83A1-F6EECF244321}">
                <p14:modId xmlns:p14="http://schemas.microsoft.com/office/powerpoint/2010/main" val="1302671916"/>
              </p:ext>
            </p:extLst>
          </p:nvPr>
        </p:nvGraphicFramePr>
        <p:xfrm>
          <a:off x="518160" y="1713734"/>
          <a:ext cx="10515600" cy="1828800"/>
        </p:xfrm>
        <a:graphic>
          <a:graphicData uri="http://schemas.openxmlformats.org/drawingml/2006/table">
            <a:tbl>
              <a:tblPr>
                <a:tableStyleId>{8EC20E35-A176-4012-BC5E-935CFFF8708E}</a:tableStyleId>
              </a:tblPr>
              <a:tblGrid>
                <a:gridCol w="5257800">
                  <a:extLst>
                    <a:ext uri="{9D8B030D-6E8A-4147-A177-3AD203B41FA5}">
                      <a16:colId xmlns:a16="http://schemas.microsoft.com/office/drawing/2014/main" val="3466324064"/>
                    </a:ext>
                  </a:extLst>
                </a:gridCol>
                <a:gridCol w="5257800">
                  <a:extLst>
                    <a:ext uri="{9D8B030D-6E8A-4147-A177-3AD203B41FA5}">
                      <a16:colId xmlns:a16="http://schemas.microsoft.com/office/drawing/2014/main" val="3410611909"/>
                    </a:ext>
                  </a:extLst>
                </a:gridCol>
              </a:tblGrid>
              <a:tr h="0">
                <a:tc>
                  <a:txBody>
                    <a:bodyPr/>
                    <a:lstStyle/>
                    <a:p>
                      <a:pPr>
                        <a:buNone/>
                      </a:pPr>
                      <a:r>
                        <a:rPr lang="ja-JP" altLang="en-US" b="1" dirty="0"/>
                        <a:t>項目</a:t>
                      </a:r>
                    </a:p>
                  </a:txBody>
                  <a:tcPr anchor="ctr"/>
                </a:tc>
                <a:tc>
                  <a:txBody>
                    <a:bodyPr/>
                    <a:lstStyle/>
                    <a:p>
                      <a:pPr>
                        <a:buNone/>
                      </a:pPr>
                      <a:r>
                        <a:rPr lang="ja-JP" altLang="en-US" b="1" dirty="0"/>
                        <a:t>ユーザーの意図</a:t>
                      </a:r>
                    </a:p>
                  </a:txBody>
                  <a:tcPr anchor="ctr"/>
                </a:tc>
                <a:extLst>
                  <a:ext uri="{0D108BD9-81ED-4DB2-BD59-A6C34878D82A}">
                    <a16:rowId xmlns:a16="http://schemas.microsoft.com/office/drawing/2014/main" val="2894263396"/>
                  </a:ext>
                </a:extLst>
              </a:tr>
              <a:tr h="0">
                <a:tc>
                  <a:txBody>
                    <a:bodyPr/>
                    <a:lstStyle/>
                    <a:p>
                      <a:pPr>
                        <a:buNone/>
                      </a:pPr>
                      <a:r>
                        <a:rPr lang="ja-JP" altLang="en-US"/>
                        <a:t>サービス</a:t>
                      </a:r>
                    </a:p>
                  </a:txBody>
                  <a:tcPr anchor="ctr"/>
                </a:tc>
                <a:tc>
                  <a:txBody>
                    <a:bodyPr/>
                    <a:lstStyle/>
                    <a:p>
                      <a:pPr>
                        <a:buNone/>
                      </a:pPr>
                      <a:r>
                        <a:rPr lang="ja-JP" altLang="en-US"/>
                        <a:t>接客？スタッフ？対応スピード？</a:t>
                      </a:r>
                    </a:p>
                  </a:txBody>
                  <a:tcPr anchor="ctr"/>
                </a:tc>
                <a:extLst>
                  <a:ext uri="{0D108BD9-81ED-4DB2-BD59-A6C34878D82A}">
                    <a16:rowId xmlns:a16="http://schemas.microsoft.com/office/drawing/2014/main" val="1999935829"/>
                  </a:ext>
                </a:extLst>
              </a:tr>
              <a:tr h="0">
                <a:tc>
                  <a:txBody>
                    <a:bodyPr/>
                    <a:lstStyle/>
                    <a:p>
                      <a:pPr>
                        <a:buNone/>
                      </a:pPr>
                      <a:r>
                        <a:rPr lang="ja-JP" altLang="en-US" dirty="0"/>
                        <a:t>部屋</a:t>
                      </a:r>
                    </a:p>
                  </a:txBody>
                  <a:tcPr anchor="ctr"/>
                </a:tc>
                <a:tc>
                  <a:txBody>
                    <a:bodyPr/>
                    <a:lstStyle/>
                    <a:p>
                      <a:pPr>
                        <a:buNone/>
                      </a:pPr>
                      <a:r>
                        <a:rPr lang="ja-JP" altLang="en-US"/>
                        <a:t>清掃？広さ？眺望？音？</a:t>
                      </a:r>
                    </a:p>
                  </a:txBody>
                  <a:tcPr anchor="ctr"/>
                </a:tc>
                <a:extLst>
                  <a:ext uri="{0D108BD9-81ED-4DB2-BD59-A6C34878D82A}">
                    <a16:rowId xmlns:a16="http://schemas.microsoft.com/office/drawing/2014/main" val="2263224106"/>
                  </a:ext>
                </a:extLst>
              </a:tr>
              <a:tr h="0">
                <a:tc>
                  <a:txBody>
                    <a:bodyPr/>
                    <a:lstStyle/>
                    <a:p>
                      <a:pPr>
                        <a:buNone/>
                      </a:pPr>
                      <a:r>
                        <a:rPr lang="ja-JP" altLang="en-US" dirty="0"/>
                        <a:t>設備・アメニティ</a:t>
                      </a:r>
                    </a:p>
                  </a:txBody>
                  <a:tcPr anchor="ctr"/>
                </a:tc>
                <a:tc>
                  <a:txBody>
                    <a:bodyPr/>
                    <a:lstStyle/>
                    <a:p>
                      <a:pPr>
                        <a:buNone/>
                      </a:pPr>
                      <a:r>
                        <a:rPr lang="ja-JP" altLang="en-US" dirty="0"/>
                        <a:t>部屋の設備？大浴場？</a:t>
                      </a:r>
                    </a:p>
                  </a:txBody>
                  <a:tcPr anchor="ctr"/>
                </a:tc>
                <a:extLst>
                  <a:ext uri="{0D108BD9-81ED-4DB2-BD59-A6C34878D82A}">
                    <a16:rowId xmlns:a16="http://schemas.microsoft.com/office/drawing/2014/main" val="3355900657"/>
                  </a:ext>
                </a:extLst>
              </a:tr>
              <a:tr h="0">
                <a:tc>
                  <a:txBody>
                    <a:bodyPr/>
                    <a:lstStyle/>
                    <a:p>
                      <a:pPr>
                        <a:buNone/>
                      </a:pPr>
                      <a:r>
                        <a:rPr lang="ja-JP" altLang="en-US" dirty="0"/>
                        <a:t>食事</a:t>
                      </a:r>
                    </a:p>
                  </a:txBody>
                  <a:tcPr anchor="ctr"/>
                </a:tc>
                <a:tc>
                  <a:txBody>
                    <a:bodyPr/>
                    <a:lstStyle/>
                    <a:p>
                      <a:pPr>
                        <a:buNone/>
                      </a:pPr>
                      <a:r>
                        <a:rPr lang="zh-TW" altLang="en-US" dirty="0"/>
                        <a:t>朝食？夕食？質？量？</a:t>
                      </a:r>
                      <a:endParaRPr lang="zh-TW" altLang="en-US" dirty="0">
                        <a:latin typeface="ＭＳ Ｐゴシック" panose="020B0600070205080204" pitchFamily="50" charset="-128"/>
                        <a:ea typeface="ＭＳ Ｐゴシック" panose="020B0600070205080204" pitchFamily="50" charset="-128"/>
                      </a:endParaRPr>
                    </a:p>
                  </a:txBody>
                  <a:tcPr anchor="ctr"/>
                </a:tc>
                <a:extLst>
                  <a:ext uri="{0D108BD9-81ED-4DB2-BD59-A6C34878D82A}">
                    <a16:rowId xmlns:a16="http://schemas.microsoft.com/office/drawing/2014/main" val="2353663320"/>
                  </a:ext>
                </a:extLst>
              </a:tr>
            </a:tbl>
          </a:graphicData>
        </a:graphic>
      </p:graphicFrame>
      <p:sp>
        <p:nvSpPr>
          <p:cNvPr id="3" name="テキスト プレースホルダー 2">
            <a:extLst>
              <a:ext uri="{FF2B5EF4-FFF2-40B4-BE49-F238E27FC236}">
                <a16:creationId xmlns:a16="http://schemas.microsoft.com/office/drawing/2014/main" id="{6F6DFFE0-A8E7-5DE4-D4E7-764C521F67E3}"/>
              </a:ext>
            </a:extLst>
          </p:cNvPr>
          <p:cNvSpPr>
            <a:spLocks noGrp="1"/>
          </p:cNvSpPr>
          <p:nvPr>
            <p:ph type="body" sz="quarter" idx="11"/>
          </p:nvPr>
        </p:nvSpPr>
        <p:spPr/>
        <p:txBody>
          <a:bodyPr>
            <a:normAutofit fontScale="92500" lnSpcReduction="10000"/>
          </a:bodyPr>
          <a:lstStyle/>
          <a:p>
            <a:r>
              <a:rPr lang="ja-JP" altLang="en-US" b="1" dirty="0"/>
              <a:t>予約サイトの口コミスコアの課題</a:t>
            </a:r>
            <a:endParaRPr kumimoji="1" lang="ja-JP" altLang="en-US" b="1" dirty="0"/>
          </a:p>
        </p:txBody>
      </p:sp>
      <p:sp>
        <p:nvSpPr>
          <p:cNvPr id="7" name="Rectangle 10">
            <a:extLst>
              <a:ext uri="{FF2B5EF4-FFF2-40B4-BE49-F238E27FC236}">
                <a16:creationId xmlns:a16="http://schemas.microsoft.com/office/drawing/2014/main" id="{A6A94523-F843-7D1A-F2F9-EF967269C287}"/>
              </a:ext>
            </a:extLst>
          </p:cNvPr>
          <p:cNvSpPr>
            <a:spLocks noChangeArrowheads="1"/>
          </p:cNvSpPr>
          <p:nvPr/>
        </p:nvSpPr>
        <p:spPr bwMode="auto">
          <a:xfrm>
            <a:off x="518160" y="734910"/>
            <a:ext cx="91566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ja-JP" altLang="ja-JP" sz="2800" b="1" i="0" u="none" strike="noStrike" cap="none" normalizeH="0" baseline="0" dirty="0">
                <a:ln>
                  <a:noFill/>
                </a:ln>
                <a:solidFill>
                  <a:schemeClr val="tx1"/>
                </a:solidFill>
                <a:effectLst/>
                <a:latin typeface="Arial" panose="020B0604020202020204" pitchFamily="34" charset="0"/>
              </a:rPr>
              <a:t>抽象度が高く、「</a:t>
            </a:r>
            <a:r>
              <a:rPr kumimoji="0" lang="ja-JP" altLang="en-US" sz="2800" b="1" i="0" u="none" strike="noStrike" cap="none" normalizeH="0" baseline="0" dirty="0">
                <a:ln>
                  <a:noFill/>
                </a:ln>
                <a:solidFill>
                  <a:schemeClr val="tx1"/>
                </a:solidFill>
                <a:effectLst/>
                <a:latin typeface="Arial" panose="020B0604020202020204" pitchFamily="34" charset="0"/>
              </a:rPr>
              <a:t>ユーザーが</a:t>
            </a:r>
            <a:r>
              <a:rPr kumimoji="0" lang="ja-JP" altLang="ja-JP" sz="2800" b="1" i="0" u="none" strike="noStrike" cap="none" normalizeH="0" baseline="0" dirty="0">
                <a:ln>
                  <a:noFill/>
                </a:ln>
                <a:solidFill>
                  <a:schemeClr val="tx1"/>
                </a:solidFill>
                <a:effectLst/>
                <a:latin typeface="Arial" panose="020B0604020202020204" pitchFamily="34" charset="0"/>
              </a:rPr>
              <a:t>なぜそう評価したか」がわからない</a:t>
            </a:r>
            <a:endParaRPr kumimoji="0" lang="ja-JP" altLang="ja-JP" sz="2800" b="0" i="0" u="none" strike="noStrike" cap="none" normalizeH="0" baseline="0" dirty="0">
              <a:ln>
                <a:noFill/>
              </a:ln>
              <a:solidFill>
                <a:schemeClr val="tx1"/>
              </a:solidFill>
              <a:effectLst/>
              <a:latin typeface="Arial" panose="020B0604020202020204" pitchFamily="34" charset="0"/>
            </a:endParaRPr>
          </a:p>
        </p:txBody>
      </p:sp>
      <p:sp>
        <p:nvSpPr>
          <p:cNvPr id="8" name="テキスト ボックス 7">
            <a:extLst>
              <a:ext uri="{FF2B5EF4-FFF2-40B4-BE49-F238E27FC236}">
                <a16:creationId xmlns:a16="http://schemas.microsoft.com/office/drawing/2014/main" id="{3A66DE5D-F3CE-A696-8E00-73DF17E99911}"/>
              </a:ext>
            </a:extLst>
          </p:cNvPr>
          <p:cNvSpPr txBox="1"/>
          <p:nvPr/>
        </p:nvSpPr>
        <p:spPr>
          <a:xfrm>
            <a:off x="433647" y="4110975"/>
            <a:ext cx="10881360" cy="1261884"/>
          </a:xfrm>
          <a:prstGeom prst="rect">
            <a:avLst/>
          </a:prstGeom>
          <a:noFill/>
        </p:spPr>
        <p:txBody>
          <a:bodyPr wrap="square" rtlCol="0">
            <a:spAutoFit/>
          </a:bodyPr>
          <a:lstStyle/>
          <a:p>
            <a:r>
              <a:rPr lang="en-US" altLang="ja-JP" sz="2400" b="1" dirty="0"/>
              <a:t>LLM × BERT </a:t>
            </a:r>
            <a:r>
              <a:rPr lang="ja-JP" altLang="en-US" sz="2400" b="1" dirty="0"/>
              <a:t>でのアスペクト抽出は、細分化された観点で解析が可能</a:t>
            </a:r>
          </a:p>
          <a:p>
            <a:r>
              <a:rPr lang="ja-JP" altLang="en-US" sz="2400" b="1" dirty="0"/>
              <a:t>言語から、「なぜそのスコアなのか（理由・根拠）」を構造化できる</a:t>
            </a:r>
            <a:endParaRPr lang="ja-JP" altLang="en-US" sz="2400" dirty="0"/>
          </a:p>
          <a:p>
            <a:endParaRPr kumimoji="1" lang="ja-JP" altLang="en-US" sz="2800" dirty="0"/>
          </a:p>
        </p:txBody>
      </p:sp>
    </p:spTree>
    <p:extLst>
      <p:ext uri="{BB962C8B-B14F-4D97-AF65-F5344CB8AC3E}">
        <p14:creationId xmlns:p14="http://schemas.microsoft.com/office/powerpoint/2010/main" val="2930506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23C2F-B7FD-288B-BB5B-79FCA28A9553}"/>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D3B9EF6-2814-81EB-3FC8-BC00BDD13836}"/>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A28DCA16-EE11-9D4E-5EEE-5B3CD152E9A8}"/>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8139C811-D002-65D0-B411-EF94B8257F65}"/>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C4A8DB4-539F-90BC-9993-0F791B42F0E9}"/>
              </a:ext>
            </a:extLst>
          </p:cNvPr>
          <p:cNvSpPr txBox="1"/>
          <p:nvPr/>
        </p:nvSpPr>
        <p:spPr>
          <a:xfrm>
            <a:off x="2867510" y="2426841"/>
            <a:ext cx="6456980" cy="1569660"/>
          </a:xfrm>
          <a:prstGeom prst="rect">
            <a:avLst/>
          </a:prstGeom>
          <a:noFill/>
        </p:spPr>
        <p:txBody>
          <a:bodyPr wrap="square" rtlCol="0">
            <a:spAutoFit/>
          </a:bodyPr>
          <a:lstStyle/>
          <a:p>
            <a:r>
              <a:rPr lang="ja-JP" altLang="en-US" sz="9600" b="1" dirty="0"/>
              <a:t>価格最適化</a:t>
            </a:r>
            <a:endParaRPr kumimoji="1" lang="ja-JP" altLang="en-US" sz="9600" b="1" dirty="0"/>
          </a:p>
        </p:txBody>
      </p:sp>
    </p:spTree>
    <p:extLst>
      <p:ext uri="{BB962C8B-B14F-4D97-AF65-F5344CB8AC3E}">
        <p14:creationId xmlns:p14="http://schemas.microsoft.com/office/powerpoint/2010/main" val="53578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3562-B4FD-6D97-32B2-8D8556C43575}"/>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1F79A39-12A0-81C2-5ED1-F4609F5BE045}"/>
              </a:ext>
            </a:extLst>
          </p:cNvPr>
          <p:cNvSpPr>
            <a:spLocks noGrp="1"/>
          </p:cNvSpPr>
          <p:nvPr>
            <p:ph idx="1"/>
          </p:nvPr>
        </p:nvSpPr>
        <p:spPr>
          <a:xfrm>
            <a:off x="309282" y="559980"/>
            <a:ext cx="11350377" cy="1051471"/>
          </a:xfrm>
        </p:spPr>
        <p:txBody>
          <a:bodyPr>
            <a:normAutofit/>
          </a:bodyPr>
          <a:lstStyle/>
          <a:p>
            <a:r>
              <a:rPr kumimoji="1" lang="ja-JP" altLang="en-US" sz="2200" b="0" dirty="0"/>
              <a:t>現在、口コミ</a:t>
            </a:r>
            <a:r>
              <a:rPr lang="ja-JP" altLang="en-US" sz="2200" b="0" dirty="0"/>
              <a:t>感情</a:t>
            </a:r>
            <a:r>
              <a:rPr kumimoji="1" lang="ja-JP" altLang="en-US" sz="2200" b="0" dirty="0"/>
              <a:t>と需要予測</a:t>
            </a:r>
            <a:r>
              <a:rPr lang="ja-JP" altLang="en-US" sz="2200" b="0" dirty="0"/>
              <a:t>結果に基づく</a:t>
            </a:r>
            <a:r>
              <a:rPr lang="ja-JP" altLang="en-US" sz="2200" u="sng" dirty="0"/>
              <a:t>価格設定支援</a:t>
            </a:r>
            <a:r>
              <a:rPr kumimoji="1" lang="ja-JP" altLang="en-US" sz="2200" u="sng" dirty="0"/>
              <a:t>エージェントを開発中</a:t>
            </a:r>
            <a:endParaRPr kumimoji="1" lang="en-US" altLang="ja-JP" sz="2200" u="sng" dirty="0"/>
          </a:p>
        </p:txBody>
      </p:sp>
      <p:sp>
        <p:nvSpPr>
          <p:cNvPr id="3" name="テキスト プレースホルダー 2">
            <a:extLst>
              <a:ext uri="{FF2B5EF4-FFF2-40B4-BE49-F238E27FC236}">
                <a16:creationId xmlns:a16="http://schemas.microsoft.com/office/drawing/2014/main" id="{E08FCB95-85EB-7CA5-E7CA-2B7B3AD0551F}"/>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kumimoji="1" lang="en-US" altLang="ja-JP" sz="1500" dirty="0"/>
              <a:t>STEP3: </a:t>
            </a:r>
            <a:r>
              <a:rPr kumimoji="1" lang="ja-JP" altLang="en-US" sz="1500" dirty="0"/>
              <a:t>価格提案 ）</a:t>
            </a:r>
          </a:p>
        </p:txBody>
      </p:sp>
      <p:grpSp>
        <p:nvGrpSpPr>
          <p:cNvPr id="92" name="グループ化 91">
            <a:extLst>
              <a:ext uri="{FF2B5EF4-FFF2-40B4-BE49-F238E27FC236}">
                <a16:creationId xmlns:a16="http://schemas.microsoft.com/office/drawing/2014/main" id="{14B3E572-C5BF-612D-CAAF-877786257848}"/>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F7A18E77-DE1F-D9B3-42EC-669C0CF93CA5}"/>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2F202E4D-52E1-B7CA-49B3-A8658176656A}"/>
                </a:ext>
              </a:extLst>
            </p:cNvPr>
            <p:cNvGrpSpPr/>
            <p:nvPr/>
          </p:nvGrpSpPr>
          <p:grpSpPr>
            <a:xfrm>
              <a:off x="4596526" y="3332145"/>
              <a:ext cx="2907703" cy="1488548"/>
              <a:chOff x="9394303" y="2414620"/>
              <a:chExt cx="2907703" cy="1488548"/>
            </a:xfrm>
          </p:grpSpPr>
          <p:pic>
            <p:nvPicPr>
              <p:cNvPr id="29" name="図 28" descr="アイコン&#10;&#10;AI 生成コンテンツは誤りを含む可能性があります。">
                <a:extLst>
                  <a:ext uri="{FF2B5EF4-FFF2-40B4-BE49-F238E27FC236}">
                    <a16:creationId xmlns:a16="http://schemas.microsoft.com/office/drawing/2014/main" id="{03AA8983-FE86-E696-215E-508DAF3C7032}"/>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F6FFEB1E-04C8-2F11-F359-D9E1C75A8F4F}"/>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B92B6DE7-F6F4-312D-0A22-D7BB7D9EB74A}"/>
                  </a:ext>
                </a:extLst>
              </p:cNvPr>
              <p:cNvSpPr txBox="1"/>
              <p:nvPr/>
            </p:nvSpPr>
            <p:spPr>
              <a:xfrm>
                <a:off x="9394303" y="3379948"/>
                <a:ext cx="1841214" cy="523220"/>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59D3C603-3B59-05A9-B0DC-6DC1D529A764}"/>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773CA49D-C888-397E-A0C4-FEE3C45F4617}"/>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E221F665-6ABF-D6D4-3EAA-87F24E903859}"/>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42EF86CB-8E50-C469-E498-3CC2F1EEAD06}"/>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0CB14982-ACBF-430F-A985-0791ED59D3FE}"/>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10CCBBB6-F45D-4E68-ED4E-951F69CEE112}"/>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82B2D799-064E-7388-A89D-34429FF23DDD}"/>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49788516-F2DB-D523-915B-4C550047EEFF}"/>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87B297F5-CE91-7D0B-7617-AB2D54EF4F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983BC750-E17B-97BB-9DFD-13971669E1C0}"/>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EF9265A-64D4-EA1C-2F52-47EC7644F54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B9E1891A-0911-B798-83A2-6B81B52A033F}"/>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3630FC83-6A7D-5126-01C4-8007E5BF66BC}"/>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B605B99B-BC35-0CB2-967A-890BEF174659}"/>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四角形: 角を丸くする 72">
              <a:extLst>
                <a:ext uri="{FF2B5EF4-FFF2-40B4-BE49-F238E27FC236}">
                  <a16:creationId xmlns:a16="http://schemas.microsoft.com/office/drawing/2014/main" id="{BAD52184-1DF2-1DF4-3A7D-E708B235ED27}"/>
                </a:ext>
              </a:extLst>
            </p:cNvPr>
            <p:cNvSpPr/>
            <p:nvPr/>
          </p:nvSpPr>
          <p:spPr>
            <a:xfrm>
              <a:off x="5815658" y="4288527"/>
              <a:ext cx="3967389" cy="135620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74" name="直線コネクタ 73">
              <a:extLst>
                <a:ext uri="{FF2B5EF4-FFF2-40B4-BE49-F238E27FC236}">
                  <a16:creationId xmlns:a16="http://schemas.microsoft.com/office/drawing/2014/main" id="{9730224C-6763-FC1A-1028-5E119242A509}"/>
                </a:ext>
              </a:extLst>
            </p:cNvPr>
            <p:cNvCxnSpPr>
              <a:cxnSpLocks/>
              <a:stCxn id="32" idx="2"/>
            </p:cNvCxnSpPr>
            <p:nvPr/>
          </p:nvCxnSpPr>
          <p:spPr>
            <a:xfrm>
              <a:off x="6512199" y="3903563"/>
              <a:ext cx="0" cy="393910"/>
            </a:xfrm>
            <a:prstGeom prst="line">
              <a:avLst/>
            </a:prstGeom>
            <a:ln w="19050">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CB077A99-986B-13E8-C300-2469DD034A78}"/>
                </a:ext>
              </a:extLst>
            </p:cNvPr>
            <p:cNvSpPr txBox="1"/>
            <p:nvPr/>
          </p:nvSpPr>
          <p:spPr>
            <a:xfrm>
              <a:off x="5949562" y="4366633"/>
              <a:ext cx="3851958" cy="126188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u="sng" dirty="0">
                  <a:latin typeface="+mn-ea"/>
                </a:rPr>
                <a:t>価格提案の根拠</a:t>
              </a:r>
              <a:endParaRPr lang="en-US" altLang="ja-JP" sz="1600" b="1" u="sng" dirty="0">
                <a:latin typeface="+mn-ea"/>
              </a:endParaRPr>
            </a:p>
            <a:p>
              <a:r>
                <a:rPr lang="ja-JP" altLang="en-US" sz="1500" dirty="0">
                  <a:latin typeface="+mn-ea"/>
                </a:rPr>
                <a:t>・需要予測では</a:t>
              </a:r>
              <a:r>
                <a:rPr lang="ja-JP" altLang="en-US" sz="1500" b="1" dirty="0">
                  <a:solidFill>
                    <a:srgbClr val="882312"/>
                  </a:solidFill>
                  <a:latin typeface="+mn-ea"/>
                </a:rPr>
                <a:t>高い稼働率</a:t>
              </a:r>
              <a:r>
                <a:rPr lang="ja-JP" altLang="en-US" sz="1500" dirty="0">
                  <a:latin typeface="+mn-ea"/>
                </a:rPr>
                <a:t>が見込まれる</a:t>
              </a:r>
            </a:p>
            <a:p>
              <a:r>
                <a:rPr lang="ja-JP" altLang="en-US" sz="1500" dirty="0">
                  <a:latin typeface="+mn-ea"/>
                </a:rPr>
                <a:t>・競合ホテルと比較して</a:t>
              </a:r>
              <a:r>
                <a:rPr lang="ja-JP" altLang="en-US" sz="1500" b="1" dirty="0">
                  <a:solidFill>
                    <a:schemeClr val="accent4">
                      <a:lumMod val="50000"/>
                    </a:schemeClr>
                  </a:solidFill>
                  <a:latin typeface="+mn-ea"/>
                </a:rPr>
                <a:t>口コミ感情が低い</a:t>
              </a:r>
            </a:p>
            <a:p>
              <a:r>
                <a:rPr lang="ja-JP" altLang="en-US" sz="1500" b="1" dirty="0">
                  <a:latin typeface="+mn-ea"/>
                </a:rPr>
                <a:t>→</a:t>
              </a:r>
              <a:r>
                <a:rPr lang="ja-JP" altLang="en-US" sz="1500" b="1" dirty="0">
                  <a:solidFill>
                    <a:schemeClr val="accent4">
                      <a:lumMod val="50000"/>
                    </a:schemeClr>
                  </a:solidFill>
                  <a:latin typeface="+mn-ea"/>
                </a:rPr>
                <a:t>価格をやや低めに提案</a:t>
              </a:r>
            </a:p>
            <a:p>
              <a:r>
                <a:rPr lang="ja-JP" altLang="en-US" sz="1500" b="1" dirty="0">
                  <a:latin typeface="+mn-ea"/>
                </a:rPr>
                <a:t>→</a:t>
              </a:r>
              <a:r>
                <a:rPr lang="ja-JP" altLang="en-US" sz="1500" b="1" dirty="0">
                  <a:solidFill>
                    <a:schemeClr val="accent4">
                      <a:lumMod val="50000"/>
                    </a:schemeClr>
                  </a:solidFill>
                  <a:latin typeface="+mn-ea"/>
                </a:rPr>
                <a:t>清掃評価が低い</a:t>
              </a:r>
              <a:r>
                <a:rPr lang="ja-JP" altLang="en-US" sz="1500" dirty="0">
                  <a:latin typeface="+mn-ea"/>
                </a:rPr>
                <a:t>ため改善を推奨</a:t>
              </a:r>
              <a:endParaRPr lang="en-US" altLang="ja-JP" sz="1500" dirty="0">
                <a:latin typeface="+mn-ea"/>
              </a:endParaRPr>
            </a:p>
          </p:txBody>
        </p:sp>
        <p:grpSp>
          <p:nvGrpSpPr>
            <p:cNvPr id="88" name="グループ化 87">
              <a:extLst>
                <a:ext uri="{FF2B5EF4-FFF2-40B4-BE49-F238E27FC236}">
                  <a16:creationId xmlns:a16="http://schemas.microsoft.com/office/drawing/2014/main" id="{DA25C3FF-FB33-395B-5C6C-04CC9615B7C0}"/>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27E67F74-A1F8-622A-2954-8EC6C915B74D}"/>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A587DDAB-D598-BA66-AD36-77A459C47E1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D66BAE66-E0C9-0C6F-74CE-90A48AF165F2}"/>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99" name="グループ化 98">
            <a:extLst>
              <a:ext uri="{FF2B5EF4-FFF2-40B4-BE49-F238E27FC236}">
                <a16:creationId xmlns:a16="http://schemas.microsoft.com/office/drawing/2014/main" id="{9B26027B-CCEF-A3FD-8F91-75C34DF8C635}"/>
              </a:ext>
            </a:extLst>
          </p:cNvPr>
          <p:cNvGrpSpPr/>
          <p:nvPr/>
        </p:nvGrpSpPr>
        <p:grpSpPr>
          <a:xfrm>
            <a:off x="6066246" y="5531124"/>
            <a:ext cx="5476610" cy="1170367"/>
            <a:chOff x="6378337" y="5517652"/>
            <a:chExt cx="5476610" cy="1170367"/>
          </a:xfrm>
        </p:grpSpPr>
        <p:sp>
          <p:nvSpPr>
            <p:cNvPr id="94" name="正方形/長方形 93">
              <a:extLst>
                <a:ext uri="{FF2B5EF4-FFF2-40B4-BE49-F238E27FC236}">
                  <a16:creationId xmlns:a16="http://schemas.microsoft.com/office/drawing/2014/main" id="{5B9E883B-232D-A437-2F3F-39A04ED7C2CD}"/>
                </a:ext>
              </a:extLst>
            </p:cNvPr>
            <p:cNvSpPr/>
            <p:nvPr/>
          </p:nvSpPr>
          <p:spPr>
            <a:xfrm>
              <a:off x="6378337" y="5517652"/>
              <a:ext cx="5476610" cy="1170367"/>
            </a:xfrm>
            <a:prstGeom prst="rect">
              <a:avLst/>
            </a:prstGeom>
            <a:solidFill>
              <a:schemeClr val="accent4">
                <a:lumMod val="20000"/>
                <a:lumOff val="80000"/>
              </a:schemeClr>
            </a:solidFill>
            <a:ln w="28575">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846F6757-64AE-CFF0-45D0-B08B7B238C16}"/>
                </a:ext>
              </a:extLst>
            </p:cNvPr>
            <p:cNvSpPr txBox="1"/>
            <p:nvPr/>
          </p:nvSpPr>
          <p:spPr>
            <a:xfrm>
              <a:off x="6378337" y="5542779"/>
              <a:ext cx="1458907" cy="400110"/>
            </a:xfrm>
            <a:prstGeom prst="rect">
              <a:avLst/>
            </a:prstGeom>
            <a:noFill/>
          </p:spPr>
          <p:txBody>
            <a:bodyPr wrap="square" rtlCol="0">
              <a:spAutoFit/>
            </a:bodyPr>
            <a:lstStyle/>
            <a:p>
              <a:r>
                <a:rPr lang="ja-JP" altLang="en-US" sz="2000" b="1" u="sng" dirty="0"/>
                <a:t>今後の展望</a:t>
              </a:r>
              <a:endParaRPr lang="en-US" altLang="ja-JP" sz="2000" b="1" u="sng" dirty="0"/>
            </a:p>
          </p:txBody>
        </p:sp>
        <p:sp>
          <p:nvSpPr>
            <p:cNvPr id="96" name="テキスト ボックス 95">
              <a:extLst>
                <a:ext uri="{FF2B5EF4-FFF2-40B4-BE49-F238E27FC236}">
                  <a16:creationId xmlns:a16="http://schemas.microsoft.com/office/drawing/2014/main" id="{23FE58EE-FF88-61D1-B0A5-B45F50028C8F}"/>
                </a:ext>
              </a:extLst>
            </p:cNvPr>
            <p:cNvSpPr txBox="1"/>
            <p:nvPr/>
          </p:nvSpPr>
          <p:spPr>
            <a:xfrm>
              <a:off x="6378337" y="5920750"/>
              <a:ext cx="5385445" cy="707886"/>
            </a:xfrm>
            <a:prstGeom prst="rect">
              <a:avLst/>
            </a:prstGeom>
            <a:noFill/>
          </p:spPr>
          <p:txBody>
            <a:bodyPr wrap="square" rtlCol="0">
              <a:spAutoFit/>
            </a:bodyPr>
            <a:lstStyle/>
            <a:p>
              <a:r>
                <a:rPr lang="ja-JP" altLang="en-US" sz="2000" b="1" kern="1700" dirty="0"/>
                <a:t>想定シナリオを設定、完遂率を定量的に検証の上</a:t>
              </a:r>
              <a:endParaRPr lang="en-US" altLang="ja-JP" sz="2000" b="1" kern="1700" dirty="0"/>
            </a:p>
            <a:p>
              <a:r>
                <a:rPr lang="ja-JP" altLang="en-US" sz="2000" b="1" kern="1700" dirty="0"/>
                <a:t>本成果を</a:t>
              </a:r>
              <a:r>
                <a:rPr lang="en-US" altLang="ja-JP" sz="2000" b="1" kern="1700" dirty="0"/>
                <a:t>PoC</a:t>
              </a:r>
              <a:r>
                <a:rPr lang="ja-JP" altLang="en-US" sz="2000" b="1" kern="1700" dirty="0"/>
                <a:t>として実運用へ展開することを目指す</a:t>
              </a:r>
              <a:endParaRPr lang="en-US" altLang="ja-JP" sz="2000" b="1" kern="1700" dirty="0"/>
            </a:p>
          </p:txBody>
        </p:sp>
      </p:grpSp>
      <p:grpSp>
        <p:nvGrpSpPr>
          <p:cNvPr id="38" name="グループ化 37">
            <a:extLst>
              <a:ext uri="{FF2B5EF4-FFF2-40B4-BE49-F238E27FC236}">
                <a16:creationId xmlns:a16="http://schemas.microsoft.com/office/drawing/2014/main" id="{EDCA29E4-7646-D96E-AD7E-00D4CBAEA449}"/>
              </a:ext>
            </a:extLst>
          </p:cNvPr>
          <p:cNvGrpSpPr/>
          <p:nvPr/>
        </p:nvGrpSpPr>
        <p:grpSpPr>
          <a:xfrm>
            <a:off x="3011493" y="2839477"/>
            <a:ext cx="2050034" cy="1249155"/>
            <a:chOff x="7490243" y="1110610"/>
            <a:chExt cx="2050034" cy="1249155"/>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AABF120B-116E-722F-FC82-9EA6B137D6EB}"/>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イベント        規模は大きい？</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AABF120B-116E-722F-FC82-9EA6B137D6EB}"/>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CBEDBD3D-C2A4-8A5C-37EB-1775524560BC}"/>
                </a:ext>
              </a:extLst>
            </p:cNvPr>
            <p:cNvSpPr txBox="1"/>
            <p:nvPr/>
          </p:nvSpPr>
          <p:spPr>
            <a:xfrm>
              <a:off x="8068783" y="1110610"/>
              <a:ext cx="995984"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dirty="0">
                  <a:solidFill>
                    <a:srgbClr val="882312"/>
                  </a:solidFill>
                </a:rPr>
                <a:t>が評価</a:t>
              </a:r>
              <a:endParaRPr kumimoji="1" lang="ja-JP" altLang="en-US" sz="1200" b="1" dirty="0">
                <a:solidFill>
                  <a:srgbClr val="882312"/>
                </a:solidFill>
              </a:endParaRPr>
            </a:p>
          </p:txBody>
        </p:sp>
      </p:grpSp>
    </p:spTree>
    <p:extLst>
      <p:ext uri="{BB962C8B-B14F-4D97-AF65-F5344CB8AC3E}">
        <p14:creationId xmlns:p14="http://schemas.microsoft.com/office/powerpoint/2010/main" val="2765282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ECE53-8B18-80A2-0A03-7BB6F8058759}"/>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9F1124C-6C79-33EB-2588-72D6C7B312AF}"/>
              </a:ext>
            </a:extLst>
          </p:cNvPr>
          <p:cNvSpPr>
            <a:spLocks noGrp="1"/>
          </p:cNvSpPr>
          <p:nvPr>
            <p:ph idx="1"/>
          </p:nvPr>
        </p:nvSpPr>
        <p:spPr>
          <a:xfrm>
            <a:off x="309282" y="559980"/>
            <a:ext cx="11350377" cy="1051471"/>
          </a:xfrm>
        </p:spPr>
        <p:txBody>
          <a:bodyPr>
            <a:normAutofit/>
          </a:bodyPr>
          <a:lstStyle/>
          <a:p>
            <a:r>
              <a:rPr lang="ja-JP" altLang="en-US" sz="2200" u="sng" dirty="0"/>
              <a:t>生成</a:t>
            </a:r>
            <a:r>
              <a:rPr lang="en-US" altLang="ja-JP" sz="2200" u="sng" dirty="0"/>
              <a:t>AI</a:t>
            </a:r>
            <a:r>
              <a:rPr lang="ja-JP" altLang="en-US" sz="2200" u="sng" dirty="0"/>
              <a:t>のフライホイールが循環する構造を想定</a:t>
            </a:r>
            <a:endParaRPr kumimoji="1" lang="en-US" altLang="ja-JP" sz="2200" u="sng" dirty="0"/>
          </a:p>
        </p:txBody>
      </p:sp>
      <p:sp>
        <p:nvSpPr>
          <p:cNvPr id="3" name="テキスト プレースホルダー 2">
            <a:extLst>
              <a:ext uri="{FF2B5EF4-FFF2-40B4-BE49-F238E27FC236}">
                <a16:creationId xmlns:a16="http://schemas.microsoft.com/office/drawing/2014/main" id="{97230C72-AACE-1D77-077F-650B12556F4A}"/>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kumimoji="1" lang="en-US" altLang="ja-JP" sz="1500" dirty="0"/>
              <a:t>STEP3: </a:t>
            </a:r>
            <a:r>
              <a:rPr kumimoji="1" lang="ja-JP" altLang="en-US" sz="1500" dirty="0"/>
              <a:t>価格提案 ）</a:t>
            </a:r>
          </a:p>
        </p:txBody>
      </p:sp>
      <p:grpSp>
        <p:nvGrpSpPr>
          <p:cNvPr id="92" name="グループ化 91">
            <a:extLst>
              <a:ext uri="{FF2B5EF4-FFF2-40B4-BE49-F238E27FC236}">
                <a16:creationId xmlns:a16="http://schemas.microsoft.com/office/drawing/2014/main" id="{B75C478B-5877-D9F4-BB37-90A30EC7B75F}"/>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3A2A4776-71C7-887F-A1AA-0A16728472F6}"/>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292AD1F7-7209-1D2C-04AA-83624D9879E8}"/>
                </a:ext>
              </a:extLst>
            </p:cNvPr>
            <p:cNvGrpSpPr/>
            <p:nvPr/>
          </p:nvGrpSpPr>
          <p:grpSpPr>
            <a:xfrm>
              <a:off x="4596526" y="3332145"/>
              <a:ext cx="2907703" cy="1488548"/>
              <a:chOff x="9394303" y="2414620"/>
              <a:chExt cx="2907703" cy="1488548"/>
            </a:xfrm>
          </p:grpSpPr>
          <p:pic>
            <p:nvPicPr>
              <p:cNvPr id="29" name="図 28" descr="アイコン&#10;&#10;AI 生成コンテンツは誤りを含む可能性があります。">
                <a:extLst>
                  <a:ext uri="{FF2B5EF4-FFF2-40B4-BE49-F238E27FC236}">
                    <a16:creationId xmlns:a16="http://schemas.microsoft.com/office/drawing/2014/main" id="{D22BD852-09A8-2349-59CE-7D27448F71BC}"/>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5909983A-9719-8CC9-5F6A-8CA55C53576E}"/>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249E0C0D-3C0A-2482-46B7-8E64341F6B1F}"/>
                  </a:ext>
                </a:extLst>
              </p:cNvPr>
              <p:cNvSpPr txBox="1"/>
              <p:nvPr/>
            </p:nvSpPr>
            <p:spPr>
              <a:xfrm>
                <a:off x="9394303" y="3379948"/>
                <a:ext cx="1841214" cy="523220"/>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15939150-9875-550A-7F27-7F3501A3B27D}"/>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B5034C81-926D-2C24-3577-CA045FB849C4}"/>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CF11101A-9585-9B9D-2457-4C9580376989}"/>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60A5BCC1-4807-E18A-C329-C7EDE5EBDAF6}"/>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E4319CC5-B1B7-69E9-1924-79A59E2D7782}"/>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FD4D1783-5CF4-B3F7-6D23-57F001994D4F}"/>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ECB31D8C-0E84-3DA9-4BFA-19BE16E4840C}"/>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280DFBC7-7B07-24C6-9BD7-BB4EEF342601}"/>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109CE08F-CD22-DB48-02CA-1D16CAAEC0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885F5842-43B1-ACFC-B938-1BAF580536F9}"/>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5AAF036-875F-E615-41C6-D1C8D3161C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5509DA3D-E784-D186-3E52-BE8F1D87A4AB}"/>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525BFB9E-F6CE-C7B0-EDB9-B9F331940117}"/>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78444C99-8695-0075-D20E-D56E9CFB6DCE}"/>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8" name="グループ化 87">
              <a:extLst>
                <a:ext uri="{FF2B5EF4-FFF2-40B4-BE49-F238E27FC236}">
                  <a16:creationId xmlns:a16="http://schemas.microsoft.com/office/drawing/2014/main" id="{82992F26-539D-8545-DA16-87E387189B55}"/>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CC6A910D-239B-56BC-E3D7-CA5161E49684}"/>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51E7CD62-3565-37EF-04EB-BC9AB1ECC8F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5FD3B5C1-5C1F-FA91-6483-F5E6C3410FAC}"/>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38" name="グループ化 37">
            <a:extLst>
              <a:ext uri="{FF2B5EF4-FFF2-40B4-BE49-F238E27FC236}">
                <a16:creationId xmlns:a16="http://schemas.microsoft.com/office/drawing/2014/main" id="{DBBE548D-7AA7-5230-BDCB-88EA17F854C5}"/>
              </a:ext>
            </a:extLst>
          </p:cNvPr>
          <p:cNvGrpSpPr/>
          <p:nvPr/>
        </p:nvGrpSpPr>
        <p:grpSpPr>
          <a:xfrm>
            <a:off x="3011493" y="2837228"/>
            <a:ext cx="2050034" cy="1251404"/>
            <a:chOff x="7490243" y="1108361"/>
            <a:chExt cx="2050034" cy="1251404"/>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E8B06FFF-8CE7-0978-539A-5CA64E723935}"/>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E8B06FFF-8CE7-0978-539A-5CA64E723935}"/>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3037B044-4106-83DD-CB96-9F9B327C2379}"/>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a:solidFill>
                    <a:srgbClr val="882312"/>
                  </a:solidFill>
                </a:rPr>
                <a:t>の</a:t>
              </a:r>
              <a:r>
                <a:rPr lang="ja-JP" altLang="en-US" sz="1200" b="1" dirty="0">
                  <a:solidFill>
                    <a:srgbClr val="882312"/>
                  </a:solidFill>
                </a:rPr>
                <a:t>評価</a:t>
              </a:r>
              <a:endParaRPr kumimoji="1" lang="ja-JP" altLang="en-US" sz="1200" b="1" dirty="0">
                <a:solidFill>
                  <a:srgbClr val="882312"/>
                </a:solidFill>
              </a:endParaRPr>
            </a:p>
          </p:txBody>
        </p:sp>
      </p:grpSp>
      <p:grpSp>
        <p:nvGrpSpPr>
          <p:cNvPr id="7" name="グループ化 6">
            <a:extLst>
              <a:ext uri="{FF2B5EF4-FFF2-40B4-BE49-F238E27FC236}">
                <a16:creationId xmlns:a16="http://schemas.microsoft.com/office/drawing/2014/main" id="{4FB0C65C-A5E3-05EE-EA7C-BFB5509F7A76}"/>
              </a:ext>
            </a:extLst>
          </p:cNvPr>
          <p:cNvGrpSpPr/>
          <p:nvPr/>
        </p:nvGrpSpPr>
        <p:grpSpPr>
          <a:xfrm>
            <a:off x="6751324" y="4179584"/>
            <a:ext cx="3403335" cy="1521135"/>
            <a:chOff x="6836797" y="1911686"/>
            <a:chExt cx="3403335" cy="1521135"/>
          </a:xfrm>
        </p:grpSpPr>
        <p:sp>
          <p:nvSpPr>
            <p:cNvPr id="4" name="吹き出し: 四角形 3">
              <a:extLst>
                <a:ext uri="{FF2B5EF4-FFF2-40B4-BE49-F238E27FC236}">
                  <a16:creationId xmlns:a16="http://schemas.microsoft.com/office/drawing/2014/main" id="{8A7FB63C-99B3-56A3-02E5-8814082CDE09}"/>
                </a:ext>
              </a:extLst>
            </p:cNvPr>
            <p:cNvSpPr/>
            <p:nvPr/>
          </p:nvSpPr>
          <p:spPr>
            <a:xfrm>
              <a:off x="6836797" y="1930844"/>
              <a:ext cx="2036701" cy="992199"/>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ltLang="ja-JP" sz="1400" b="1" dirty="0"/>
            </a:p>
          </p:txBody>
        </p:sp>
        <p:sp>
          <p:nvSpPr>
            <p:cNvPr id="5" name="テキスト ボックス 4">
              <a:extLst>
                <a:ext uri="{FF2B5EF4-FFF2-40B4-BE49-F238E27FC236}">
                  <a16:creationId xmlns:a16="http://schemas.microsoft.com/office/drawing/2014/main" id="{ED3BE88B-4245-4EB2-EE26-CA7862033C6D}"/>
                </a:ext>
              </a:extLst>
            </p:cNvPr>
            <p:cNvSpPr txBox="1"/>
            <p:nvPr/>
          </p:nvSpPr>
          <p:spPr>
            <a:xfrm>
              <a:off x="8943736" y="3121712"/>
              <a:ext cx="1296396" cy="311109"/>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6" name="図 5" descr="アイコン&#10;&#10;AI 生成コンテンツは誤りを含む可能性があります。">
              <a:extLst>
                <a:ext uri="{FF2B5EF4-FFF2-40B4-BE49-F238E27FC236}">
                  <a16:creationId xmlns:a16="http://schemas.microsoft.com/office/drawing/2014/main" id="{378FEB8F-C094-8FDE-B4D5-30062C9F8DA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90327" y="1911686"/>
              <a:ext cx="819283" cy="1213341"/>
            </a:xfrm>
            <a:prstGeom prst="rect">
              <a:avLst/>
            </a:prstGeom>
          </p:spPr>
        </p:pic>
      </p:grpSp>
      <p:sp>
        <p:nvSpPr>
          <p:cNvPr id="14" name="テキスト ボックス 13">
            <a:extLst>
              <a:ext uri="{FF2B5EF4-FFF2-40B4-BE49-F238E27FC236}">
                <a16:creationId xmlns:a16="http://schemas.microsoft.com/office/drawing/2014/main" id="{5F214296-4EA7-E3A2-1C71-EB031CFFAF77}"/>
              </a:ext>
            </a:extLst>
          </p:cNvPr>
          <p:cNvSpPr txBox="1"/>
          <p:nvPr/>
        </p:nvSpPr>
        <p:spPr>
          <a:xfrm>
            <a:off x="6622047" y="4405194"/>
            <a:ext cx="2283576" cy="584775"/>
          </a:xfrm>
          <a:prstGeom prst="rect">
            <a:avLst/>
          </a:prstGeom>
          <a:noFill/>
        </p:spPr>
        <p:txBody>
          <a:bodyPr wrap="square" rtlCol="0">
            <a:spAutoFit/>
          </a:bodyPr>
          <a:lstStyle/>
          <a:p>
            <a:pPr algn="ctr"/>
            <a:r>
              <a:rPr lang="ja-JP" altLang="en-US" sz="1600" b="1" dirty="0"/>
              <a:t>実際の稼働状況や</a:t>
            </a:r>
            <a:endParaRPr lang="en-US" altLang="ja-JP" sz="1600" b="1" dirty="0"/>
          </a:p>
          <a:p>
            <a:pPr algn="ctr"/>
            <a:r>
              <a:rPr lang="ja-JP" altLang="en-US" sz="1600" b="1" dirty="0"/>
              <a:t>売り上げは～～であった</a:t>
            </a:r>
            <a:endParaRPr kumimoji="1" lang="ja-JP" altLang="en-US" sz="1600" dirty="0"/>
          </a:p>
        </p:txBody>
      </p:sp>
      <p:sp>
        <p:nvSpPr>
          <p:cNvPr id="15" name="矢印: 左カーブ 14">
            <a:extLst>
              <a:ext uri="{FF2B5EF4-FFF2-40B4-BE49-F238E27FC236}">
                <a16:creationId xmlns:a16="http://schemas.microsoft.com/office/drawing/2014/main" id="{3655B047-A79F-314C-3B61-6E20FDAC024C}"/>
              </a:ext>
            </a:extLst>
          </p:cNvPr>
          <p:cNvSpPr/>
          <p:nvPr/>
        </p:nvSpPr>
        <p:spPr>
          <a:xfrm rot="7025333">
            <a:off x="5267688" y="3704870"/>
            <a:ext cx="532232" cy="2123886"/>
          </a:xfrm>
          <a:prstGeom prst="curvedLeft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6" name="テキスト ボックス 15">
            <a:extLst>
              <a:ext uri="{FF2B5EF4-FFF2-40B4-BE49-F238E27FC236}">
                <a16:creationId xmlns:a16="http://schemas.microsoft.com/office/drawing/2014/main" id="{85E1BD37-64E0-7569-C850-8C534E26E7A7}"/>
              </a:ext>
            </a:extLst>
          </p:cNvPr>
          <p:cNvSpPr txBox="1"/>
          <p:nvPr/>
        </p:nvSpPr>
        <p:spPr>
          <a:xfrm>
            <a:off x="4554313" y="5304235"/>
            <a:ext cx="3973428" cy="646331"/>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b="1" u="sng" dirty="0">
                <a:solidFill>
                  <a:schemeClr val="bg1">
                    <a:lumMod val="25000"/>
                  </a:schemeClr>
                </a:solidFill>
              </a:rPr>
              <a:t>フィードバックを</a:t>
            </a:r>
            <a:r>
              <a:rPr kumimoji="1" lang="ja-JP" altLang="en-US" b="1" u="sng" dirty="0">
                <a:solidFill>
                  <a:schemeClr val="bg1">
                    <a:lumMod val="25000"/>
                  </a:schemeClr>
                </a:solidFill>
              </a:rPr>
              <a:t>学習</a:t>
            </a:r>
            <a:r>
              <a:rPr lang="ja-JP" altLang="en-US" b="1" u="sng" dirty="0">
                <a:solidFill>
                  <a:schemeClr val="bg1">
                    <a:lumMod val="25000"/>
                  </a:schemeClr>
                </a:solidFill>
              </a:rPr>
              <a:t>し、評価重みが変動</a:t>
            </a:r>
            <a:endParaRPr lang="en-US" altLang="ja-JP" b="1" u="sng" dirty="0">
              <a:solidFill>
                <a:schemeClr val="bg1">
                  <a:lumMod val="25000"/>
                </a:schemeClr>
              </a:solidFill>
            </a:endParaRPr>
          </a:p>
          <a:p>
            <a:r>
              <a:rPr lang="ja-JP" altLang="en-US" b="1" u="sng" dirty="0">
                <a:solidFill>
                  <a:schemeClr val="bg1">
                    <a:lumMod val="25000"/>
                  </a:schemeClr>
                </a:solidFill>
              </a:rPr>
              <a:t>最適な価格を提案できるように</a:t>
            </a:r>
            <a:endParaRPr kumimoji="1" lang="ja-JP" altLang="en-US" b="1" u="sng" dirty="0">
              <a:solidFill>
                <a:schemeClr val="bg1">
                  <a:lumMod val="25000"/>
                </a:schemeClr>
              </a:solidFill>
            </a:endParaRPr>
          </a:p>
        </p:txBody>
      </p:sp>
    </p:spTree>
    <p:extLst>
      <p:ext uri="{BB962C8B-B14F-4D97-AF65-F5344CB8AC3E}">
        <p14:creationId xmlns:p14="http://schemas.microsoft.com/office/powerpoint/2010/main" val="3225324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FA048-6AA5-F54E-76FA-6A02EF3F63D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94CFBC7-3DB3-A984-CBA8-0A1185A810E9}"/>
              </a:ext>
            </a:extLst>
          </p:cNvPr>
          <p:cNvSpPr>
            <a:spLocks noGrp="1"/>
          </p:cNvSpPr>
          <p:nvPr>
            <p:ph type="body" sz="quarter" idx="11"/>
          </p:nvPr>
        </p:nvSpPr>
        <p:spPr/>
        <p:txBody>
          <a:bodyPr>
            <a:normAutofit fontScale="92500" lnSpcReduction="10000"/>
          </a:bodyPr>
          <a:lstStyle/>
          <a:p>
            <a:r>
              <a:rPr lang="ja-JP" altLang="en-US" b="1" dirty="0"/>
              <a:t>価格最適化モデルの検討</a:t>
            </a:r>
            <a:endParaRPr kumimoji="1" lang="ja-JP" altLang="en-US" b="1" dirty="0"/>
          </a:p>
        </p:txBody>
      </p:sp>
      <p:cxnSp>
        <p:nvCxnSpPr>
          <p:cNvPr id="5" name="直線コネクタ 4">
            <a:extLst>
              <a:ext uri="{FF2B5EF4-FFF2-40B4-BE49-F238E27FC236}">
                <a16:creationId xmlns:a16="http://schemas.microsoft.com/office/drawing/2014/main" id="{BD889023-C771-CF15-A3B4-F7FD388E3A67}"/>
              </a:ext>
            </a:extLst>
          </p:cNvPr>
          <p:cNvCxnSpPr/>
          <p:nvPr/>
        </p:nvCxnSpPr>
        <p:spPr>
          <a:xfrm>
            <a:off x="5862188" y="568960"/>
            <a:ext cx="48989" cy="6289040"/>
          </a:xfrm>
          <a:prstGeom prst="line">
            <a:avLst/>
          </a:prstGeom>
          <a:ln w="38100">
            <a:solidFill>
              <a:srgbClr val="1F4944"/>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FC68733B-E972-AB41-931C-745FE5827873}"/>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A8FEADF-EEF0-DB6F-79DF-2C647F8D1110}"/>
              </a:ext>
            </a:extLst>
          </p:cNvPr>
          <p:cNvSpPr txBox="1"/>
          <p:nvPr/>
        </p:nvSpPr>
        <p:spPr>
          <a:xfrm>
            <a:off x="985208" y="577144"/>
            <a:ext cx="376376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 </a:t>
            </a:r>
            <a:r>
              <a:rPr lang="en-US" altLang="ja-JP" sz="1600" b="1" dirty="0">
                <a:solidFill>
                  <a:schemeClr val="bg1"/>
                </a:solidFill>
              </a:rPr>
              <a:t>1 :</a:t>
            </a:r>
            <a:r>
              <a:rPr lang="ja-JP" altLang="en-US" sz="1600" b="1" dirty="0">
                <a:solidFill>
                  <a:schemeClr val="bg1"/>
                </a:solidFill>
              </a:rPr>
              <a:t> 需要予測結果を用いた価格設定</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0300CBC3-15F5-659B-CDCD-1D29EF52A492}"/>
              </a:ext>
            </a:extLst>
          </p:cNvPr>
          <p:cNvSpPr txBox="1"/>
          <p:nvPr/>
        </p:nvSpPr>
        <p:spPr>
          <a:xfrm>
            <a:off x="1206876" y="3694071"/>
            <a:ext cx="335028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案２</a:t>
            </a:r>
            <a:r>
              <a:rPr lang="en-US" altLang="ja-JP" sz="1600" b="1" dirty="0">
                <a:solidFill>
                  <a:schemeClr val="bg1"/>
                </a:solidFill>
              </a:rPr>
              <a:t>: </a:t>
            </a:r>
            <a:r>
              <a:rPr lang="ja-JP" altLang="en-US" sz="1600" b="1" dirty="0">
                <a:solidFill>
                  <a:schemeClr val="bg1"/>
                </a:solidFill>
              </a:rPr>
              <a:t>複数要因を考慮した価格設定</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13822A6C-AFEF-212D-EBCD-905DAE8579A5}"/>
              </a:ext>
            </a:extLst>
          </p:cNvPr>
          <p:cNvSpPr txBox="1"/>
          <p:nvPr/>
        </p:nvSpPr>
        <p:spPr>
          <a:xfrm>
            <a:off x="7499077" y="586604"/>
            <a:ext cx="3079484"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案３：</a:t>
            </a:r>
            <a:r>
              <a:rPr lang="en-US" altLang="ja-JP" sz="1600" b="1" dirty="0">
                <a:solidFill>
                  <a:schemeClr val="bg1"/>
                </a:solidFill>
              </a:rPr>
              <a:t>LLM</a:t>
            </a:r>
            <a:r>
              <a:rPr lang="ja-JP" altLang="en-US" sz="1600" b="1" dirty="0">
                <a:solidFill>
                  <a:schemeClr val="bg1"/>
                </a:solidFill>
              </a:rPr>
              <a:t>による価格決定支援</a:t>
            </a:r>
            <a:endParaRPr kumimoji="1" lang="ja-JP" altLang="en-US" sz="1600" b="1" dirty="0">
              <a:solidFill>
                <a:schemeClr val="bg1"/>
              </a:solidFill>
            </a:endParaRPr>
          </a:p>
        </p:txBody>
      </p:sp>
      <p:sp>
        <p:nvSpPr>
          <p:cNvPr id="29" name="テキスト ボックス 28">
            <a:extLst>
              <a:ext uri="{FF2B5EF4-FFF2-40B4-BE49-F238E27FC236}">
                <a16:creationId xmlns:a16="http://schemas.microsoft.com/office/drawing/2014/main" id="{6F9D62D0-00A7-66AA-E989-FB1A474AEF09}"/>
              </a:ext>
            </a:extLst>
          </p:cNvPr>
          <p:cNvSpPr txBox="1"/>
          <p:nvPr/>
        </p:nvSpPr>
        <p:spPr>
          <a:xfrm>
            <a:off x="169062" y="3056451"/>
            <a:ext cx="5742114" cy="584775"/>
          </a:xfrm>
          <a:prstGeom prst="rect">
            <a:avLst/>
          </a:prstGeom>
          <a:noFill/>
        </p:spPr>
        <p:txBody>
          <a:bodyPr wrap="square" rtlCol="0">
            <a:spAutoFit/>
          </a:bodyPr>
          <a:lstStyle/>
          <a:p>
            <a:r>
              <a:rPr lang="ja-JP" altLang="en-US" sz="1600" b="1" dirty="0"/>
              <a:t>     →  需要予測だけでは</a:t>
            </a:r>
            <a:r>
              <a:rPr lang="ja-JP" altLang="en-US" sz="1600" b="1" u="sng" dirty="0">
                <a:solidFill>
                  <a:srgbClr val="882312"/>
                </a:solidFill>
              </a:rPr>
              <a:t>価格判断の根拠が弱い</a:t>
            </a:r>
            <a:br>
              <a:rPr lang="en-US" altLang="ja-JP" sz="1600" u="sng" dirty="0">
                <a:solidFill>
                  <a:srgbClr val="882312"/>
                </a:solidFill>
              </a:rPr>
            </a:br>
            <a:r>
              <a:rPr lang="ja-JP" altLang="en-US" sz="1600" dirty="0"/>
              <a:t>           </a:t>
            </a:r>
            <a:r>
              <a:rPr lang="en-US" altLang="ja-JP" sz="1600" dirty="0"/>
              <a:t>(</a:t>
            </a:r>
            <a:r>
              <a:rPr lang="ja-JP" altLang="en-US" sz="1600" dirty="0"/>
              <a:t>実際、価格</a:t>
            </a:r>
            <a:r>
              <a:rPr lang="en-US" altLang="ja-JP" sz="1600" dirty="0"/>
              <a:t>×</a:t>
            </a:r>
            <a:r>
              <a:rPr lang="ja-JP" altLang="en-US" sz="1600" dirty="0"/>
              <a:t>需要の相関が低く、他要因を無視できない</a:t>
            </a:r>
            <a:r>
              <a:rPr lang="en-US" altLang="ja-JP" sz="1600" dirty="0"/>
              <a:t>)</a:t>
            </a:r>
            <a:endParaRPr lang="ja-JP" altLang="en-US" sz="1600" dirty="0">
              <a:latin typeface="+mn-ea"/>
            </a:endParaRPr>
          </a:p>
        </p:txBody>
      </p:sp>
      <p:sp>
        <p:nvSpPr>
          <p:cNvPr id="43" name="コンテンツ プレースホルダー 1">
            <a:extLst>
              <a:ext uri="{FF2B5EF4-FFF2-40B4-BE49-F238E27FC236}">
                <a16:creationId xmlns:a16="http://schemas.microsoft.com/office/drawing/2014/main" id="{5F6B25FC-5D9A-35FB-3A4E-8B8E19C3A48E}"/>
              </a:ext>
            </a:extLst>
          </p:cNvPr>
          <p:cNvSpPr txBox="1">
            <a:spLocks/>
          </p:cNvSpPr>
          <p:nvPr/>
        </p:nvSpPr>
        <p:spPr>
          <a:xfrm>
            <a:off x="382482" y="845448"/>
            <a:ext cx="5646627"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仮説：需要予測結果だけで最適価格を選べるか？</a:t>
            </a:r>
            <a:endParaRPr lang="en-US" altLang="ja-JP" sz="1600" dirty="0"/>
          </a:p>
        </p:txBody>
      </p:sp>
      <p:sp>
        <p:nvSpPr>
          <p:cNvPr id="45" name="コンテンツ プレースホルダー 1">
            <a:extLst>
              <a:ext uri="{FF2B5EF4-FFF2-40B4-BE49-F238E27FC236}">
                <a16:creationId xmlns:a16="http://schemas.microsoft.com/office/drawing/2014/main" id="{B31A8E9B-97C3-071D-B7A5-A488923D1D8B}"/>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47" name="テキスト ボックス 46">
            <a:extLst>
              <a:ext uri="{FF2B5EF4-FFF2-40B4-BE49-F238E27FC236}">
                <a16:creationId xmlns:a16="http://schemas.microsoft.com/office/drawing/2014/main" id="{628D07D2-A9A7-45FE-28E1-DF433CEF1681}"/>
              </a:ext>
            </a:extLst>
          </p:cNvPr>
          <p:cNvSpPr txBox="1"/>
          <p:nvPr/>
        </p:nvSpPr>
        <p:spPr>
          <a:xfrm>
            <a:off x="6029109" y="3816923"/>
            <a:ext cx="6126425" cy="3139321"/>
          </a:xfrm>
          <a:prstGeom prst="rect">
            <a:avLst/>
          </a:prstGeom>
          <a:noFill/>
        </p:spPr>
        <p:txBody>
          <a:bodyPr wrap="square" rtlCol="0">
            <a:spAutoFit/>
          </a:bodyPr>
          <a:lstStyle/>
          <a:p>
            <a:r>
              <a:rPr kumimoji="1" lang="ja-JP" altLang="en-US" b="1" dirty="0"/>
              <a:t>結果・考察</a:t>
            </a:r>
            <a:endParaRPr kumimoji="1" lang="en-US" altLang="ja-JP" b="1" dirty="0"/>
          </a:p>
          <a:p>
            <a:endParaRPr lang="en-US" altLang="ja-JP" b="1" dirty="0"/>
          </a:p>
          <a:p>
            <a:r>
              <a:rPr lang="ja-JP" altLang="en-US" dirty="0"/>
              <a:t>・需要予測のみでは価格と需要の相関が低く、</a:t>
            </a:r>
            <a:endParaRPr lang="en-US" altLang="ja-JP" dirty="0"/>
          </a:p>
          <a:p>
            <a:r>
              <a:rPr lang="en-US" altLang="ja-JP" dirty="0"/>
              <a:t>                         </a:t>
            </a:r>
            <a:r>
              <a:rPr lang="ja-JP" altLang="en-US" dirty="0"/>
              <a:t>価格判断の根拠が不足する</a:t>
            </a:r>
            <a:br>
              <a:rPr lang="ja-JP" altLang="en-US" dirty="0"/>
            </a:br>
            <a:r>
              <a:rPr lang="ja-JP" altLang="en-US" dirty="0"/>
              <a:t>・</a:t>
            </a:r>
            <a:r>
              <a:rPr lang="en-US" altLang="ja-JP" dirty="0"/>
              <a:t>LLM</a:t>
            </a:r>
            <a:r>
              <a:rPr lang="ja-JP" altLang="en-US" dirty="0"/>
              <a:t>を活用することで、口コミ感情や競合状況など</a:t>
            </a:r>
            <a:endParaRPr lang="en-US" altLang="ja-JP" dirty="0"/>
          </a:p>
          <a:p>
            <a:r>
              <a:rPr lang="en-US" altLang="ja-JP" dirty="0"/>
              <a:t>  </a:t>
            </a:r>
            <a:r>
              <a:rPr lang="ja-JP" altLang="en-US" dirty="0"/>
              <a:t>複数要因を考慮した</a:t>
            </a:r>
            <a:endParaRPr lang="en-US" altLang="ja-JP" dirty="0"/>
          </a:p>
          <a:p>
            <a:r>
              <a:rPr lang="ja-JP" altLang="en-US" dirty="0"/>
              <a:t>  根拠ある価格提案が実現できると考えられる</a:t>
            </a:r>
            <a:endParaRPr lang="en-US" altLang="ja-JP" dirty="0"/>
          </a:p>
          <a:p>
            <a:endParaRPr lang="ja-JP" altLang="en-US" dirty="0"/>
          </a:p>
          <a:p>
            <a:r>
              <a:rPr lang="ja-JP" altLang="en-US" b="1" dirty="0"/>
              <a:t>→ </a:t>
            </a:r>
            <a:r>
              <a:rPr lang="ja-JP" altLang="en-US" b="1" u="sng" dirty="0"/>
              <a:t>価格意思決定支援における</a:t>
            </a:r>
            <a:r>
              <a:rPr lang="en-US" altLang="ja-JP" b="1" u="sng" dirty="0"/>
              <a:t>LLM</a:t>
            </a:r>
            <a:r>
              <a:rPr lang="ja-JP" altLang="en-US" b="1" u="sng" dirty="0"/>
              <a:t>活用の有用性を確認</a:t>
            </a:r>
            <a:endParaRPr kumimoji="1" lang="en-US" altLang="ja-JP" b="1" u="sng" dirty="0"/>
          </a:p>
          <a:p>
            <a:endParaRPr kumimoji="1" lang="en-US" altLang="ja-JP" dirty="0"/>
          </a:p>
          <a:p>
            <a:endParaRPr kumimoji="1" lang="en-US" altLang="ja-JP" dirty="0"/>
          </a:p>
        </p:txBody>
      </p:sp>
      <p:pic>
        <p:nvPicPr>
          <p:cNvPr id="6" name="図 5">
            <a:extLst>
              <a:ext uri="{FF2B5EF4-FFF2-40B4-BE49-F238E27FC236}">
                <a16:creationId xmlns:a16="http://schemas.microsoft.com/office/drawing/2014/main" id="{19DBD64A-1163-FB3B-8361-EBE7F238D905}"/>
              </a:ext>
            </a:extLst>
          </p:cNvPr>
          <p:cNvPicPr>
            <a:picLocks noChangeAspect="1"/>
          </p:cNvPicPr>
          <p:nvPr/>
        </p:nvPicPr>
        <p:blipFill>
          <a:blip r:embed="rId2" cstate="print">
            <a:extLst>
              <a:ext uri="{28A0092B-C50C-407E-A947-70E740481C1C}">
                <a14:useLocalDpi xmlns:a14="http://schemas.microsoft.com/office/drawing/2010/main" val="0"/>
              </a:ext>
            </a:extLst>
          </a:blip>
          <a:srcRect l="-1755" t="65812" r="60843" b="-516"/>
          <a:stretch>
            <a:fillRect/>
          </a:stretch>
        </p:blipFill>
        <p:spPr>
          <a:xfrm>
            <a:off x="2417017" y="1420113"/>
            <a:ext cx="864167" cy="690906"/>
          </a:xfrm>
          <a:prstGeom prst="rect">
            <a:avLst/>
          </a:prstGeom>
        </p:spPr>
      </p:pic>
      <p:sp>
        <p:nvSpPr>
          <p:cNvPr id="7" name="テキスト ボックス 6">
            <a:extLst>
              <a:ext uri="{FF2B5EF4-FFF2-40B4-BE49-F238E27FC236}">
                <a16:creationId xmlns:a16="http://schemas.microsoft.com/office/drawing/2014/main" id="{2E7A4D6E-6ED1-8A45-2D8B-26673E3D4840}"/>
              </a:ext>
            </a:extLst>
          </p:cNvPr>
          <p:cNvSpPr txBox="1"/>
          <p:nvPr/>
        </p:nvSpPr>
        <p:spPr>
          <a:xfrm>
            <a:off x="2278885" y="2112243"/>
            <a:ext cx="1638064" cy="584775"/>
          </a:xfrm>
          <a:prstGeom prst="rect">
            <a:avLst/>
          </a:prstGeom>
          <a:noFill/>
        </p:spPr>
        <p:txBody>
          <a:bodyPr wrap="square" rtlCol="0">
            <a:spAutoFit/>
          </a:bodyPr>
          <a:lstStyle/>
          <a:p>
            <a:r>
              <a:rPr lang="ja-JP" altLang="en-US" sz="1600" b="1" dirty="0">
                <a:latin typeface="+mn-ea"/>
              </a:rPr>
              <a:t>需要</a:t>
            </a:r>
            <a:r>
              <a:rPr lang="en-US" altLang="ja-JP" sz="1600" b="1" dirty="0">
                <a:latin typeface="+mn-ea"/>
              </a:rPr>
              <a:t>(</a:t>
            </a:r>
            <a:r>
              <a:rPr lang="ja-JP" altLang="en-US" sz="1600" b="1" dirty="0">
                <a:latin typeface="+mn-ea"/>
              </a:rPr>
              <a:t>稼働率</a:t>
            </a:r>
            <a:r>
              <a:rPr lang="en-US" altLang="ja-JP" sz="1600" b="1" dirty="0">
                <a:latin typeface="+mn-ea"/>
              </a:rPr>
              <a:t>)</a:t>
            </a:r>
            <a:br>
              <a:rPr lang="en-US" altLang="ja-JP" sz="1600" b="1" dirty="0">
                <a:latin typeface="+mn-ea"/>
              </a:rPr>
            </a:br>
            <a:r>
              <a:rPr lang="ja-JP" altLang="en-US" sz="1600" b="1" dirty="0">
                <a:latin typeface="+mn-ea"/>
              </a:rPr>
              <a:t>予測結果</a:t>
            </a:r>
            <a:endParaRPr lang="en-US" altLang="ja-JP" sz="1600" b="1" dirty="0">
              <a:latin typeface="+mn-ea"/>
            </a:endParaRPr>
          </a:p>
        </p:txBody>
      </p:sp>
      <p:grpSp>
        <p:nvGrpSpPr>
          <p:cNvPr id="53" name="グループ化 52">
            <a:extLst>
              <a:ext uri="{FF2B5EF4-FFF2-40B4-BE49-F238E27FC236}">
                <a16:creationId xmlns:a16="http://schemas.microsoft.com/office/drawing/2014/main" id="{48A92FB5-4756-8C2F-1669-20CBFF94D5A0}"/>
              </a:ext>
            </a:extLst>
          </p:cNvPr>
          <p:cNvGrpSpPr/>
          <p:nvPr/>
        </p:nvGrpSpPr>
        <p:grpSpPr>
          <a:xfrm>
            <a:off x="439925" y="1342773"/>
            <a:ext cx="1018813" cy="1278741"/>
            <a:chOff x="439925" y="1371581"/>
            <a:chExt cx="1018813" cy="1278741"/>
          </a:xfrm>
        </p:grpSpPr>
        <p:sp>
          <p:nvSpPr>
            <p:cNvPr id="9" name="テキスト ボックス 8">
              <a:extLst>
                <a:ext uri="{FF2B5EF4-FFF2-40B4-BE49-F238E27FC236}">
                  <a16:creationId xmlns:a16="http://schemas.microsoft.com/office/drawing/2014/main" id="{93CE302E-DE91-8767-7DB3-20F06E7CCCFA}"/>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10" name="テキスト ボックス 9">
              <a:extLst>
                <a:ext uri="{FF2B5EF4-FFF2-40B4-BE49-F238E27FC236}">
                  <a16:creationId xmlns:a16="http://schemas.microsoft.com/office/drawing/2014/main" id="{85776076-A5F8-FE32-2BE1-E7D16E9A86B8}"/>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1" name="テキスト ボックス 10">
              <a:extLst>
                <a:ext uri="{FF2B5EF4-FFF2-40B4-BE49-F238E27FC236}">
                  <a16:creationId xmlns:a16="http://schemas.microsoft.com/office/drawing/2014/main" id="{F4597884-F9ED-73FF-D426-04C7E59319F3}"/>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19" name="テキスト ボックス 18">
            <a:extLst>
              <a:ext uri="{FF2B5EF4-FFF2-40B4-BE49-F238E27FC236}">
                <a16:creationId xmlns:a16="http://schemas.microsoft.com/office/drawing/2014/main" id="{5F66B37B-80D6-8E38-4905-B76A3210E7CA}"/>
              </a:ext>
            </a:extLst>
          </p:cNvPr>
          <p:cNvSpPr txBox="1"/>
          <p:nvPr/>
        </p:nvSpPr>
        <p:spPr>
          <a:xfrm>
            <a:off x="5976427" y="2973324"/>
            <a:ext cx="6009280" cy="584775"/>
          </a:xfrm>
          <a:prstGeom prst="rect">
            <a:avLst/>
          </a:prstGeom>
          <a:noFill/>
        </p:spPr>
        <p:txBody>
          <a:bodyPr wrap="square" rtlCol="0">
            <a:spAutoFit/>
          </a:bodyPr>
          <a:lstStyle/>
          <a:p>
            <a:r>
              <a:rPr lang="ja-JP" altLang="en-US" sz="1600" b="1" dirty="0"/>
              <a:t>     →  価格の妥当性を</a:t>
            </a:r>
            <a:r>
              <a:rPr lang="en-US" altLang="ja-JP" sz="1600" b="1" dirty="0"/>
              <a:t>LLM</a:t>
            </a:r>
            <a:r>
              <a:rPr lang="ja-JP" altLang="en-US" sz="1600" b="1" dirty="0"/>
              <a:t>に判断させることで</a:t>
            </a:r>
            <a:endParaRPr lang="en-US" altLang="ja-JP" sz="1600" b="1" dirty="0"/>
          </a:p>
          <a:p>
            <a:r>
              <a:rPr lang="ja-JP" altLang="en-US" sz="1600" b="1" dirty="0"/>
              <a:t>　　  </a:t>
            </a:r>
            <a:r>
              <a:rPr lang="ja-JP" altLang="en-US" sz="1600" u="sng" dirty="0"/>
              <a:t> 複数要因を考慮し、</a:t>
            </a:r>
            <a:r>
              <a:rPr lang="ja-JP" altLang="en-US" sz="1600" b="1" u="sng" dirty="0">
                <a:solidFill>
                  <a:srgbClr val="882312"/>
                </a:solidFill>
              </a:rPr>
              <a:t>「なぜその価格か</a:t>
            </a:r>
            <a:r>
              <a:rPr lang="ja-JP" altLang="en-US" sz="1600" u="sng" dirty="0"/>
              <a:t>」まで説明できる提案へ</a:t>
            </a:r>
            <a:endParaRPr lang="en-US" altLang="ja-JP" sz="1600" u="sng" dirty="0">
              <a:solidFill>
                <a:srgbClr val="002060"/>
              </a:solidFill>
            </a:endParaRPr>
          </a:p>
        </p:txBody>
      </p:sp>
      <p:sp>
        <p:nvSpPr>
          <p:cNvPr id="34" name="コンテンツ プレースホルダー 1">
            <a:extLst>
              <a:ext uri="{FF2B5EF4-FFF2-40B4-BE49-F238E27FC236}">
                <a16:creationId xmlns:a16="http://schemas.microsoft.com/office/drawing/2014/main" id="{F44C7DCC-F275-F30C-6E58-C6B80898F135}"/>
              </a:ext>
            </a:extLst>
          </p:cNvPr>
          <p:cNvSpPr txBox="1">
            <a:spLocks/>
          </p:cNvSpPr>
          <p:nvPr/>
        </p:nvSpPr>
        <p:spPr>
          <a:xfrm>
            <a:off x="48918" y="3969922"/>
            <a:ext cx="6126425" cy="417942"/>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仮説：競合・季節などを加味すれば、より妥当な価格を選べるか？</a:t>
            </a:r>
            <a:endParaRPr lang="en-US" altLang="ja-JP" sz="1600" dirty="0"/>
          </a:p>
        </p:txBody>
      </p:sp>
      <p:sp>
        <p:nvSpPr>
          <p:cNvPr id="49" name="テキスト ボックス 48">
            <a:extLst>
              <a:ext uri="{FF2B5EF4-FFF2-40B4-BE49-F238E27FC236}">
                <a16:creationId xmlns:a16="http://schemas.microsoft.com/office/drawing/2014/main" id="{0E70F3EA-C7E3-10D8-5C36-4AE4FFF1137A}"/>
              </a:ext>
            </a:extLst>
          </p:cNvPr>
          <p:cNvSpPr txBox="1"/>
          <p:nvPr/>
        </p:nvSpPr>
        <p:spPr>
          <a:xfrm>
            <a:off x="3668414" y="2678380"/>
            <a:ext cx="181149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候補から最大需要を選択</a:t>
            </a:r>
            <a:endParaRPr lang="en-US" altLang="ja-JP" sz="1200" b="1" dirty="0">
              <a:latin typeface="+mn-ea"/>
            </a:endParaRPr>
          </a:p>
        </p:txBody>
      </p:sp>
      <p:sp>
        <p:nvSpPr>
          <p:cNvPr id="51" name="テキスト ボックス 50">
            <a:extLst>
              <a:ext uri="{FF2B5EF4-FFF2-40B4-BE49-F238E27FC236}">
                <a16:creationId xmlns:a16="http://schemas.microsoft.com/office/drawing/2014/main" id="{AD463182-65CC-430F-3FD4-46D2948449FE}"/>
              </a:ext>
            </a:extLst>
          </p:cNvPr>
          <p:cNvSpPr txBox="1"/>
          <p:nvPr/>
        </p:nvSpPr>
        <p:spPr>
          <a:xfrm>
            <a:off x="189832" y="2687969"/>
            <a:ext cx="1341854"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価格範囲を設定</a:t>
            </a:r>
            <a:endParaRPr lang="en-US" altLang="ja-JP" sz="1200" b="1" dirty="0">
              <a:latin typeface="+mn-ea"/>
            </a:endParaRPr>
          </a:p>
        </p:txBody>
      </p:sp>
      <p:grpSp>
        <p:nvGrpSpPr>
          <p:cNvPr id="54" name="グループ化 53">
            <a:extLst>
              <a:ext uri="{FF2B5EF4-FFF2-40B4-BE49-F238E27FC236}">
                <a16:creationId xmlns:a16="http://schemas.microsoft.com/office/drawing/2014/main" id="{0867D3A7-506F-E1F5-522C-8167B7425BD9}"/>
              </a:ext>
            </a:extLst>
          </p:cNvPr>
          <p:cNvGrpSpPr/>
          <p:nvPr/>
        </p:nvGrpSpPr>
        <p:grpSpPr>
          <a:xfrm>
            <a:off x="4038911" y="1342773"/>
            <a:ext cx="990230" cy="1278741"/>
            <a:chOff x="431085" y="1371581"/>
            <a:chExt cx="990230" cy="1278741"/>
          </a:xfrm>
        </p:grpSpPr>
        <p:sp>
          <p:nvSpPr>
            <p:cNvPr id="55" name="テキスト ボックス 54">
              <a:extLst>
                <a:ext uri="{FF2B5EF4-FFF2-40B4-BE49-F238E27FC236}">
                  <a16:creationId xmlns:a16="http://schemas.microsoft.com/office/drawing/2014/main" id="{10326538-953C-FCE3-8BC8-9C7E5BD3B870}"/>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50%</a:t>
              </a:r>
            </a:p>
          </p:txBody>
        </p:sp>
        <p:sp>
          <p:nvSpPr>
            <p:cNvPr id="56" name="テキスト ボックス 55">
              <a:extLst>
                <a:ext uri="{FF2B5EF4-FFF2-40B4-BE49-F238E27FC236}">
                  <a16:creationId xmlns:a16="http://schemas.microsoft.com/office/drawing/2014/main" id="{C071E13F-B2A2-8495-DD44-8B3A034CA63D}"/>
                </a:ext>
              </a:extLst>
            </p:cNvPr>
            <p:cNvSpPr txBox="1"/>
            <p:nvPr/>
          </p:nvSpPr>
          <p:spPr>
            <a:xfrm>
              <a:off x="431085" y="1371581"/>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a:t>
              </a:r>
              <a:r>
                <a:rPr lang="ja-JP" altLang="en-US" sz="1400" b="1" dirty="0">
                  <a:latin typeface="+mn-ea"/>
                </a:rPr>
                <a:t>　</a:t>
              </a:r>
              <a:r>
                <a:rPr lang="en-US" altLang="ja-JP" sz="1400" b="1" dirty="0">
                  <a:latin typeface="+mn-ea"/>
                </a:rPr>
                <a:t>70%</a:t>
              </a:r>
            </a:p>
          </p:txBody>
        </p:sp>
        <p:sp>
          <p:nvSpPr>
            <p:cNvPr id="57" name="テキスト ボックス 56">
              <a:extLst>
                <a:ext uri="{FF2B5EF4-FFF2-40B4-BE49-F238E27FC236}">
                  <a16:creationId xmlns:a16="http://schemas.microsoft.com/office/drawing/2014/main" id="{5B4F51BA-18B0-29E1-552B-632CDF0226BF}"/>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76" name="矢印: 右 75">
            <a:extLst>
              <a:ext uri="{FF2B5EF4-FFF2-40B4-BE49-F238E27FC236}">
                <a16:creationId xmlns:a16="http://schemas.microsoft.com/office/drawing/2014/main" id="{CACBFAC3-9D79-39C4-196D-C5F4E13FECC4}"/>
              </a:ext>
            </a:extLst>
          </p:cNvPr>
          <p:cNvSpPr/>
          <p:nvPr/>
        </p:nvSpPr>
        <p:spPr>
          <a:xfrm>
            <a:off x="3467088" y="1638234"/>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E4FCD2EA-3C77-23C8-45ED-84E5D66767DD}"/>
              </a:ext>
            </a:extLst>
          </p:cNvPr>
          <p:cNvSpPr txBox="1"/>
          <p:nvPr/>
        </p:nvSpPr>
        <p:spPr>
          <a:xfrm>
            <a:off x="-3752" y="6216778"/>
            <a:ext cx="5865940" cy="584775"/>
          </a:xfrm>
          <a:prstGeom prst="rect">
            <a:avLst/>
          </a:prstGeom>
          <a:noFill/>
        </p:spPr>
        <p:txBody>
          <a:bodyPr wrap="square" rtlCol="0">
            <a:spAutoFit/>
          </a:bodyPr>
          <a:lstStyle/>
          <a:p>
            <a:r>
              <a:rPr lang="ja-JP" altLang="en-US" sz="1600" b="1" dirty="0"/>
              <a:t>  →  ルールベースのみでは </a:t>
            </a:r>
            <a:r>
              <a:rPr lang="ja-JP" altLang="en-US" sz="1600" b="1" u="sng" dirty="0">
                <a:solidFill>
                  <a:srgbClr val="882312"/>
                </a:solidFill>
              </a:rPr>
              <a:t>判断の妥当性 に限界がある</a:t>
            </a:r>
            <a:br>
              <a:rPr lang="en-US" altLang="ja-JP" sz="1600" dirty="0"/>
            </a:br>
            <a:r>
              <a:rPr lang="en-US" altLang="ja-JP" sz="1600" dirty="0"/>
              <a:t>       </a:t>
            </a:r>
            <a:r>
              <a:rPr lang="ja-JP" altLang="en-US" sz="1600" dirty="0"/>
              <a:t> </a:t>
            </a:r>
            <a:r>
              <a:rPr lang="en-US" altLang="ja-JP" sz="1600" dirty="0"/>
              <a:t>(</a:t>
            </a:r>
            <a:r>
              <a:rPr lang="ja-JP" altLang="en-US" sz="1600" dirty="0"/>
              <a:t>どのような根拠でその価格なのか理解が難しい</a:t>
            </a:r>
            <a:r>
              <a:rPr lang="en-US" altLang="ja-JP" sz="1600" dirty="0"/>
              <a:t>)</a:t>
            </a:r>
            <a:endParaRPr lang="ja-JP" altLang="en-US" sz="1600" dirty="0">
              <a:latin typeface="+mn-ea"/>
            </a:endParaRPr>
          </a:p>
        </p:txBody>
      </p:sp>
      <p:grpSp>
        <p:nvGrpSpPr>
          <p:cNvPr id="15" name="グループ化 14">
            <a:extLst>
              <a:ext uri="{FF2B5EF4-FFF2-40B4-BE49-F238E27FC236}">
                <a16:creationId xmlns:a16="http://schemas.microsoft.com/office/drawing/2014/main" id="{AEDDD8CE-C61F-6B8D-1E36-8DB51C684F13}"/>
              </a:ext>
            </a:extLst>
          </p:cNvPr>
          <p:cNvGrpSpPr/>
          <p:nvPr/>
        </p:nvGrpSpPr>
        <p:grpSpPr>
          <a:xfrm>
            <a:off x="335236" y="4437436"/>
            <a:ext cx="5432818" cy="1357656"/>
            <a:chOff x="335236" y="4437436"/>
            <a:chExt cx="5432818" cy="1357656"/>
          </a:xfrm>
        </p:grpSpPr>
        <p:sp>
          <p:nvSpPr>
            <p:cNvPr id="65" name="テキスト ボックス 64">
              <a:extLst>
                <a:ext uri="{FF2B5EF4-FFF2-40B4-BE49-F238E27FC236}">
                  <a16:creationId xmlns:a16="http://schemas.microsoft.com/office/drawing/2014/main" id="{67F135BE-2DF7-44A3-45FB-D742F55B8C5D}"/>
                </a:ext>
              </a:extLst>
            </p:cNvPr>
            <p:cNvSpPr txBox="1"/>
            <p:nvPr/>
          </p:nvSpPr>
          <p:spPr>
            <a:xfrm>
              <a:off x="4478003"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66" name="テキスト ボックス 65">
              <a:extLst>
                <a:ext uri="{FF2B5EF4-FFF2-40B4-BE49-F238E27FC236}">
                  <a16:creationId xmlns:a16="http://schemas.microsoft.com/office/drawing/2014/main" id="{01622069-9FF0-1DE2-440D-D81F8C5F914A}"/>
                </a:ext>
              </a:extLst>
            </p:cNvPr>
            <p:cNvSpPr txBox="1"/>
            <p:nvPr/>
          </p:nvSpPr>
          <p:spPr>
            <a:xfrm>
              <a:off x="4260548" y="533342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スコアによって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75" name="矢印: 右 74">
              <a:extLst>
                <a:ext uri="{FF2B5EF4-FFF2-40B4-BE49-F238E27FC236}">
                  <a16:creationId xmlns:a16="http://schemas.microsoft.com/office/drawing/2014/main" id="{CDC88549-64D9-3C5A-94DC-5CB8C14405B0}"/>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矢印: 右 76">
              <a:extLst>
                <a:ext uri="{FF2B5EF4-FFF2-40B4-BE49-F238E27FC236}">
                  <a16:creationId xmlns:a16="http://schemas.microsoft.com/office/drawing/2014/main" id="{AFBE47AA-39B4-0EB8-7C20-6222606FC5A2}"/>
                </a:ext>
              </a:extLst>
            </p:cNvPr>
            <p:cNvSpPr/>
            <p:nvPr/>
          </p:nvSpPr>
          <p:spPr>
            <a:xfrm>
              <a:off x="402042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1A2BD9D8-0FCB-997A-569E-3C60ECBB4172}"/>
                </a:ext>
              </a:extLst>
            </p:cNvPr>
            <p:cNvGrpSpPr/>
            <p:nvPr/>
          </p:nvGrpSpPr>
          <p:grpSpPr>
            <a:xfrm>
              <a:off x="335236" y="4437436"/>
              <a:ext cx="1018813" cy="1278741"/>
              <a:chOff x="439925" y="1371581"/>
              <a:chExt cx="1018813" cy="1278741"/>
            </a:xfrm>
          </p:grpSpPr>
          <p:sp>
            <p:nvSpPr>
              <p:cNvPr id="4" name="テキスト ボックス 3">
                <a:extLst>
                  <a:ext uri="{FF2B5EF4-FFF2-40B4-BE49-F238E27FC236}">
                    <a16:creationId xmlns:a16="http://schemas.microsoft.com/office/drawing/2014/main" id="{357372EB-F9AA-EEE6-045B-2013B4B60849}"/>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8" name="テキスト ボックス 7">
                <a:extLst>
                  <a:ext uri="{FF2B5EF4-FFF2-40B4-BE49-F238E27FC236}">
                    <a16:creationId xmlns:a16="http://schemas.microsoft.com/office/drawing/2014/main" id="{CABB3678-7C68-AC23-EC0D-85996C4D7E5A}"/>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3" name="テキスト ボックス 12">
                <a:extLst>
                  <a:ext uri="{FF2B5EF4-FFF2-40B4-BE49-F238E27FC236}">
                    <a16:creationId xmlns:a16="http://schemas.microsoft.com/office/drawing/2014/main" id="{201DAF9E-5520-091F-4DD7-7D0D8F3739A5}"/>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17" name="グループ化 16">
            <a:extLst>
              <a:ext uri="{FF2B5EF4-FFF2-40B4-BE49-F238E27FC236}">
                <a16:creationId xmlns:a16="http://schemas.microsoft.com/office/drawing/2014/main" id="{5D31EA72-5CDC-1749-D1C2-6839CF70DE9E}"/>
              </a:ext>
            </a:extLst>
          </p:cNvPr>
          <p:cNvGrpSpPr/>
          <p:nvPr/>
        </p:nvGrpSpPr>
        <p:grpSpPr>
          <a:xfrm>
            <a:off x="6335063" y="1248535"/>
            <a:ext cx="5663722" cy="1311476"/>
            <a:chOff x="335236" y="4437436"/>
            <a:chExt cx="5663722" cy="1311476"/>
          </a:xfrm>
        </p:grpSpPr>
        <p:sp>
          <p:nvSpPr>
            <p:cNvPr id="22" name="テキスト ボックス 21">
              <a:extLst>
                <a:ext uri="{FF2B5EF4-FFF2-40B4-BE49-F238E27FC236}">
                  <a16:creationId xmlns:a16="http://schemas.microsoft.com/office/drawing/2014/main" id="{F35ACD01-FC3B-FC39-8D74-80F485F5F735}"/>
                </a:ext>
              </a:extLst>
            </p:cNvPr>
            <p:cNvSpPr txBox="1"/>
            <p:nvPr/>
          </p:nvSpPr>
          <p:spPr>
            <a:xfrm>
              <a:off x="4708907"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25" name="テキスト ボックス 24">
              <a:extLst>
                <a:ext uri="{FF2B5EF4-FFF2-40B4-BE49-F238E27FC236}">
                  <a16:creationId xmlns:a16="http://schemas.microsoft.com/office/drawing/2014/main" id="{5787B3C2-05A6-1DD7-C27B-D6EFC53923DA}"/>
                </a:ext>
              </a:extLst>
            </p:cNvPr>
            <p:cNvSpPr txBox="1"/>
            <p:nvPr/>
          </p:nvSpPr>
          <p:spPr>
            <a:xfrm>
              <a:off x="4491452" y="528724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26" name="矢印: 右 25">
              <a:extLst>
                <a:ext uri="{FF2B5EF4-FFF2-40B4-BE49-F238E27FC236}">
                  <a16:creationId xmlns:a16="http://schemas.microsoft.com/office/drawing/2014/main" id="{9E47CA65-A52B-38B2-A97A-30E1E799736C}"/>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CFE2B4BC-E594-9007-9147-C708F7FEA889}"/>
                </a:ext>
              </a:extLst>
            </p:cNvPr>
            <p:cNvSpPr/>
            <p:nvPr/>
          </p:nvSpPr>
          <p:spPr>
            <a:xfrm>
              <a:off x="406660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2033658E-D36E-462B-702B-A7ADB6D36A06}"/>
                </a:ext>
              </a:extLst>
            </p:cNvPr>
            <p:cNvGrpSpPr/>
            <p:nvPr/>
          </p:nvGrpSpPr>
          <p:grpSpPr>
            <a:xfrm>
              <a:off x="335236" y="4437436"/>
              <a:ext cx="1018813" cy="1278741"/>
              <a:chOff x="439925" y="1371581"/>
              <a:chExt cx="1018813" cy="1278741"/>
            </a:xfrm>
          </p:grpSpPr>
          <p:sp>
            <p:nvSpPr>
              <p:cNvPr id="30" name="テキスト ボックス 29">
                <a:extLst>
                  <a:ext uri="{FF2B5EF4-FFF2-40B4-BE49-F238E27FC236}">
                    <a16:creationId xmlns:a16="http://schemas.microsoft.com/office/drawing/2014/main" id="{36A38FC9-8AC1-E7DC-927A-440BEC7F7894}"/>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31" name="テキスト ボックス 30">
                <a:extLst>
                  <a:ext uri="{FF2B5EF4-FFF2-40B4-BE49-F238E27FC236}">
                    <a16:creationId xmlns:a16="http://schemas.microsoft.com/office/drawing/2014/main" id="{9A806A75-B71F-B706-BF2F-10FF5621C5FD}"/>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32" name="テキスト ボックス 31">
                <a:extLst>
                  <a:ext uri="{FF2B5EF4-FFF2-40B4-BE49-F238E27FC236}">
                    <a16:creationId xmlns:a16="http://schemas.microsoft.com/office/drawing/2014/main" id="{5E1C56CA-0350-1D40-0D16-D6331B607556}"/>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37" name="グループ化 36">
            <a:extLst>
              <a:ext uri="{FF2B5EF4-FFF2-40B4-BE49-F238E27FC236}">
                <a16:creationId xmlns:a16="http://schemas.microsoft.com/office/drawing/2014/main" id="{EEDDAD4F-C3D2-9F69-7B1B-03441EE6948F}"/>
              </a:ext>
            </a:extLst>
          </p:cNvPr>
          <p:cNvGrpSpPr/>
          <p:nvPr/>
        </p:nvGrpSpPr>
        <p:grpSpPr>
          <a:xfrm>
            <a:off x="9958846" y="2168719"/>
            <a:ext cx="686646" cy="680868"/>
            <a:chOff x="2502041" y="2684818"/>
            <a:chExt cx="686646" cy="680868"/>
          </a:xfrm>
        </p:grpSpPr>
        <p:pic>
          <p:nvPicPr>
            <p:cNvPr id="38" name="グラフィックス 37" descr="頭の中の脳 枠線">
              <a:extLst>
                <a:ext uri="{FF2B5EF4-FFF2-40B4-BE49-F238E27FC236}">
                  <a16:creationId xmlns:a16="http://schemas.microsoft.com/office/drawing/2014/main" id="{73E718CD-5CD1-B5BF-9039-C46BCE94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39" name="テキスト ボックス 38">
              <a:extLst>
                <a:ext uri="{FF2B5EF4-FFF2-40B4-BE49-F238E27FC236}">
                  <a16:creationId xmlns:a16="http://schemas.microsoft.com/office/drawing/2014/main" id="{ABBB962D-8EC9-A4F4-F2E3-2B2D1945EE2B}"/>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1" name="グループ化 40">
            <a:extLst>
              <a:ext uri="{FF2B5EF4-FFF2-40B4-BE49-F238E27FC236}">
                <a16:creationId xmlns:a16="http://schemas.microsoft.com/office/drawing/2014/main" id="{E48D2CAC-06E6-3449-B38B-0D17EC19653C}"/>
              </a:ext>
            </a:extLst>
          </p:cNvPr>
          <p:cNvGrpSpPr/>
          <p:nvPr/>
        </p:nvGrpSpPr>
        <p:grpSpPr>
          <a:xfrm>
            <a:off x="1857227" y="4477808"/>
            <a:ext cx="2050034" cy="1251404"/>
            <a:chOff x="7490243" y="1108361"/>
            <a:chExt cx="2050034" cy="1251404"/>
          </a:xfrm>
        </p:grpSpPr>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BFB89C8-139A-1B4F-12D6-ECC0F339399D}"/>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2" name="テキスト ボックス 41">
                  <a:extLst>
                    <a:ext uri="{FF2B5EF4-FFF2-40B4-BE49-F238E27FC236}">
                      <a16:creationId xmlns:a16="http://schemas.microsoft.com/office/drawing/2014/main" id="{5BFB89C8-139A-1B4F-12D6-ECC0F339399D}"/>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5"/>
                  <a:stretch>
                    <a:fillRect t="-719" b="-2878"/>
                  </a:stretch>
                </a:blipFill>
                <a:ln w="19050">
                  <a:prstDash val="sysDot"/>
                </a:ln>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D8D0B8D2-03F9-2CFB-51D6-B6B1985B31F7}"/>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grpSp>
        <p:nvGrpSpPr>
          <p:cNvPr id="46" name="グループ化 45">
            <a:extLst>
              <a:ext uri="{FF2B5EF4-FFF2-40B4-BE49-F238E27FC236}">
                <a16:creationId xmlns:a16="http://schemas.microsoft.com/office/drawing/2014/main" id="{F43BC3B6-6C2F-B27F-C6C8-CFC59D24B014}"/>
              </a:ext>
            </a:extLst>
          </p:cNvPr>
          <p:cNvGrpSpPr/>
          <p:nvPr/>
        </p:nvGrpSpPr>
        <p:grpSpPr>
          <a:xfrm>
            <a:off x="7897094" y="1280702"/>
            <a:ext cx="2050034" cy="1251404"/>
            <a:chOff x="7490243" y="1108361"/>
            <a:chExt cx="2050034" cy="1251404"/>
          </a:xfrm>
        </p:grpSpPr>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6672555F-7D4B-6EE0-1B9E-7945C6FBAC3A}"/>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8" name="テキスト ボックス 47">
                  <a:extLst>
                    <a:ext uri="{FF2B5EF4-FFF2-40B4-BE49-F238E27FC236}">
                      <a16:creationId xmlns:a16="http://schemas.microsoft.com/office/drawing/2014/main" id="{6672555F-7D4B-6EE0-1B9E-7945C6FBAC3A}"/>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6"/>
                  <a:stretch>
                    <a:fillRect t="-719" b="-2878"/>
                  </a:stretch>
                </a:blipFill>
                <a:ln w="19050">
                  <a:prstDash val="sysDot"/>
                </a:ln>
              </p:spPr>
              <p:txBody>
                <a:bodyPr/>
                <a:lstStyle/>
                <a:p>
                  <a:r>
                    <a:rPr lang="ja-JP" altLang="en-US">
                      <a:noFill/>
                    </a:rPr>
                    <a:t> </a:t>
                  </a:r>
                </a:p>
              </p:txBody>
            </p:sp>
          </mc:Fallback>
        </mc:AlternateContent>
        <p:sp>
          <p:nvSpPr>
            <p:cNvPr id="50" name="テキスト ボックス 49">
              <a:extLst>
                <a:ext uri="{FF2B5EF4-FFF2-40B4-BE49-F238E27FC236}">
                  <a16:creationId xmlns:a16="http://schemas.microsoft.com/office/drawing/2014/main" id="{66F74255-7613-AB40-5C71-C3E5DCC3B141}"/>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sp>
        <p:nvSpPr>
          <p:cNvPr id="20" name="矢印: 右 19">
            <a:extLst>
              <a:ext uri="{FF2B5EF4-FFF2-40B4-BE49-F238E27FC236}">
                <a16:creationId xmlns:a16="http://schemas.microsoft.com/office/drawing/2014/main" id="{AE3AEA75-41E6-3B8A-453D-F94B44C91F2D}"/>
              </a:ext>
            </a:extLst>
          </p:cNvPr>
          <p:cNvSpPr/>
          <p:nvPr/>
        </p:nvSpPr>
        <p:spPr>
          <a:xfrm>
            <a:off x="1746625" y="1644066"/>
            <a:ext cx="364131" cy="538243"/>
          </a:xfrm>
          <a:prstGeom prst="rightArrow">
            <a:avLst>
              <a:gd name="adj1" fmla="val 74024"/>
              <a:gd name="adj2" fmla="val 5000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97781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4BF9B97-34F3-9B93-6D57-4FF96372EAF3}"/>
              </a:ext>
            </a:extLst>
          </p:cNvPr>
          <p:cNvSpPr/>
          <p:nvPr/>
        </p:nvSpPr>
        <p:spPr>
          <a:xfrm>
            <a:off x="0" y="1125206"/>
            <a:ext cx="12192000" cy="573279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p:txBody>
          <a:bodyPr>
            <a:normAutofit fontScale="92500" lnSpcReduction="10000"/>
          </a:bodyPr>
          <a:lstStyle/>
          <a:p>
            <a:r>
              <a:rPr kumimoji="1" lang="ja-JP" altLang="en-US" dirty="0"/>
              <a:t>感情情報を用いた</a:t>
            </a:r>
            <a:r>
              <a:rPr lang="ja-JP" altLang="en-US" dirty="0"/>
              <a:t>需要予測</a:t>
            </a:r>
            <a:endParaRPr kumimoji="1" lang="ja-JP" altLang="en-US" dirty="0"/>
          </a:p>
        </p:txBody>
      </p:sp>
      <p:sp>
        <p:nvSpPr>
          <p:cNvPr id="2" name="正方形/長方形 1">
            <a:extLst>
              <a:ext uri="{FF2B5EF4-FFF2-40B4-BE49-F238E27FC236}">
                <a16:creationId xmlns:a16="http://schemas.microsoft.com/office/drawing/2014/main" id="{3F01D20D-44D4-579B-84A4-9962C2CED708}"/>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需要予測</a:t>
            </a:r>
            <a:r>
              <a:rPr lang="ja-JP" altLang="en-US" sz="2400" dirty="0">
                <a:solidFill>
                  <a:schemeClr val="tx1">
                    <a:lumMod val="75000"/>
                  </a:schemeClr>
                </a:solidFill>
              </a:rPr>
              <a:t>の結果の可視化により経営判断に生かせる結果にした</a:t>
            </a:r>
            <a:endParaRPr kumimoji="1" lang="ja-JP" altLang="en-US" sz="2400" dirty="0">
              <a:solidFill>
                <a:schemeClr val="tx1">
                  <a:lumMod val="75000"/>
                </a:schemeClr>
              </a:solidFill>
            </a:endParaRPr>
          </a:p>
        </p:txBody>
      </p:sp>
      <p:pic>
        <p:nvPicPr>
          <p:cNvPr id="13" name="図 12" descr="グラフ, 折れ線グラフ&#10;&#10;AI 生成コンテンツは誤りを含む可能性があります。">
            <a:extLst>
              <a:ext uri="{FF2B5EF4-FFF2-40B4-BE49-F238E27FC236}">
                <a16:creationId xmlns:a16="http://schemas.microsoft.com/office/drawing/2014/main" id="{EE9EA0B0-0A1E-F72F-2F23-B5818F5D04BA}"/>
              </a:ext>
            </a:extLst>
          </p:cNvPr>
          <p:cNvPicPr>
            <a:picLocks noChangeAspect="1"/>
          </p:cNvPicPr>
          <p:nvPr/>
        </p:nvPicPr>
        <p:blipFill>
          <a:blip r:embed="rId3"/>
          <a:stretch>
            <a:fillRect/>
          </a:stretch>
        </p:blipFill>
        <p:spPr>
          <a:xfrm>
            <a:off x="646508" y="1458497"/>
            <a:ext cx="10898984" cy="50662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3523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A8A8311-5B18-4D87-13E3-32A3A6004A5E}"/>
              </a:ext>
            </a:extLst>
          </p:cNvPr>
          <p:cNvSpPr>
            <a:spLocks noGrp="1"/>
          </p:cNvSpPr>
          <p:nvPr>
            <p:ph idx="1"/>
          </p:nvPr>
        </p:nvSpPr>
        <p:spPr>
          <a:xfrm>
            <a:off x="309282" y="600075"/>
            <a:ext cx="11349318" cy="5657849"/>
          </a:xfrm>
          <a:ln>
            <a:noFill/>
          </a:ln>
        </p:spPr>
        <p:txBody>
          <a:bodyPr/>
          <a:lstStyle/>
          <a:p>
            <a:r>
              <a:rPr kumimoji="1" lang="ja-JP" altLang="en-US" dirty="0"/>
              <a:t>提示された価格が信頼できない</a:t>
            </a:r>
            <a:endParaRPr kumimoji="1" lang="en-US" altLang="ja-JP" dirty="0"/>
          </a:p>
          <a:p>
            <a:pPr>
              <a:buFont typeface="Wingdings" pitchFamily="2" charset="2"/>
              <a:buChar char="Ø"/>
            </a:pPr>
            <a:r>
              <a:rPr lang="ja-JP" altLang="en-US" sz="2000" b="0" dirty="0"/>
              <a:t>予測結果が信用できない。なぜその結果？どういう根拠？</a:t>
            </a:r>
            <a:endParaRPr lang="en-US" altLang="ja-JP" sz="2000" b="0" dirty="0"/>
          </a:p>
          <a:p>
            <a:pPr>
              <a:buFont typeface="Wingdings" pitchFamily="2" charset="2"/>
              <a:buChar char="Ø"/>
            </a:pPr>
            <a:r>
              <a:rPr lang="ja-JP" altLang="en-US" sz="2000" u="sng" dirty="0"/>
              <a:t>勘と経験と度胸</a:t>
            </a:r>
            <a:r>
              <a:rPr lang="en-US" altLang="ja-JP" sz="2000" b="0" u="sng" dirty="0"/>
              <a:t>(KKD)</a:t>
            </a:r>
            <a:r>
              <a:rPr lang="ja-JP" altLang="en-US" sz="2000" b="0" u="sng" dirty="0"/>
              <a:t>の経営が根付いている</a:t>
            </a:r>
            <a:endParaRPr lang="en-US" altLang="ja-JP" sz="2000" b="0" dirty="0"/>
          </a:p>
          <a:p>
            <a:pPr marL="0" indent="0">
              <a:buNone/>
            </a:pPr>
            <a:endParaRPr kumimoji="1" lang="en-US" altLang="ja-JP" b="0" dirty="0"/>
          </a:p>
          <a:p>
            <a:pPr>
              <a:buFont typeface="Wingdings" pitchFamily="2" charset="2"/>
              <a:buChar char="Ø"/>
            </a:pPr>
            <a:r>
              <a:rPr kumimoji="1" lang="ja-JP" altLang="en-US" b="0" dirty="0"/>
              <a:t>解釈性の高さ</a:t>
            </a:r>
            <a:r>
              <a:rPr lang="ja-JP" altLang="en-US" b="0" dirty="0"/>
              <a:t>が重要</a:t>
            </a:r>
            <a:r>
              <a:rPr kumimoji="1" lang="ja-JP" altLang="en-US" b="0" dirty="0"/>
              <a:t>、強制的な価格変動は避けるべき</a:t>
            </a:r>
            <a:endParaRPr kumimoji="1" lang="en-US" altLang="ja-JP" b="0" dirty="0"/>
          </a:p>
          <a:p>
            <a:pPr>
              <a:buFont typeface="Wingdings" pitchFamily="2" charset="2"/>
              <a:buChar char="Ø"/>
            </a:pPr>
            <a:r>
              <a:rPr kumimoji="1" lang="ja-JP" altLang="en-US" b="0" dirty="0"/>
              <a:t>開発できれば</a:t>
            </a:r>
            <a:r>
              <a:rPr kumimoji="1" lang="ja-JP" altLang="en-US" u="sng" dirty="0"/>
              <a:t>地方観光業の活性化</a:t>
            </a:r>
            <a:r>
              <a:rPr kumimoji="1" lang="ja-JP" altLang="en-US" b="0" dirty="0"/>
              <a:t>につながる</a:t>
            </a:r>
            <a:endParaRPr kumimoji="1" lang="en-US" altLang="ja-JP" b="0" dirty="0"/>
          </a:p>
        </p:txBody>
      </p:sp>
      <p:sp>
        <p:nvSpPr>
          <p:cNvPr id="3" name="テキスト プレースホルダー 2">
            <a:extLst>
              <a:ext uri="{FF2B5EF4-FFF2-40B4-BE49-F238E27FC236}">
                <a16:creationId xmlns:a16="http://schemas.microsoft.com/office/drawing/2014/main" id="{4A275955-5894-E56C-6124-659B2C7D8ECB}"/>
              </a:ext>
            </a:extLst>
          </p:cNvPr>
          <p:cNvSpPr>
            <a:spLocks noGrp="1"/>
          </p:cNvSpPr>
          <p:nvPr>
            <p:ph type="body" sz="quarter" idx="11"/>
          </p:nvPr>
        </p:nvSpPr>
        <p:spPr/>
        <p:txBody>
          <a:bodyPr>
            <a:normAutofit fontScale="92500" lnSpcReduction="10000"/>
          </a:bodyPr>
          <a:lstStyle/>
          <a:p>
            <a:r>
              <a:rPr kumimoji="1" lang="ja-JP" altLang="en-US" dirty="0"/>
              <a:t>ダイナミックプライシングプロダクト</a:t>
            </a:r>
            <a:r>
              <a:rPr lang="ja-JP" altLang="en-US" dirty="0"/>
              <a:t>の課題</a:t>
            </a:r>
            <a:endParaRPr kumimoji="1" lang="ja-JP" altLang="en-US" dirty="0"/>
          </a:p>
        </p:txBody>
      </p:sp>
      <p:sp>
        <p:nvSpPr>
          <p:cNvPr id="4" name="矢印: 下 3">
            <a:extLst>
              <a:ext uri="{FF2B5EF4-FFF2-40B4-BE49-F238E27FC236}">
                <a16:creationId xmlns:a16="http://schemas.microsoft.com/office/drawing/2014/main" id="{7A462D64-1190-4480-1CAF-2AD75DFDD16F}"/>
              </a:ext>
            </a:extLst>
          </p:cNvPr>
          <p:cNvSpPr/>
          <p:nvPr/>
        </p:nvSpPr>
        <p:spPr>
          <a:xfrm>
            <a:off x="1865746" y="3017694"/>
            <a:ext cx="1985818" cy="526473"/>
          </a:xfrm>
          <a:prstGeom prst="down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2658631"/>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yu">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研究発表用テンプレート2022版.potx" id="{6306135A-614C-4776-A803-91994B10B76C}" vid="{3B8C9F31-E626-4709-A765-E9EDF381CB2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2B33ED81-A378-482E-B710-0D21A32023B2}">
  <ds:schemaRef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0EFD21F3-24CC-4605-A5CE-D678D2531A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42308</TotalTime>
  <Words>7591</Words>
  <Application>Microsoft Office PowerPoint</Application>
  <PresentationFormat>ワイド画面</PresentationFormat>
  <Paragraphs>1015</Paragraphs>
  <Slides>36</Slides>
  <Notes>21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36</vt:i4>
      </vt:variant>
    </vt:vector>
  </HeadingPairs>
  <TitlesOfParts>
    <vt:vector size="45" baseType="lpstr">
      <vt:lpstr>MS PGothic</vt:lpstr>
      <vt:lpstr>MS PGothic</vt:lpstr>
      <vt:lpstr>Yu Gothic UI</vt:lpstr>
      <vt:lpstr>游ゴシック</vt:lpstr>
      <vt:lpstr>游ゴシック Medium</vt:lpstr>
      <vt:lpstr>Arial</vt:lpstr>
      <vt:lpstr>Cambria Math</vt:lpstr>
      <vt:lpstr>Wingdings</vt:lpstr>
      <vt:lpstr>研究発表スライドマスタ</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石渡　将伍</dc:creator>
  <cp:lastModifiedBy>Shougo Ishiwata</cp:lastModifiedBy>
  <cp:revision>115</cp:revision>
  <dcterms:created xsi:type="dcterms:W3CDTF">2025-09-07T02:48:27Z</dcterms:created>
  <dcterms:modified xsi:type="dcterms:W3CDTF">2026-03-31T15:28:20Z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