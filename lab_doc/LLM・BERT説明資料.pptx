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96" r:id="rId5"/>
    <p:sldId id="560" r:id="rId6"/>
    <p:sldId id="561" r:id="rId7"/>
    <p:sldId id="562" r:id="rId8"/>
    <p:sldId id="563" r:id="rId9"/>
    <p:sldId id="564" r:id="rId10"/>
    <p:sldId id="565" r:id="rId11"/>
    <p:sldId id="566" r:id="rId12"/>
    <p:sldId id="567" r:id="rId13"/>
    <p:sldId id="568" r:id="rId14"/>
    <p:sldId id="569" r:id="rId15"/>
    <p:sldId id="570" r:id="rId16"/>
    <p:sldId id="580" r:id="rId17"/>
    <p:sldId id="571" r:id="rId18"/>
    <p:sldId id="572" r:id="rId19"/>
    <p:sldId id="573" r:id="rId20"/>
    <p:sldId id="574" r:id="rId21"/>
    <p:sldId id="575" r:id="rId22"/>
    <p:sldId id="576" r:id="rId23"/>
    <p:sldId id="577" r:id="rId24"/>
    <p:sldId id="581" r:id="rId25"/>
    <p:sldId id="582" r:id="rId26"/>
    <p:sldId id="583" r:id="rId27"/>
    <p:sldId id="584" r:id="rId2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312"/>
    <a:srgbClr val="FFFFFF"/>
    <a:srgbClr val="2E6D66"/>
    <a:srgbClr val="F5F5F5"/>
    <a:srgbClr val="1F4944"/>
    <a:srgbClr val="EEBB00"/>
    <a:srgbClr val="95B638"/>
    <a:srgbClr val="9CA846"/>
    <a:srgbClr val="9A7D2D"/>
    <a:srgbClr val="3B6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中間スタイル 4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95090" autoAdjust="0"/>
  </p:normalViewPr>
  <p:slideViewPr>
    <p:cSldViewPr snapToGrid="0">
      <p:cViewPr>
        <p:scale>
          <a:sx n="75" d="100"/>
          <a:sy n="75" d="100"/>
        </p:scale>
        <p:origin x="1142" y="14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2733" y="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64B9691-87D6-48EF-9BFD-698344D04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6BE10E-3BBD-4023-B684-892AE173F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2328F-004D-4D3A-9F80-6B7A705D1367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367B9F-A0B4-4348-9C4B-89D15EDCB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2CC2C2F-D89E-474B-9003-7069E7D90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CC25F-5D23-455B-B707-89EC30CA97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749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0887C-0EF1-4AC1-9E9B-79863B12620D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A420A-BDF0-4775-9670-07D3BFB5E9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67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それでは、研究紹介を始めさせていただきます。</a:t>
            </a:r>
            <a:endParaRPr kumimoji="1" lang="en-US" altLang="ja-JP" dirty="0"/>
          </a:p>
          <a:p>
            <a:r>
              <a:rPr kumimoji="1" lang="ja-JP" altLang="en-US" dirty="0"/>
              <a:t>よろしくお願いいたします。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A420A-BDF0-4775-9670-07D3BFB5E94B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9545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2570163"/>
            <a:ext cx="9144000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524000" y="5110163"/>
            <a:ext cx="9144000" cy="561975"/>
          </a:xfrm>
        </p:spPr>
        <p:txBody>
          <a:bodyPr>
            <a:noAutofit/>
          </a:bodyPr>
          <a:lstStyle>
            <a:lvl1pPr marL="0" indent="0" algn="l">
              <a:buNone/>
              <a:defRPr sz="360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740400"/>
            <a:ext cx="9144000" cy="469900"/>
          </a:xfrm>
        </p:spPr>
        <p:txBody>
          <a:bodyPr/>
          <a:lstStyle>
            <a:lvl1pPr marL="0" indent="0" algn="l">
              <a:buNone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 userDrawn="1"/>
        </p:nvCxnSpPr>
        <p:spPr>
          <a:xfrm flipV="1">
            <a:off x="0" y="502920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8420098" y="152399"/>
            <a:ext cx="3594101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523999" y="647700"/>
            <a:ext cx="9144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1259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309282" y="742950"/>
            <a:ext cx="11349318" cy="5657849"/>
          </a:xfrm>
        </p:spPr>
        <p:txBody>
          <a:bodyPr/>
          <a:lstStyle>
            <a:lvl1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800100" marR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n"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1252538" indent="-338138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 marL="1706563" indent="-334963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2151063" indent="-322263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9282" y="95251"/>
            <a:ext cx="11473143" cy="419100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研究概要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22984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5029" y="623121"/>
            <a:ext cx="11775971" cy="5483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7C07A5E-272E-1F67-D0F7-A0EEE1A0E315}"/>
              </a:ext>
            </a:extLst>
          </p:cNvPr>
          <p:cNvSpPr txBox="1"/>
          <p:nvPr userDrawn="1"/>
        </p:nvSpPr>
        <p:spPr>
          <a:xfrm>
            <a:off x="11249628" y="6259810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24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24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B92D0-3845-473E-8E13-C70357A36CF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77219BD-58DF-F70A-31BE-B566B55D4DB7}"/>
              </a:ext>
            </a:extLst>
          </p:cNvPr>
          <p:cNvSpPr/>
          <p:nvPr userDrawn="1"/>
        </p:nvSpPr>
        <p:spPr>
          <a:xfrm>
            <a:off x="0" y="-26893"/>
            <a:ext cx="12192000" cy="625083"/>
          </a:xfrm>
          <a:prstGeom prst="rect">
            <a:avLst/>
          </a:prstGeom>
          <a:solidFill>
            <a:srgbClr val="1F49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34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088" indent="-446088" algn="l" defTabSz="914400" rtl="0" eaLnBrk="1" latinLnBrk="0" hangingPunct="1">
        <a:lnSpc>
          <a:spcPct val="100000"/>
        </a:lnSpc>
        <a:spcBef>
          <a:spcPts val="1800"/>
        </a:spcBef>
        <a:buClr>
          <a:srgbClr val="C00000"/>
        </a:buClr>
        <a:buFont typeface="Wingdings" pitchFamily="2" charset="2"/>
        <a:buChar char="n"/>
        <a:defRPr kumimoji="1" sz="2800" b="1" kern="1200">
          <a:solidFill>
            <a:schemeClr val="bg1">
              <a:lumMod val="25000"/>
            </a:schemeClr>
          </a:solidFill>
          <a:latin typeface="+mn-ea"/>
          <a:ea typeface="+mn-ea"/>
          <a:cs typeface="+mn-cs"/>
        </a:defRPr>
      </a:lvl1pPr>
      <a:lvl2pPr marL="898525" indent="-441325" algn="l" defTabSz="914400" rtl="0" eaLnBrk="1" latinLnBrk="0" hangingPunct="1">
        <a:lnSpc>
          <a:spcPct val="100000"/>
        </a:lnSpc>
        <a:spcBef>
          <a:spcPts val="0"/>
        </a:spcBef>
        <a:buClr>
          <a:srgbClr val="C00000"/>
        </a:buClr>
        <a:buFont typeface="Wingdings" pitchFamily="2" charset="2"/>
        <a:buChar char="n"/>
        <a:defRPr kumimoji="1" sz="2400" kern="1200">
          <a:solidFill>
            <a:schemeClr val="bg1">
              <a:lumMod val="25000"/>
            </a:schemeClr>
          </a:solidFill>
          <a:latin typeface="+mn-ea"/>
          <a:ea typeface="+mn-ea"/>
          <a:cs typeface="+mn-cs"/>
        </a:defRPr>
      </a:lvl2pPr>
      <a:lvl3pPr marL="1252538" indent="-338138" algn="l" defTabSz="914400" rtl="0" eaLnBrk="1" latinLnBrk="0" hangingPunct="1">
        <a:lnSpc>
          <a:spcPct val="100000"/>
        </a:lnSpc>
        <a:spcBef>
          <a:spcPts val="0"/>
        </a:spcBef>
        <a:buClr>
          <a:srgbClr val="C00000"/>
        </a:buClr>
        <a:buFont typeface="Wingdings" pitchFamily="2" charset="2"/>
        <a:buChar char="n"/>
        <a:defRPr kumimoji="1" sz="2000" kern="1200">
          <a:solidFill>
            <a:schemeClr val="bg1">
              <a:lumMod val="25000"/>
            </a:schemeClr>
          </a:solidFill>
          <a:latin typeface="+mn-ea"/>
          <a:ea typeface="+mn-ea"/>
          <a:cs typeface="+mn-cs"/>
        </a:defRPr>
      </a:lvl3pPr>
      <a:lvl4pPr marL="1706563" indent="-334963" algn="l" defTabSz="914400" rtl="0" eaLnBrk="1" latinLnBrk="0" hangingPunct="1">
        <a:lnSpc>
          <a:spcPct val="100000"/>
        </a:lnSpc>
        <a:spcBef>
          <a:spcPts val="0"/>
        </a:spcBef>
        <a:buClr>
          <a:srgbClr val="C00000"/>
        </a:buClr>
        <a:buFont typeface="Wingdings" pitchFamily="2" charset="2"/>
        <a:buChar char="n"/>
        <a:defRPr kumimoji="1" sz="1800" kern="1200">
          <a:solidFill>
            <a:schemeClr val="bg1">
              <a:lumMod val="25000"/>
            </a:schemeClr>
          </a:solidFill>
          <a:latin typeface="+mn-ea"/>
          <a:ea typeface="+mn-ea"/>
          <a:cs typeface="+mn-cs"/>
        </a:defRPr>
      </a:lvl4pPr>
      <a:lvl5pPr marL="2151063" indent="-322263" algn="l" defTabSz="914400" rtl="0" eaLnBrk="1" latinLnBrk="0" hangingPunct="1">
        <a:lnSpc>
          <a:spcPct val="100000"/>
        </a:lnSpc>
        <a:spcBef>
          <a:spcPts val="0"/>
        </a:spcBef>
        <a:buClr>
          <a:srgbClr val="C00000"/>
        </a:buClr>
        <a:buFont typeface="Wingdings" pitchFamily="2" charset="2"/>
        <a:buChar char="n"/>
        <a:defRPr kumimoji="1" sz="1800" kern="1200">
          <a:solidFill>
            <a:schemeClr val="bg1">
              <a:lumMod val="25000"/>
            </a:schemeClr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08FD74-8A95-4CC4-8A3E-A416E77C6F4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420098" y="152399"/>
            <a:ext cx="3594101" cy="378541"/>
          </a:xfrm>
        </p:spPr>
        <p:txBody>
          <a:bodyPr>
            <a:normAutofit fontScale="77500" lnSpcReduction="20000"/>
          </a:bodyPr>
          <a:lstStyle/>
          <a:p>
            <a:endParaRPr kumimoji="1" lang="ja-JP" altLang="en-US" dirty="0"/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0AFE5A35-E172-4CE5-9706-822A88371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65969" y="2383505"/>
            <a:ext cx="6475307" cy="1045495"/>
          </a:xfrm>
        </p:spPr>
        <p:txBody>
          <a:bodyPr>
            <a:normAutofit/>
          </a:bodyPr>
          <a:lstStyle/>
          <a:p>
            <a:r>
              <a:rPr lang="ja-JP" altLang="en-US" sz="48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自然言語処理（</a:t>
            </a:r>
            <a:r>
              <a:rPr lang="en-US" altLang="ja-JP" sz="48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NLP</a:t>
            </a:r>
            <a:r>
              <a:rPr lang="ja-JP" altLang="en-US" sz="48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）</a:t>
            </a:r>
            <a:endParaRPr lang="en-US" altLang="ja-JP" sz="4800" dirty="0">
              <a:solidFill>
                <a:schemeClr val="tx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D753D6A-A826-05CF-5564-71C573E29AF0}"/>
              </a:ext>
            </a:extLst>
          </p:cNvPr>
          <p:cNvSpPr/>
          <p:nvPr/>
        </p:nvSpPr>
        <p:spPr>
          <a:xfrm>
            <a:off x="0" y="-20103"/>
            <a:ext cx="12192000" cy="1432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0BED77F-9C6C-404C-DF01-0598632F656C}"/>
              </a:ext>
            </a:extLst>
          </p:cNvPr>
          <p:cNvSpPr/>
          <p:nvPr/>
        </p:nvSpPr>
        <p:spPr>
          <a:xfrm>
            <a:off x="10501624" y="5625017"/>
            <a:ext cx="1690376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A9CF32-4207-A306-88E5-56A948556B77}"/>
              </a:ext>
            </a:extLst>
          </p:cNvPr>
          <p:cNvSpPr txBox="1"/>
          <p:nvPr/>
        </p:nvSpPr>
        <p:spPr>
          <a:xfrm>
            <a:off x="3013551" y="5472142"/>
            <a:ext cx="41360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tx1">
                    <a:lumMod val="50000"/>
                  </a:schemeClr>
                </a:solidFill>
                <a:effectLst/>
                <a:latin typeface="+mn-ea"/>
              </a:rPr>
              <a:t>信州大学大学院</a:t>
            </a:r>
            <a:r>
              <a:rPr lang="en-US" altLang="ja-JP" dirty="0">
                <a:solidFill>
                  <a:schemeClr val="tx1">
                    <a:lumMod val="50000"/>
                  </a:schemeClr>
                </a:solidFill>
                <a:effectLst/>
                <a:latin typeface="+mn-ea"/>
              </a:rPr>
              <a:t> </a:t>
            </a:r>
            <a:r>
              <a:rPr lang="ja-JP" altLang="en-US" dirty="0">
                <a:solidFill>
                  <a:schemeClr val="tx1">
                    <a:lumMod val="50000"/>
                  </a:schemeClr>
                </a:solidFill>
                <a:effectLst/>
                <a:latin typeface="+mn-ea"/>
              </a:rPr>
              <a:t>総合理工学研究科 </a:t>
            </a:r>
            <a:endParaRPr lang="ja-JP" altLang="en-US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algn="ctr"/>
            <a:endParaRPr kumimoji="1" lang="en-US" altLang="ja-JP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ja-JP" altLang="en-US">
                <a:solidFill>
                  <a:schemeClr val="tx1">
                    <a:lumMod val="50000"/>
                  </a:schemeClr>
                </a:solidFill>
                <a:latin typeface="+mn-ea"/>
              </a:rPr>
              <a:t>　田中</a:t>
            </a:r>
            <a:r>
              <a:rPr lang="ja-JP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・エルナン研究室　</a:t>
            </a:r>
            <a:r>
              <a:rPr lang="en-US" altLang="ja-JP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ja-JP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石渡</a:t>
            </a:r>
            <a:r>
              <a:rPr lang="en-US" altLang="ja-JP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ja-JP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将伍</a:t>
            </a:r>
            <a:r>
              <a:rPr kumimoji="1" lang="ja-JP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　　</a:t>
            </a:r>
          </a:p>
        </p:txBody>
      </p:sp>
      <p:pic>
        <p:nvPicPr>
          <p:cNvPr id="7" name="図 6" descr="テキスト, ロゴ&#10;&#10;自動的に生成された説明">
            <a:extLst>
              <a:ext uri="{FF2B5EF4-FFF2-40B4-BE49-F238E27FC236}">
                <a16:creationId xmlns:a16="http://schemas.microsoft.com/office/drawing/2014/main" id="{7D46D3E3-0BA8-A127-32F2-FF62E42E6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045" y="5472142"/>
            <a:ext cx="23749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10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12E4FA5E-4ED7-5C4D-9751-F2DEEE441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5A9555-4626-16FF-16A5-81F0030A27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ja-JP" dirty="0"/>
              <a:t>1-1. NLP</a:t>
            </a:r>
            <a:r>
              <a:rPr kumimoji="1" lang="ja-JP" altLang="en-US" dirty="0"/>
              <a:t>とは</a:t>
            </a:r>
          </a:p>
        </p:txBody>
      </p:sp>
    </p:spTree>
    <p:extLst>
      <p:ext uri="{BB962C8B-B14F-4D97-AF65-F5344CB8AC3E}">
        <p14:creationId xmlns:p14="http://schemas.microsoft.com/office/powerpoint/2010/main" val="2507138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731AF-FA66-426D-9524-12D756B6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6D6AE761-9E2B-21BD-3776-210387B1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B2055B-C82A-0AFB-2999-C7E9A7E5D3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ja-JP" dirty="0"/>
              <a:t>1-2. NLP</a:t>
            </a:r>
            <a:r>
              <a:rPr lang="ja-JP" altLang="en-US" dirty="0"/>
              <a:t>の代表タスク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2408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242D-A2FF-5CDA-3443-F118DB8AD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239312B9-570F-804D-60E6-CE84668B9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5E4B7B-02B0-03CD-3931-4C3724B610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-1.</a:t>
            </a:r>
            <a:r>
              <a:rPr lang="en-US" altLang="ja-JP" dirty="0"/>
              <a:t> </a:t>
            </a:r>
            <a:r>
              <a:rPr lang="ja-JP" altLang="en-US" dirty="0"/>
              <a:t>ニューラルネットワークと</a:t>
            </a:r>
            <a:r>
              <a:rPr lang="en-US" altLang="ja-JP" dirty="0"/>
              <a:t>Transformer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846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4AB22-C422-5F0E-3073-26561BD1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53DFD599-C266-FB11-76B2-282C728A2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D4A599-16ED-500E-28F6-838F85653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-2.</a:t>
            </a:r>
            <a:r>
              <a:rPr lang="en-US" altLang="ja-JP" dirty="0"/>
              <a:t> </a:t>
            </a:r>
            <a:r>
              <a:rPr lang="ja-JP" altLang="en-US" dirty="0"/>
              <a:t>単語のベクトル化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4606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7DD58-887F-13BF-54B6-7B458278A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E9B61993-DBEC-A659-EA71-546CF82D4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7EB696-E0AB-BB84-FDD0-1A3BCEF6F5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-2.</a:t>
            </a:r>
            <a:r>
              <a:rPr lang="en-US" altLang="ja-JP" dirty="0"/>
              <a:t> </a:t>
            </a:r>
            <a:r>
              <a:rPr lang="ja-JP" altLang="en-US" dirty="0"/>
              <a:t>ニューラルネットワーク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7333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05EEF-C005-3FEE-5244-5E3B5630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EB16789D-3988-8410-95D8-55B917D96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1A8DF5-252B-7D61-E2C9-F0CDA4E9FC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-3.</a:t>
            </a:r>
            <a:r>
              <a:rPr lang="en-US" altLang="ja-JP" dirty="0"/>
              <a:t> </a:t>
            </a:r>
            <a:r>
              <a:rPr lang="en-US" altLang="ja-JP" dirty="0" err="1"/>
              <a:t>softmax</a:t>
            </a:r>
            <a:r>
              <a:rPr lang="ja-JP" altLang="en-US" dirty="0"/>
              <a:t>と損失関数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89508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96150-7E92-26E1-225F-234365015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6747F00F-5BDF-F4C2-FF51-50D0AF5A0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BBF5B8-6DB3-4A8A-9518-A6D0FEC61E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-4.</a:t>
            </a:r>
            <a:r>
              <a:rPr lang="en-US" altLang="ja-JP" dirty="0"/>
              <a:t> </a:t>
            </a:r>
            <a:r>
              <a:rPr lang="ja-JP" altLang="en-US" dirty="0"/>
              <a:t>勾配降下法と重み更新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34653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FD099-633F-ABB6-9FE8-9100351D6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CE4333D-5740-001C-305D-FD0337D01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F76362-3DE4-6B8A-BCA9-E7C9051316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-5.</a:t>
            </a:r>
            <a:r>
              <a:rPr lang="en-US" altLang="ja-JP" dirty="0"/>
              <a:t> Attention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80535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E4AF9-470B-C3C6-9576-512ED901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22651749-72CC-B1A1-E001-9D538BA4C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802C98-12F0-840C-4ADD-7B83DD55F5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ja-JP" dirty="0"/>
              <a:t>2-6.</a:t>
            </a:r>
            <a:r>
              <a:rPr lang="en-US" altLang="ja-JP" dirty="0"/>
              <a:t> Transformer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04790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66CE7-E470-7F99-8D76-72BFADB0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1F989934-6FFF-0959-3482-A3ED88F38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F985AA-93B0-9E7B-D851-60BA81C2B2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ja-JP" dirty="0"/>
              <a:t>3-1.</a:t>
            </a:r>
            <a:r>
              <a:rPr lang="en-US" altLang="ja-JP" dirty="0"/>
              <a:t> LLM</a:t>
            </a:r>
            <a:r>
              <a:rPr lang="ja-JP" altLang="en-US" dirty="0"/>
              <a:t>とは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81029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6345-CAA0-E7C7-1DBF-38538187F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1255F550-6063-F628-1084-E7098A4BB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303F42-AD0E-50B7-C742-408ECFDD66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-2. </a:t>
            </a:r>
            <a:r>
              <a:rPr lang="ja-JP" altLang="en-US" dirty="0"/>
              <a:t>次単語予測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07985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8A732-C5D7-FCBC-DA9E-95A669D9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7C36F93-698F-BBEC-BFEC-D45AB5C6E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54F70C-902E-7850-E4FA-AA72F33F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-3. </a:t>
            </a:r>
            <a:r>
              <a:rPr kumimoji="1" lang="ja-JP" altLang="en-US" dirty="0"/>
              <a:t>文章生成の仕組み</a:t>
            </a:r>
          </a:p>
        </p:txBody>
      </p:sp>
    </p:spTree>
    <p:extLst>
      <p:ext uri="{BB962C8B-B14F-4D97-AF65-F5344CB8AC3E}">
        <p14:creationId xmlns:p14="http://schemas.microsoft.com/office/powerpoint/2010/main" val="2832670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4BD10-2C43-1FDA-5D70-D6B00887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EE7E34A-85B3-2232-1560-05FE9A915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60800B-0230-E5CD-4E4D-78C60D1B41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-4.</a:t>
            </a:r>
            <a:r>
              <a:rPr lang="ja-JP" altLang="en-US" dirty="0"/>
              <a:t> 事前学習</a:t>
            </a:r>
            <a:r>
              <a:rPr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94817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C2E9-FCCF-B00D-E366-EB001BC6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DD86EC83-374F-0776-16E2-0522A5CAE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B7C1DF-0507-EAAB-B552-6F9EA77728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-5.</a:t>
            </a:r>
            <a:r>
              <a:rPr lang="en-US" altLang="ja-JP" dirty="0"/>
              <a:t> </a:t>
            </a:r>
            <a:r>
              <a:rPr lang="ja-JP" altLang="en-US" dirty="0"/>
              <a:t>ファインチューニング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9030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91E2D-DCCA-BAEB-DFDF-75476BE34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D27B4D4C-84F8-24A4-B35C-0B62B9FEA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246416-3A32-6313-FEAC-A0561A628A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-6.</a:t>
            </a:r>
            <a:r>
              <a:rPr lang="en-US" altLang="ja-JP" dirty="0"/>
              <a:t> </a:t>
            </a:r>
            <a:r>
              <a:rPr lang="ja-JP" altLang="en-US" dirty="0"/>
              <a:t>自然言語処理における強化学習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3670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49CE1-652A-940C-E226-7CBF8C1E8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F479456A-DA40-5F64-51B0-399036F0D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1936AD-EFED-AE74-80E9-FFD8A1BE92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ja-JP" dirty="0"/>
              <a:t>3-7.</a:t>
            </a:r>
            <a:r>
              <a:rPr lang="en-US" altLang="ja-JP" dirty="0"/>
              <a:t> RLHF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2059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CFDAD-D152-AA9E-BC45-4136D5A8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83D350A7-9E34-DDA0-3845-276600BDB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089055-7B32-36D9-0630-31CB72F61A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-8.</a:t>
            </a:r>
            <a:r>
              <a:rPr lang="en-US" altLang="ja-JP" dirty="0"/>
              <a:t> LLM</a:t>
            </a:r>
            <a:r>
              <a:rPr lang="ja-JP" altLang="en-US" dirty="0"/>
              <a:t>の限界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89789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EADF0-D642-9846-7DB9-FEF879286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FE42C1EB-89A2-7AA6-B87C-B7AB4437B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49F770-AB20-FE2A-AE75-E179E9E9FD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4</a:t>
            </a:r>
            <a:r>
              <a:rPr kumimoji="1" lang="en-US" altLang="ja-JP" dirty="0"/>
              <a:t>-1.</a:t>
            </a:r>
            <a:r>
              <a:rPr lang="en-US" altLang="ja-JP" dirty="0"/>
              <a:t> BERT</a:t>
            </a:r>
            <a:r>
              <a:rPr lang="ja-JP" altLang="en-US" dirty="0"/>
              <a:t>とは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7011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EC4C7-1DA7-A9AE-B391-19985E580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FB110340-094E-AC08-40A0-16269396D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28CC560-16A7-EF46-2B95-89EFF672F5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ja-JP" dirty="0"/>
              <a:t>4-2.</a:t>
            </a:r>
            <a:r>
              <a:rPr lang="en-US" altLang="ja-JP" dirty="0"/>
              <a:t> Masked Language Modeling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02442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9A875-FA61-C797-E231-98080A87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BCE19C8D-83B1-FB74-9897-8D95FDE00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4B37E4-EE31-AB6A-A925-6FE2A5287D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ja-JP" dirty="0"/>
              <a:t>4-3.</a:t>
            </a:r>
            <a:r>
              <a:rPr lang="en-US" altLang="ja-JP" dirty="0"/>
              <a:t> </a:t>
            </a:r>
            <a:r>
              <a:rPr lang="ja-JP" altLang="en-US" dirty="0"/>
              <a:t>双方向の文脈理解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56393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FC989-0011-E2D8-EF9B-8A78E9F69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624D20E9-562F-A557-DAF3-354A33246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73DDA6-8F9F-B49F-A3D5-BF2F60AB5A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ja-JP" dirty="0"/>
              <a:t>4-4.</a:t>
            </a:r>
            <a:r>
              <a:rPr lang="en-US" altLang="ja-JP" dirty="0"/>
              <a:t> </a:t>
            </a:r>
            <a:r>
              <a:rPr lang="ja-JP" altLang="en-US" dirty="0"/>
              <a:t>文章理解・検索・固有表現抽出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5971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A6F22-0D5D-6E8D-2EC2-27ACAC766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80099EA7-085C-4D65-9BE1-C06C1E204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CABC89-071A-0E17-E1E0-15BCFB5A96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ja-JP" dirty="0"/>
              <a:t>4-5. LLM</a:t>
            </a:r>
            <a:r>
              <a:rPr kumimoji="1" lang="ja-JP" altLang="en-US" dirty="0"/>
              <a:t>との違い</a:t>
            </a:r>
          </a:p>
        </p:txBody>
      </p:sp>
    </p:spTree>
    <p:extLst>
      <p:ext uri="{BB962C8B-B14F-4D97-AF65-F5344CB8AC3E}">
        <p14:creationId xmlns:p14="http://schemas.microsoft.com/office/powerpoint/2010/main" val="1164110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C6246-902C-1DC6-BF41-76905D8F3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E41FDFD3-323C-A7A9-969D-133B9D669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801946-1803-2D26-67A0-FB02CD8691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ja-JP" altLang="en-US" dirty="0"/>
              <a:t>まとめ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67248129"/>
      </p:ext>
    </p:extLst>
  </p:cSld>
  <p:clrMapOvr>
    <a:masterClrMapping/>
  </p:clrMapOvr>
</p:sld>
</file>

<file path=ppt/theme/theme1.xml><?xml version="1.0" encoding="utf-8"?>
<a:theme xmlns:a="http://schemas.openxmlformats.org/drawingml/2006/main" name="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yu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研究発表用テンプレート2022版.potx" id="{6306135A-614C-4776-A803-91994B10B76C}" vid="{3B8C9F31-E626-4709-A765-E9EDF381CB24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7783413B678BA4F83764129A5DB4607" ma:contentTypeVersion="0" ma:contentTypeDescription="新しいドキュメントを作成します。" ma:contentTypeScope="" ma:versionID="36bbfa3e05015206d9e02241ed477da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fa5fc393d419cfd9816b88a984ff78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74453E-F96D-478A-A3EE-1788D5BE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B33ED81-A378-482E-B710-0D21A32023B2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EFD21F3-24CC-4605-A5CE-D678D2531A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45658</TotalTime>
  <Words>173</Words>
  <Application>Microsoft Office PowerPoint</Application>
  <PresentationFormat>ワイド画面</PresentationFormat>
  <Paragraphs>53</Paragraphs>
  <Slides>24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30" baseType="lpstr">
      <vt:lpstr>Yu Gothic UI</vt:lpstr>
      <vt:lpstr>游ゴシック</vt:lpstr>
      <vt:lpstr>游ゴシック Medium</vt:lpstr>
      <vt:lpstr>Arial</vt:lpstr>
      <vt:lpstr>Wingdings</vt:lpstr>
      <vt:lpstr>研究発表スライドマスタ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石渡　将伍</dc:creator>
  <cp:lastModifiedBy>Shougo Ishiwata</cp:lastModifiedBy>
  <cp:revision>125</cp:revision>
  <dcterms:created xsi:type="dcterms:W3CDTF">2025-09-07T02:48:27Z</dcterms:created>
  <dcterms:modified xsi:type="dcterms:W3CDTF">2026-06-06T09:59:58Z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0x010100E7783413B678BA4F83764129A5DB4607</vt:lpwstr>
  </property>
</Properties>
</file>