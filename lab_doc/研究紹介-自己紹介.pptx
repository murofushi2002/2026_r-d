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7"/>
  </p:notesMasterIdLst>
  <p:handoutMasterIdLst>
    <p:handoutMasterId r:id="rId8"/>
  </p:handoutMasterIdLst>
  <p:sldIdLst>
    <p:sldId id="559" r:id="rId5"/>
    <p:sldId id="571"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312"/>
    <a:srgbClr val="FFFFFF"/>
    <a:srgbClr val="2E6D66"/>
    <a:srgbClr val="F5F5F5"/>
    <a:srgbClr val="1F4944"/>
    <a:srgbClr val="EEBB00"/>
    <a:srgbClr val="95B638"/>
    <a:srgbClr val="9CA846"/>
    <a:srgbClr val="9A7D2D"/>
    <a:srgbClr val="3B6F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90" autoAdjust="0"/>
  </p:normalViewPr>
  <p:slideViewPr>
    <p:cSldViewPr snapToGrid="0">
      <p:cViewPr varScale="1">
        <p:scale>
          <a:sx n="83" d="100"/>
          <a:sy n="83" d="100"/>
        </p:scale>
        <p:origin x="686" y="77"/>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2026/4/4</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2026/4/4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F36C-B2DE-165D-D30B-35A0D59CB4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1DA2DB7-9B61-2B1E-9A77-27F4DA66543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8AA68F7-96FC-3B68-4F5D-7F2088D4A9E6}"/>
              </a:ext>
            </a:extLst>
          </p:cNvPr>
          <p:cNvSpPr>
            <a:spLocks noGrp="1"/>
          </p:cNvSpPr>
          <p:nvPr>
            <p:ph type="body" idx="1"/>
          </p:nvPr>
        </p:nvSpPr>
        <p:spPr/>
        <p:txBody>
          <a:bodyPr/>
          <a:lstStyle/>
          <a:p>
            <a:r>
              <a:rPr lang="ja-JP" altLang="en-US" dirty="0"/>
              <a:t>まず、私はホテルの価格設定支援をテーマに長野市内のホテルと共同研究に取り組んでいます。</a:t>
            </a:r>
            <a:endParaRPr lang="en-US" altLang="ja-JP" dirty="0"/>
          </a:p>
          <a:p>
            <a:endParaRPr lang="ja-JP" altLang="en-US" dirty="0"/>
          </a:p>
          <a:p>
            <a:r>
              <a:rPr lang="ja-JP" altLang="en-US" dirty="0"/>
              <a:t>価格設定における市場背景として、</a:t>
            </a:r>
            <a:endParaRPr lang="en-US" altLang="ja-JP" dirty="0"/>
          </a:p>
          <a:p>
            <a:r>
              <a:rPr lang="ja-JP" altLang="en-US" dirty="0"/>
              <a:t>近年はインバウンド需要の回復などで宿泊需要の変動が大きくなっており、需要に応じて価格を変えるダイナミックプライシングの重要性が高まっています。</a:t>
            </a:r>
          </a:p>
          <a:p>
            <a:r>
              <a:rPr lang="ja-JP" altLang="en-US" dirty="0"/>
              <a:t>一方、共同研究先へのヒアリングでは、価格設定を外部コンサルに委託した結果、短期的な利益は増えたものの、稼働率の低下により顧客離れの可能性がある、という課題が分かりました。</a:t>
            </a:r>
          </a:p>
          <a:p>
            <a:r>
              <a:rPr lang="ja-JP" altLang="en-US" dirty="0"/>
              <a:t>つまり、ホテル側には利益を確保したいという思いがあり、宿泊者側には体験価値に見合った価格で泊まりたいという思いがあります。</a:t>
            </a:r>
          </a:p>
          <a:p>
            <a:r>
              <a:rPr lang="ja-JP" altLang="en-US" dirty="0"/>
              <a:t>そこで私の研究では、</a:t>
            </a:r>
            <a:r>
              <a:rPr lang="ja-JP" altLang="en-US" b="1" dirty="0"/>
              <a:t>口コミという顧客の声</a:t>
            </a:r>
            <a:r>
              <a:rPr lang="ja-JP" altLang="en-US" dirty="0"/>
              <a:t>と</a:t>
            </a:r>
            <a:r>
              <a:rPr lang="ja-JP" altLang="en-US" b="1" dirty="0"/>
              <a:t>需要の時系列データ</a:t>
            </a:r>
            <a:r>
              <a:rPr lang="ja-JP" altLang="en-US" dirty="0"/>
              <a:t>を活用し、顧客満足度と利益の両立を支援する価格最適化モデルの開発を目指しています。</a:t>
            </a:r>
          </a:p>
          <a:p>
            <a:endParaRPr lang="ja-JP" altLang="en-US" dirty="0"/>
          </a:p>
        </p:txBody>
      </p:sp>
      <p:sp>
        <p:nvSpPr>
          <p:cNvPr id="4" name="スライド番号プレースホルダー 3">
            <a:extLst>
              <a:ext uri="{FF2B5EF4-FFF2-40B4-BE49-F238E27FC236}">
                <a16:creationId xmlns:a16="http://schemas.microsoft.com/office/drawing/2014/main" id="{E1A44EBE-1FB6-9110-8201-F3A65D146875}"/>
              </a:ext>
            </a:extLst>
          </p:cNvPr>
          <p:cNvSpPr>
            <a:spLocks noGrp="1"/>
          </p:cNvSpPr>
          <p:nvPr>
            <p:ph type="sldNum" sz="quarter" idx="5"/>
          </p:nvPr>
        </p:nvSpPr>
        <p:spPr/>
        <p:txBody>
          <a:bodyPr/>
          <a:lstStyle/>
          <a:p>
            <a:fld id="{059A420A-BDF0-4775-9670-07D3BFB5E94B}" type="slidenum">
              <a:rPr kumimoji="1" lang="ja-JP" altLang="en-US" smtClean="0"/>
              <a:t>0</a:t>
            </a:fld>
            <a:endParaRPr kumimoji="1" lang="ja-JP" altLang="en-US"/>
          </a:p>
        </p:txBody>
      </p:sp>
    </p:spTree>
    <p:extLst>
      <p:ext uri="{BB962C8B-B14F-4D97-AF65-F5344CB8AC3E}">
        <p14:creationId xmlns:p14="http://schemas.microsoft.com/office/powerpoint/2010/main" val="1294591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41462-6D93-2104-8FEF-25FAD20064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4B573D-0205-1BAA-34D9-3B135D03D5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32B944-6F2A-E75F-90F0-897411A97F2D}"/>
              </a:ext>
            </a:extLst>
          </p:cNvPr>
          <p:cNvSpPr>
            <a:spLocks noGrp="1"/>
          </p:cNvSpPr>
          <p:nvPr>
            <p:ph type="body" idx="1"/>
          </p:nvPr>
        </p:nvSpPr>
        <p:spPr/>
        <p:txBody>
          <a:bodyPr/>
          <a:lstStyle/>
          <a:p>
            <a:r>
              <a:rPr lang="ja-JP" altLang="en-US" dirty="0"/>
              <a:t>続いて、今回の研究で開発しているモデルの全体構成を説明させていただきます。</a:t>
            </a:r>
            <a:endParaRPr lang="en-US" altLang="ja-JP" dirty="0"/>
          </a:p>
          <a:p>
            <a:endParaRPr lang="ja-JP" altLang="en-US" dirty="0"/>
          </a:p>
          <a:p>
            <a:r>
              <a:rPr lang="ja-JP" altLang="en-US" dirty="0"/>
              <a:t>本研究は大きく </a:t>
            </a:r>
            <a:r>
              <a:rPr lang="en-US" altLang="ja-JP" b="1" dirty="0"/>
              <a:t>3</a:t>
            </a:r>
            <a:r>
              <a:rPr lang="ja-JP" altLang="en-US" b="1" dirty="0"/>
              <a:t>つのステップ</a:t>
            </a:r>
            <a:r>
              <a:rPr lang="ja-JP" altLang="en-US" dirty="0"/>
              <a:t>で構成されていて、まず</a:t>
            </a:r>
            <a:r>
              <a:rPr lang="en-US" altLang="ja-JP" dirty="0"/>
              <a:t>STEP1</a:t>
            </a:r>
            <a:r>
              <a:rPr lang="ja-JP" altLang="en-US" dirty="0"/>
              <a:t>では、予約サイトの口コミ文を対象に、新規開発を行った感情分析モデルを活用して、「清掃」や「食事」などの観点ごとに口コミの感情を定量化します。</a:t>
            </a:r>
            <a:endParaRPr lang="en-US" altLang="ja-JP" dirty="0"/>
          </a:p>
          <a:p>
            <a:endParaRPr lang="en-US" altLang="ja-JP" dirty="0"/>
          </a:p>
          <a:p>
            <a:r>
              <a:rPr lang="ja-JP" altLang="en-US" dirty="0"/>
              <a:t>この後、</a:t>
            </a:r>
            <a:r>
              <a:rPr lang="en-US" altLang="ja-JP" dirty="0"/>
              <a:t>STEP2</a:t>
            </a:r>
            <a:r>
              <a:rPr lang="ja-JP" altLang="en-US" dirty="0"/>
              <a:t>では、定量化された口コミ感情データに加えて、</a:t>
            </a:r>
            <a:br>
              <a:rPr lang="ja-JP" altLang="en-US" dirty="0"/>
            </a:br>
            <a:r>
              <a:rPr lang="ja-JP" altLang="en-US" dirty="0"/>
              <a:t>過去の顧客の予約情報などが記録されている経営データを活用して、</a:t>
            </a:r>
            <a:r>
              <a:rPr lang="ja-JP" altLang="en-US" b="1" dirty="0"/>
              <a:t>将来のホテル全体の客室稼働率を予測</a:t>
            </a:r>
            <a:r>
              <a:rPr lang="ja-JP" altLang="en-US" dirty="0"/>
              <a:t>していきます。</a:t>
            </a:r>
          </a:p>
          <a:p>
            <a:endParaRPr lang="en-US" altLang="ja-JP" dirty="0"/>
          </a:p>
          <a:p>
            <a:r>
              <a:rPr lang="ja-JP" altLang="en-US" dirty="0"/>
              <a:t>そして</a:t>
            </a:r>
            <a:r>
              <a:rPr lang="en-US" altLang="ja-JP" dirty="0"/>
              <a:t>STEP3</a:t>
            </a:r>
            <a:r>
              <a:rPr lang="ja-JP" altLang="en-US" dirty="0"/>
              <a:t>では、</a:t>
            </a:r>
            <a:br>
              <a:rPr lang="ja-JP" altLang="en-US" dirty="0"/>
            </a:br>
            <a:r>
              <a:rPr lang="ja-JP" altLang="en-US" dirty="0"/>
              <a:t>その稼働率予測結果とこれらのデータを再度活用して、</a:t>
            </a:r>
            <a:r>
              <a:rPr lang="en-US" altLang="ja-JP" dirty="0"/>
              <a:t>LLM</a:t>
            </a:r>
            <a:r>
              <a:rPr lang="ja-JP" altLang="en-US" dirty="0"/>
              <a:t>を使って作成したエージェントが、</a:t>
            </a:r>
            <a:br>
              <a:rPr lang="ja-JP" altLang="en-US" dirty="0"/>
            </a:br>
            <a:r>
              <a:rPr lang="ja-JP" altLang="en-US" dirty="0"/>
              <a:t>適切</a:t>
            </a:r>
            <a:r>
              <a:rPr lang="ja-JP" altLang="en-US" b="1" dirty="0"/>
              <a:t>な宿泊価格を提案する、というのが研究の全体像となっています。</a:t>
            </a:r>
            <a:endParaRPr lang="en-US" altLang="ja-JP" b="1" dirty="0"/>
          </a:p>
          <a:p>
            <a:endParaRPr lang="en-US" altLang="ja-JP" b="1" dirty="0"/>
          </a:p>
          <a:p>
            <a:r>
              <a:rPr lang="ja-JP" altLang="en-US" b="1" dirty="0"/>
              <a:t>ホテル運営者に、口コミと需要を考慮した価格を導き出すことができるのが、本研究の価値であると改めて、お伝えさせていただければと思います。</a:t>
            </a:r>
            <a:br>
              <a:rPr lang="en-US" altLang="ja-JP" b="1" dirty="0"/>
            </a:br>
            <a:endParaRPr lang="en-US" altLang="ja-JP" b="1" dirty="0"/>
          </a:p>
          <a:p>
            <a:r>
              <a:rPr kumimoji="1" lang="ja-JP" altLang="en-US" b="1" dirty="0"/>
              <a:t>続いて実際の研究成果についてお話させていただきます。</a:t>
            </a:r>
            <a:endParaRPr kumimoji="1" lang="en-US" altLang="ja-JP" b="1" dirty="0"/>
          </a:p>
        </p:txBody>
      </p:sp>
      <p:sp>
        <p:nvSpPr>
          <p:cNvPr id="4" name="スライド番号プレースホルダー 3">
            <a:extLst>
              <a:ext uri="{FF2B5EF4-FFF2-40B4-BE49-F238E27FC236}">
                <a16:creationId xmlns:a16="http://schemas.microsoft.com/office/drawing/2014/main" id="{B97F3339-CB56-4A7E-7BFD-56B7EB755CFA}"/>
              </a:ext>
            </a:extLst>
          </p:cNvPr>
          <p:cNvSpPr>
            <a:spLocks noGrp="1"/>
          </p:cNvSpPr>
          <p:nvPr>
            <p:ph type="sldNum" sz="quarter" idx="5"/>
          </p:nvPr>
        </p:nvSpPr>
        <p:spPr/>
        <p:txBody>
          <a:bodyPr/>
          <a:lstStyle/>
          <a:p>
            <a:fld id="{059A420A-BDF0-4775-9670-07D3BFB5E94B}" type="slidenum">
              <a:rPr kumimoji="1" lang="ja-JP" altLang="en-US" smtClean="0"/>
              <a:t>1</a:t>
            </a:fld>
            <a:endParaRPr kumimoji="1" lang="ja-JP" altLang="en-US"/>
          </a:p>
        </p:txBody>
      </p:sp>
    </p:spTree>
    <p:extLst>
      <p:ext uri="{BB962C8B-B14F-4D97-AF65-F5344CB8AC3E}">
        <p14:creationId xmlns:p14="http://schemas.microsoft.com/office/powerpoint/2010/main" val="28037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a:prstGeom prst="rect">
            <a:avLst/>
          </a:prstGeo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panose="020B0400000000000000" pitchFamily="50" charset="-128"/>
                <a:ea typeface="游ゴシック" panose="020B04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身分や所属など．関連する</a:t>
            </a:r>
            <a:r>
              <a:rPr kumimoji="1" lang="en-US" altLang="ja-JP" dirty="0"/>
              <a:t>SNS</a:t>
            </a:r>
            <a:r>
              <a:rPr kumimoji="1" lang="ja-JP" altLang="en-US" dirty="0"/>
              <a:t>アカウントなども．</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dirty="0"/>
              <a:t>題目の説明の助けになる図や動画があれば載せる．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パラグラフスライド">
    <p:spTree>
      <p:nvGrpSpPr>
        <p:cNvPr id="1" name=""/>
        <p:cNvGrpSpPr/>
        <p:nvPr/>
      </p:nvGrpSpPr>
      <p:grpSpPr>
        <a:xfrm>
          <a:off x="0" y="0"/>
          <a:ext cx="0" cy="0"/>
          <a:chOff x="0" y="0"/>
          <a:chExt cx="0" cy="0"/>
        </a:xfrm>
      </p:grpSpPr>
      <p:sp>
        <p:nvSpPr>
          <p:cNvPr id="3" name="コンテンツ プレースホルダー 2"/>
          <p:cNvSpPr>
            <a:spLocks noGrp="1"/>
          </p:cNvSpPr>
          <p:nvPr>
            <p:ph idx="1" hasCustomPrompt="1"/>
          </p:nvPr>
        </p:nvSpPr>
        <p:spPr>
          <a:xfrm>
            <a:off x="309282" y="742950"/>
            <a:ext cx="11349318" cy="5657849"/>
          </a:xfrm>
        </p:spPr>
        <p:txBody>
          <a:bodyPr/>
          <a:lstStyle>
            <a:lvl1pPr marL="457200" indent="-457200">
              <a:lnSpc>
                <a:spcPct val="150000"/>
              </a:lnSpc>
              <a:buClr>
                <a:srgbClr val="C00000"/>
              </a:buClr>
              <a:buFont typeface="Wingdings" panose="05000000000000000000" pitchFamily="2" charset="2"/>
              <a:buChar char="n"/>
              <a:defRPr>
                <a:solidFill>
                  <a:schemeClr val="tx1"/>
                </a:solidFill>
                <a:latin typeface="Yu Gothic UI" panose="020B0500000000000000" pitchFamily="50" charset="-128"/>
                <a:ea typeface="Yu Gothic UI" panose="020B0500000000000000" pitchFamily="50" charset="-128"/>
              </a:defRPr>
            </a:lvl1pPr>
            <a:lvl2pPr marL="800100" marR="0" indent="-342900" algn="l" defTabSz="914400" rtl="0" eaLnBrk="1" fontAlgn="auto" latinLnBrk="0" hangingPunct="1">
              <a:lnSpc>
                <a:spcPct val="150000"/>
              </a:lnSpc>
              <a:spcBef>
                <a:spcPts val="0"/>
              </a:spcBef>
              <a:spcAft>
                <a:spcPts val="0"/>
              </a:spcAft>
              <a:buClr>
                <a:srgbClr val="C00000"/>
              </a:buClr>
              <a:buSzTx/>
              <a:buFont typeface="Wingdings" panose="05000000000000000000" pitchFamily="2" charset="2"/>
              <a:buChar char="n"/>
              <a:tabLst/>
              <a:defRPr>
                <a:latin typeface="Yu Gothic UI" panose="020B0500000000000000" pitchFamily="50" charset="-128"/>
                <a:ea typeface="Yu Gothic UI" panose="020B0500000000000000" pitchFamily="50" charset="-128"/>
              </a:defRPr>
            </a:lvl2pPr>
            <a:lvl3pPr marL="1252538" indent="-338138">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3pPr>
            <a:lvl4pPr marL="1706563" indent="-3349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4pPr>
            <a:lvl5pPr marL="2151063" indent="-322263">
              <a:lnSpc>
                <a:spcPct val="150000"/>
              </a:lnSpc>
              <a:buClr>
                <a:srgbClr val="C00000"/>
              </a:buClr>
              <a:buFont typeface="Wingdings" panose="05000000000000000000" pitchFamily="2" charset="2"/>
              <a:buChar char="n"/>
              <a:defRPr>
                <a:latin typeface="Yu Gothic UI" panose="020B0500000000000000" pitchFamily="50" charset="-128"/>
                <a:ea typeface="Yu Gothic UI" panose="020B0500000000000000" pitchFamily="50" charset="-128"/>
              </a:defRPr>
            </a:lvl5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09282" y="95251"/>
            <a:ext cx="11473143" cy="419100"/>
          </a:xfrm>
        </p:spPr>
        <p:txBody>
          <a:bodyPr>
            <a:normAutofit/>
          </a:bodyPr>
          <a:lstStyle>
            <a:lvl1pPr marL="0" indent="0">
              <a:buNone/>
              <a:defRPr sz="2400" b="0">
                <a:solidFill>
                  <a:srgbClr val="FFFFFF"/>
                </a:solidFill>
                <a:latin typeface="Yu Gothic UI" panose="020B0500000000000000" pitchFamily="50" charset="-128"/>
                <a:ea typeface="Yu Gothic UI"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研究概要</a:t>
            </a:r>
            <a:endParaRPr kumimoji="1" lang="en-US" altLang="ja-JP" dirty="0"/>
          </a:p>
        </p:txBody>
      </p:sp>
    </p:spTree>
    <p:extLst>
      <p:ext uri="{BB962C8B-B14F-4D97-AF65-F5344CB8AC3E}">
        <p14:creationId xmlns:p14="http://schemas.microsoft.com/office/powerpoint/2010/main" val="1622984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テキスト プレースホルダー 2"/>
          <p:cNvSpPr>
            <a:spLocks noGrp="1"/>
          </p:cNvSpPr>
          <p:nvPr>
            <p:ph type="body" idx="1"/>
          </p:nvPr>
        </p:nvSpPr>
        <p:spPr>
          <a:xfrm>
            <a:off x="35029" y="623121"/>
            <a:ext cx="11775971" cy="5483306"/>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2" name="テキスト ボックス 1">
            <a:extLst>
              <a:ext uri="{FF2B5EF4-FFF2-40B4-BE49-F238E27FC236}">
                <a16:creationId xmlns:a16="http://schemas.microsoft.com/office/drawing/2014/main" id="{87C07A5E-272E-1F67-D0F7-A0EEE1A0E315}"/>
              </a:ext>
            </a:extLst>
          </p:cNvPr>
          <p:cNvSpPr txBox="1"/>
          <p:nvPr userDrawn="1"/>
        </p:nvSpPr>
        <p:spPr>
          <a:xfrm>
            <a:off x="11249628" y="6259810"/>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dirty="0">
              <a:solidFill>
                <a:schemeClr val="tx1"/>
              </a:solidFill>
              <a:latin typeface="+mn-lt"/>
              <a:ea typeface="游ゴシック Medium" panose="020B0500000000000000" pitchFamily="50" charset="-128"/>
            </a:endParaRPr>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
        <p:nvSpPr>
          <p:cNvPr id="7" name="正方形/長方形 6">
            <a:extLst>
              <a:ext uri="{FF2B5EF4-FFF2-40B4-BE49-F238E27FC236}">
                <a16:creationId xmlns:a16="http://schemas.microsoft.com/office/drawing/2014/main" id="{B77219BD-58DF-F70A-31BE-B566B55D4DB7}"/>
              </a:ext>
            </a:extLst>
          </p:cNvPr>
          <p:cNvSpPr/>
          <p:nvPr userDrawn="1"/>
        </p:nvSpPr>
        <p:spPr>
          <a:xfrm>
            <a:off x="0" y="-26893"/>
            <a:ext cx="12192000" cy="625083"/>
          </a:xfrm>
          <a:prstGeom prst="rect">
            <a:avLst/>
          </a:prstGeom>
          <a:solidFill>
            <a:srgbClr val="1F49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lumMod val="25000"/>
                </a:schemeClr>
              </a:solidFill>
            </a:endParaRPr>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00000"/>
        </a:lnSpc>
        <a:spcBef>
          <a:spcPts val="1800"/>
        </a:spcBef>
        <a:buClr>
          <a:srgbClr val="C00000"/>
        </a:buClr>
        <a:buFont typeface="Wingdings" pitchFamily="2" charset="2"/>
        <a:buChar char="n"/>
        <a:defRPr kumimoji="1" sz="2800" b="1" kern="1200">
          <a:solidFill>
            <a:schemeClr val="bg1">
              <a:lumMod val="25000"/>
            </a:schemeClr>
          </a:solidFill>
          <a:latin typeface="MS PGothic" panose="020B0600070205080204" pitchFamily="34" charset="-128"/>
          <a:ea typeface="MS PGothic" panose="020B0600070205080204" pitchFamily="34" charset="-128"/>
          <a:cs typeface="+mn-cs"/>
        </a:defRPr>
      </a:lvl1pPr>
      <a:lvl2pPr marL="898525" indent="-441325" algn="l" defTabSz="914400" rtl="0" eaLnBrk="1" latinLnBrk="0" hangingPunct="1">
        <a:lnSpc>
          <a:spcPct val="100000"/>
        </a:lnSpc>
        <a:spcBef>
          <a:spcPts val="0"/>
        </a:spcBef>
        <a:buClr>
          <a:srgbClr val="C00000"/>
        </a:buClr>
        <a:buFont typeface="Wingdings" pitchFamily="2" charset="2"/>
        <a:buChar char="n"/>
        <a:defRPr kumimoji="1" sz="2400" kern="1200">
          <a:solidFill>
            <a:schemeClr val="bg1">
              <a:lumMod val="25000"/>
            </a:schemeClr>
          </a:solidFill>
          <a:latin typeface="MS PGothic" panose="020B0600070205080204" pitchFamily="34" charset="-128"/>
          <a:ea typeface="MS PGothic" panose="020B0600070205080204" pitchFamily="34" charset="-128"/>
          <a:cs typeface="+mn-cs"/>
        </a:defRPr>
      </a:lvl2pPr>
      <a:lvl3pPr marL="1252538" indent="-338138" algn="l" defTabSz="914400" rtl="0" eaLnBrk="1" latinLnBrk="0" hangingPunct="1">
        <a:lnSpc>
          <a:spcPct val="100000"/>
        </a:lnSpc>
        <a:spcBef>
          <a:spcPts val="0"/>
        </a:spcBef>
        <a:buClr>
          <a:srgbClr val="C00000"/>
        </a:buClr>
        <a:buFont typeface="Wingdings" pitchFamily="2" charset="2"/>
        <a:buChar char="n"/>
        <a:defRPr kumimoji="1" sz="2000" kern="1200">
          <a:solidFill>
            <a:schemeClr val="bg1">
              <a:lumMod val="25000"/>
            </a:schemeClr>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00000"/>
        </a:lnSpc>
        <a:spcBef>
          <a:spcPts val="0"/>
        </a:spcBef>
        <a:buClr>
          <a:srgbClr val="C00000"/>
        </a:buClr>
        <a:buFont typeface="Wingdings" pitchFamily="2" charset="2"/>
        <a:buChar char="n"/>
        <a:defRPr kumimoji="1" sz="1800" kern="1200">
          <a:solidFill>
            <a:schemeClr val="bg1">
              <a:lumMod val="25000"/>
            </a:schemeClr>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9EC7-E0CD-0402-C301-6EA516793CA9}"/>
            </a:ext>
          </a:extLst>
        </p:cNvPr>
        <p:cNvGrpSpPr/>
        <p:nvPr/>
      </p:nvGrpSpPr>
      <p:grpSpPr>
        <a:xfrm>
          <a:off x="0" y="0"/>
          <a:ext cx="0" cy="0"/>
          <a:chOff x="0" y="0"/>
          <a:chExt cx="0" cy="0"/>
        </a:xfrm>
      </p:grpSpPr>
      <p:sp>
        <p:nvSpPr>
          <p:cNvPr id="37" name="正方形/長方形 36">
            <a:extLst>
              <a:ext uri="{FF2B5EF4-FFF2-40B4-BE49-F238E27FC236}">
                <a16:creationId xmlns:a16="http://schemas.microsoft.com/office/drawing/2014/main" id="{BBD0F5D4-4C4E-97E3-4B20-2041946C1018}"/>
              </a:ext>
            </a:extLst>
          </p:cNvPr>
          <p:cNvSpPr/>
          <p:nvPr/>
        </p:nvSpPr>
        <p:spPr>
          <a:xfrm>
            <a:off x="11830" y="617578"/>
            <a:ext cx="12180170" cy="2054956"/>
          </a:xfrm>
          <a:prstGeom prst="rect">
            <a:avLst/>
          </a:prstGeom>
          <a:solidFill>
            <a:schemeClr val="bg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四角形: 角を丸くする 35">
            <a:extLst>
              <a:ext uri="{FF2B5EF4-FFF2-40B4-BE49-F238E27FC236}">
                <a16:creationId xmlns:a16="http://schemas.microsoft.com/office/drawing/2014/main" id="{1734DFD4-580D-CF8F-548F-CF039D55EB82}"/>
              </a:ext>
            </a:extLst>
          </p:cNvPr>
          <p:cNvSpPr/>
          <p:nvPr/>
        </p:nvSpPr>
        <p:spPr>
          <a:xfrm>
            <a:off x="1085675" y="5722817"/>
            <a:ext cx="10020650" cy="992856"/>
          </a:xfrm>
          <a:prstGeom prst="roundRect">
            <a:avLst/>
          </a:prstGeom>
          <a:solidFill>
            <a:schemeClr val="accent4">
              <a:lumMod val="5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3" name="テキスト プレースホルダー 2">
            <a:extLst>
              <a:ext uri="{FF2B5EF4-FFF2-40B4-BE49-F238E27FC236}">
                <a16:creationId xmlns:a16="http://schemas.microsoft.com/office/drawing/2014/main" id="{FC8C45D2-3A0E-36F4-5F4D-5644DBFD76CC}"/>
              </a:ext>
            </a:extLst>
          </p:cNvPr>
          <p:cNvSpPr>
            <a:spLocks noGrp="1"/>
          </p:cNvSpPr>
          <p:nvPr>
            <p:ph type="body" sz="quarter" idx="11"/>
          </p:nvPr>
        </p:nvSpPr>
        <p:spPr>
          <a:xfrm>
            <a:off x="289826" y="85437"/>
            <a:ext cx="12271604" cy="550531"/>
          </a:xfrm>
        </p:spPr>
        <p:txBody>
          <a:bodyPr>
            <a:normAutofit/>
          </a:bodyPr>
          <a:lstStyle/>
          <a:p>
            <a:r>
              <a:rPr lang="ja-JP" altLang="en-US" sz="2300" b="1" dirty="0"/>
              <a:t>「価格設定支援」をテーマに長野市内のホテルと共同研究に取り組んでいる</a:t>
            </a:r>
            <a:endParaRPr lang="en-US" altLang="ja-JP" sz="2300" b="1" dirty="0"/>
          </a:p>
        </p:txBody>
      </p:sp>
      <p:sp>
        <p:nvSpPr>
          <p:cNvPr id="14" name="コンテンツ プレースホルダー 1">
            <a:extLst>
              <a:ext uri="{FF2B5EF4-FFF2-40B4-BE49-F238E27FC236}">
                <a16:creationId xmlns:a16="http://schemas.microsoft.com/office/drawing/2014/main" id="{9E0F4898-57E1-DF3D-3C7F-D313BCB9E7A3}"/>
              </a:ext>
            </a:extLst>
          </p:cNvPr>
          <p:cNvSpPr txBox="1">
            <a:spLocks/>
          </p:cNvSpPr>
          <p:nvPr/>
        </p:nvSpPr>
        <p:spPr>
          <a:xfrm>
            <a:off x="-279426" y="639123"/>
            <a:ext cx="13410108" cy="2326759"/>
          </a:xfrm>
          <a:prstGeom prst="rect">
            <a:avLst/>
          </a:prstGeom>
        </p:spPr>
        <p:txBody>
          <a:bodyPr vert="horz" lIns="91440" tIns="45720" rIns="91440" bIns="45720" rtlCol="0">
            <a:noAutofit/>
          </a:bodyPr>
          <a:lstStyle>
            <a:lvl1pPr marL="457200" indent="-457200" algn="l" defTabSz="914400" rtl="0" eaLnBrk="1" latinLnBrk="0" hangingPunct="1">
              <a:lnSpc>
                <a:spcPct val="110000"/>
              </a:lnSpc>
              <a:spcBef>
                <a:spcPts val="1800"/>
              </a:spcBef>
              <a:buClr>
                <a:srgbClr val="C00000"/>
              </a:buClr>
              <a:buFont typeface="Wingdings" pitchFamily="2" charset="2"/>
              <a:buChar char="n"/>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
                <a:srgbClr val="C00000"/>
              </a:buClr>
              <a:buSzTx/>
              <a:buFont typeface="Wingdings" pitchFamily="2" charset="2"/>
              <a:buChar char="l"/>
              <a:tabLst/>
              <a:defRPr kumimoji="1" sz="2400" kern="1200">
                <a:solidFill>
                  <a:schemeClr val="tx1"/>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Clr>
                <a:srgbClr val="C00000"/>
              </a:buClr>
              <a:buFont typeface="Wingdings" pitchFamily="2" charset="2"/>
              <a:buChar char="l"/>
              <a:defRPr kumimoji="1" sz="2000" kern="1200">
                <a:solidFill>
                  <a:schemeClr val="tx1"/>
                </a:solidFill>
                <a:latin typeface="MS PGothic" panose="020B0600070205080204" pitchFamily="34" charset="-128"/>
                <a:ea typeface="MS PGothic" panose="020B0600070205080204" pitchFamily="34" charset="-128"/>
                <a:cs typeface="+mn-cs"/>
              </a:defRPr>
            </a:lvl3pPr>
            <a:lvl4pPr marL="1706563" indent="-3349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4pPr>
            <a:lvl5pPr marL="2151063" indent="-322263" algn="l" defTabSz="914400" rtl="0" eaLnBrk="1" latinLnBrk="0" hangingPunct="1">
              <a:lnSpc>
                <a:spcPct val="110000"/>
              </a:lnSpc>
              <a:spcBef>
                <a:spcPts val="0"/>
              </a:spcBef>
              <a:buClr>
                <a:srgbClr val="C00000"/>
              </a:buClr>
              <a:buFont typeface="Wingdings" pitchFamily="2" charset="2"/>
              <a:buChar char="l"/>
              <a:defRPr kumimoji="1" sz="1800" kern="1200">
                <a:solidFill>
                  <a:schemeClr val="tx1"/>
                </a:solidFill>
                <a:latin typeface="MS PGothic" panose="020B0600070205080204" pitchFamily="34" charset="-128"/>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457200" lvl="1" indent="0">
              <a:lnSpc>
                <a:spcPct val="150000"/>
              </a:lnSpc>
              <a:buNone/>
            </a:pPr>
            <a:r>
              <a:rPr lang="ja-JP" altLang="en-US" sz="2000" b="1" dirty="0">
                <a:latin typeface="+mn-ea"/>
                <a:ea typeface="+mn-ea"/>
              </a:rPr>
              <a:t>市場背景</a:t>
            </a:r>
            <a:endParaRPr lang="en-US" altLang="ja-JP" sz="2000" b="1" dirty="0">
              <a:latin typeface="+mn-ea"/>
              <a:ea typeface="+mn-ea"/>
            </a:endParaRPr>
          </a:p>
          <a:p>
            <a:pPr lvl="1">
              <a:lnSpc>
                <a:spcPct val="150000"/>
              </a:lnSpc>
              <a:buFont typeface="Wingdings" panose="05000000000000000000" pitchFamily="2" charset="2"/>
              <a:buChar char="n"/>
            </a:pPr>
            <a:r>
              <a:rPr lang="ja-JP" altLang="en-US" sz="1900" dirty="0">
                <a:latin typeface="+mn-ea"/>
                <a:ea typeface="+mn-ea"/>
              </a:rPr>
              <a:t>近年、インバウンド回復により需要変動が激化する中、</a:t>
            </a:r>
            <a:r>
              <a:rPr lang="ja-JP" altLang="en-US" sz="1900" b="1" u="sng" dirty="0">
                <a:latin typeface="+mn-ea"/>
                <a:ea typeface="+mn-ea"/>
              </a:rPr>
              <a:t>動的価格設定</a:t>
            </a:r>
            <a:r>
              <a:rPr lang="ja-JP" altLang="en-US" sz="1900" b="1" dirty="0">
                <a:latin typeface="+mn-ea"/>
                <a:ea typeface="+mn-ea"/>
              </a:rPr>
              <a:t>の重要性が高まっている。</a:t>
            </a:r>
            <a:endParaRPr lang="en-US" altLang="ja-JP" sz="1900" b="1" dirty="0">
              <a:latin typeface="+mn-ea"/>
              <a:ea typeface="+mn-ea"/>
            </a:endParaRPr>
          </a:p>
          <a:p>
            <a:pPr marL="457200" lvl="1" indent="0">
              <a:lnSpc>
                <a:spcPct val="150000"/>
              </a:lnSpc>
              <a:buNone/>
            </a:pPr>
            <a:r>
              <a:rPr lang="ja-JP" altLang="en-US" sz="2000" b="1" dirty="0">
                <a:solidFill>
                  <a:srgbClr val="C00000"/>
                </a:solidFill>
                <a:latin typeface="+mn-ea"/>
                <a:ea typeface="+mn-ea"/>
              </a:rPr>
              <a:t>ヒアリングで得られた課題</a:t>
            </a:r>
          </a:p>
          <a:p>
            <a:pPr lvl="1">
              <a:lnSpc>
                <a:spcPct val="150000"/>
              </a:lnSpc>
              <a:buFont typeface="Wingdings" panose="05000000000000000000" pitchFamily="2" charset="2"/>
              <a:buChar char="n"/>
            </a:pPr>
            <a:r>
              <a:rPr lang="ja-JP" altLang="en-US" sz="2000" dirty="0">
                <a:latin typeface="Yu Gothic UI" panose="020B0500000000000000" pitchFamily="50" charset="-128"/>
                <a:ea typeface="Yu Gothic UI" panose="020B0500000000000000" pitchFamily="50" charset="-128"/>
              </a:rPr>
              <a:t>価格設定は外部のコンサルに委託しており、短期的には利益は増加したが、顧客離れを招いている可能性</a:t>
            </a:r>
            <a:endParaRPr lang="en-US" altLang="ja-JP" sz="2000" b="1" dirty="0">
              <a:latin typeface="Yu Gothic UI" panose="020B0500000000000000" pitchFamily="50" charset="-128"/>
              <a:ea typeface="Yu Gothic UI" panose="020B0500000000000000" pitchFamily="50" charset="-128"/>
            </a:endParaRPr>
          </a:p>
        </p:txBody>
      </p:sp>
      <p:grpSp>
        <p:nvGrpSpPr>
          <p:cNvPr id="2" name="グループ化 1">
            <a:extLst>
              <a:ext uri="{FF2B5EF4-FFF2-40B4-BE49-F238E27FC236}">
                <a16:creationId xmlns:a16="http://schemas.microsoft.com/office/drawing/2014/main" id="{1F7A54C8-F262-DB5E-AE5A-1FE9AFCC7470}"/>
              </a:ext>
            </a:extLst>
          </p:cNvPr>
          <p:cNvGrpSpPr/>
          <p:nvPr/>
        </p:nvGrpSpPr>
        <p:grpSpPr>
          <a:xfrm>
            <a:off x="1154957" y="2864619"/>
            <a:ext cx="10056703" cy="2641696"/>
            <a:chOff x="850456" y="2878022"/>
            <a:chExt cx="10056703" cy="2641696"/>
          </a:xfrm>
        </p:grpSpPr>
        <p:sp>
          <p:nvSpPr>
            <p:cNvPr id="28" name="テキスト ボックス 27">
              <a:extLst>
                <a:ext uri="{FF2B5EF4-FFF2-40B4-BE49-F238E27FC236}">
                  <a16:creationId xmlns:a16="http://schemas.microsoft.com/office/drawing/2014/main" id="{A27B849A-7540-DCBD-AD13-62BEF2BD3B59}"/>
                </a:ext>
              </a:extLst>
            </p:cNvPr>
            <p:cNvSpPr txBox="1"/>
            <p:nvPr/>
          </p:nvSpPr>
          <p:spPr>
            <a:xfrm>
              <a:off x="2778191" y="3891194"/>
              <a:ext cx="2011280"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観光需要が</a:t>
              </a:r>
              <a:endParaRPr lang="en-US" altLang="ja-JP" b="1" dirty="0"/>
            </a:p>
            <a:p>
              <a:r>
                <a:rPr lang="ja-JP" altLang="en-US" b="1" dirty="0"/>
                <a:t>高まっているため</a:t>
              </a:r>
              <a:endParaRPr lang="en-US" altLang="ja-JP" b="1" dirty="0"/>
            </a:p>
            <a:p>
              <a:r>
                <a:rPr lang="ja-JP" altLang="en-US" b="1" dirty="0"/>
                <a:t>利益を確保したい</a:t>
              </a:r>
              <a:r>
                <a:rPr kumimoji="1" lang="en-US" altLang="ja-JP" b="1" dirty="0"/>
                <a:t>…</a:t>
              </a:r>
              <a:endParaRPr kumimoji="1" lang="ja-JP" altLang="en-US" b="1" dirty="0"/>
            </a:p>
          </p:txBody>
        </p:sp>
        <p:sp>
          <p:nvSpPr>
            <p:cNvPr id="30" name="テキスト ボックス 29">
              <a:extLst>
                <a:ext uri="{FF2B5EF4-FFF2-40B4-BE49-F238E27FC236}">
                  <a16:creationId xmlns:a16="http://schemas.microsoft.com/office/drawing/2014/main" id="{4A743F33-C1C5-926A-1BFA-4C6E3FD6A4CB}"/>
                </a:ext>
              </a:extLst>
            </p:cNvPr>
            <p:cNvSpPr txBox="1"/>
            <p:nvPr/>
          </p:nvSpPr>
          <p:spPr>
            <a:xfrm>
              <a:off x="8688675" y="3891194"/>
              <a:ext cx="2218484" cy="923330"/>
            </a:xfrm>
            <a:prstGeom prst="rect">
              <a:avLst/>
            </a:prstGeom>
            <a:ln w="28575"/>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b="1" dirty="0"/>
                <a:t>本当は</a:t>
              </a:r>
              <a:br>
                <a:rPr lang="ja-JP" altLang="en-US" b="1" dirty="0"/>
              </a:br>
              <a:r>
                <a:rPr lang="ja-JP" altLang="en-US" b="1" dirty="0"/>
                <a:t>体験価値に見合った</a:t>
              </a:r>
              <a:endParaRPr lang="en-US" altLang="ja-JP" b="1" dirty="0"/>
            </a:p>
            <a:p>
              <a:r>
                <a:rPr lang="ja-JP" altLang="en-US" b="1" dirty="0"/>
                <a:t>価格で宿泊したい</a:t>
              </a:r>
              <a:r>
                <a:rPr lang="en-US" altLang="ja-JP" b="1" dirty="0"/>
                <a:t>…</a:t>
              </a:r>
              <a:endParaRPr kumimoji="1" lang="ja-JP" altLang="en-US" b="1" dirty="0"/>
            </a:p>
          </p:txBody>
        </p:sp>
        <p:grpSp>
          <p:nvGrpSpPr>
            <p:cNvPr id="35" name="グループ化 34">
              <a:extLst>
                <a:ext uri="{FF2B5EF4-FFF2-40B4-BE49-F238E27FC236}">
                  <a16:creationId xmlns:a16="http://schemas.microsoft.com/office/drawing/2014/main" id="{A68F3015-1D59-4531-C1DC-965D39E81DF7}"/>
                </a:ext>
              </a:extLst>
            </p:cNvPr>
            <p:cNvGrpSpPr/>
            <p:nvPr/>
          </p:nvGrpSpPr>
          <p:grpSpPr>
            <a:xfrm>
              <a:off x="850456" y="2878022"/>
              <a:ext cx="7559658" cy="2641696"/>
              <a:chOff x="785953" y="2839111"/>
              <a:chExt cx="7559658" cy="2641696"/>
            </a:xfrm>
          </p:grpSpPr>
          <p:pic>
            <p:nvPicPr>
              <p:cNvPr id="26" name="図 25" descr="アイコン&#10;&#10;AI 生成コンテンツは誤りを含む可能性があります。">
                <a:extLst>
                  <a:ext uri="{FF2B5EF4-FFF2-40B4-BE49-F238E27FC236}">
                    <a16:creationId xmlns:a16="http://schemas.microsoft.com/office/drawing/2014/main" id="{16ED7D81-ED3C-CB4F-DCE9-DB09663B51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3614" y="3283779"/>
                <a:ext cx="1499558" cy="2197028"/>
              </a:xfrm>
              <a:prstGeom prst="rect">
                <a:avLst/>
              </a:prstGeom>
            </p:spPr>
          </p:pic>
          <p:sp>
            <p:nvSpPr>
              <p:cNvPr id="31" name="テキスト ボックス 30">
                <a:extLst>
                  <a:ext uri="{FF2B5EF4-FFF2-40B4-BE49-F238E27FC236}">
                    <a16:creationId xmlns:a16="http://schemas.microsoft.com/office/drawing/2014/main" id="{E8069932-52E3-6C07-E2E7-6BF7700D8BED}"/>
                  </a:ext>
                </a:extLst>
              </p:cNvPr>
              <p:cNvSpPr txBox="1"/>
              <p:nvPr/>
            </p:nvSpPr>
            <p:spPr>
              <a:xfrm>
                <a:off x="785953" y="2876095"/>
                <a:ext cx="2011280" cy="369332"/>
              </a:xfrm>
              <a:prstGeom prst="rect">
                <a:avLst/>
              </a:prstGeom>
              <a:noFill/>
            </p:spPr>
            <p:txBody>
              <a:bodyPr wrap="square" rtlCol="0">
                <a:spAutoFit/>
              </a:bodyPr>
              <a:lstStyle/>
              <a:p>
                <a:r>
                  <a:rPr lang="ja-JP" altLang="en-US" b="1" dirty="0"/>
                  <a:t>共同研究先ホテル</a:t>
                </a:r>
                <a:endParaRPr kumimoji="1" lang="ja-JP" altLang="en-US" b="1" dirty="0"/>
              </a:p>
            </p:txBody>
          </p:sp>
          <p:grpSp>
            <p:nvGrpSpPr>
              <p:cNvPr id="34" name="グループ化 33">
                <a:extLst>
                  <a:ext uri="{FF2B5EF4-FFF2-40B4-BE49-F238E27FC236}">
                    <a16:creationId xmlns:a16="http://schemas.microsoft.com/office/drawing/2014/main" id="{E07E4E7A-D1CA-16A2-D3AC-DC13250721E6}"/>
                  </a:ext>
                </a:extLst>
              </p:cNvPr>
              <p:cNvGrpSpPr/>
              <p:nvPr/>
            </p:nvGrpSpPr>
            <p:grpSpPr>
              <a:xfrm>
                <a:off x="6870823" y="2839111"/>
                <a:ext cx="1474788" cy="2641696"/>
                <a:chOff x="6870823" y="2839111"/>
                <a:chExt cx="1474788" cy="2641696"/>
              </a:xfrm>
            </p:grpSpPr>
            <p:pic>
              <p:nvPicPr>
                <p:cNvPr id="24" name="図 23" descr="挿絵, 光 が含まれている画像&#10;&#10;AI 生成コンテンツは誤りを含む可能性があります。">
                  <a:extLst>
                    <a:ext uri="{FF2B5EF4-FFF2-40B4-BE49-F238E27FC236}">
                      <a16:creationId xmlns:a16="http://schemas.microsoft.com/office/drawing/2014/main" id="{F7FDEC2E-933B-B75F-A2FD-B18EFE39971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70823" y="3236251"/>
                  <a:ext cx="1474788" cy="2244556"/>
                </a:xfrm>
                <a:prstGeom prst="rect">
                  <a:avLst/>
                </a:prstGeom>
              </p:spPr>
            </p:pic>
            <p:sp>
              <p:nvSpPr>
                <p:cNvPr id="32" name="テキスト ボックス 31">
                  <a:extLst>
                    <a:ext uri="{FF2B5EF4-FFF2-40B4-BE49-F238E27FC236}">
                      <a16:creationId xmlns:a16="http://schemas.microsoft.com/office/drawing/2014/main" id="{3A81473B-4E80-8F95-212E-D860E03E4B8B}"/>
                    </a:ext>
                  </a:extLst>
                </p:cNvPr>
                <p:cNvSpPr txBox="1"/>
                <p:nvPr/>
              </p:nvSpPr>
              <p:spPr>
                <a:xfrm>
                  <a:off x="7134768" y="2839111"/>
                  <a:ext cx="1012967" cy="369332"/>
                </a:xfrm>
                <a:prstGeom prst="rect">
                  <a:avLst/>
                </a:prstGeom>
                <a:noFill/>
              </p:spPr>
              <p:txBody>
                <a:bodyPr wrap="square" rtlCol="0">
                  <a:spAutoFit/>
                </a:bodyPr>
                <a:lstStyle/>
                <a:p>
                  <a:r>
                    <a:rPr kumimoji="1" lang="ja-JP" altLang="en-US" b="1" dirty="0"/>
                    <a:t>宿泊者</a:t>
                  </a:r>
                </a:p>
              </p:txBody>
            </p:sp>
          </p:grpSp>
        </p:grpSp>
      </p:grpSp>
      <p:sp>
        <p:nvSpPr>
          <p:cNvPr id="33" name="テキスト ボックス 32">
            <a:extLst>
              <a:ext uri="{FF2B5EF4-FFF2-40B4-BE49-F238E27FC236}">
                <a16:creationId xmlns:a16="http://schemas.microsoft.com/office/drawing/2014/main" id="{7B34B09B-0E27-BE6D-528C-AF3CC74109EC}"/>
              </a:ext>
            </a:extLst>
          </p:cNvPr>
          <p:cNvSpPr txBox="1"/>
          <p:nvPr/>
        </p:nvSpPr>
        <p:spPr>
          <a:xfrm>
            <a:off x="1154957" y="5799522"/>
            <a:ext cx="10336656" cy="830997"/>
          </a:xfrm>
          <a:prstGeom prst="rect">
            <a:avLst/>
          </a:prstGeom>
          <a:noFill/>
        </p:spPr>
        <p:txBody>
          <a:bodyPr wrap="square" rtlCol="0">
            <a:spAutoFit/>
          </a:bodyPr>
          <a:lstStyle/>
          <a:p>
            <a:r>
              <a:rPr lang="ja-JP" altLang="en-US" sz="2400" b="1" dirty="0">
                <a:solidFill>
                  <a:schemeClr val="bg1"/>
                </a:solidFill>
              </a:rPr>
              <a:t>本研究では、</a:t>
            </a:r>
            <a:r>
              <a:rPr lang="ja-JP" altLang="en-US" sz="2400" b="1" u="sng" dirty="0">
                <a:solidFill>
                  <a:schemeClr val="bg1"/>
                </a:solidFill>
              </a:rPr>
              <a:t>口コミデータ</a:t>
            </a:r>
            <a:r>
              <a:rPr lang="en-US" altLang="ja-JP" sz="2400" b="1" u="sng" dirty="0">
                <a:solidFill>
                  <a:schemeClr val="bg1"/>
                </a:solidFill>
              </a:rPr>
              <a:t>(</a:t>
            </a:r>
            <a:r>
              <a:rPr lang="ja-JP" altLang="en-US" sz="2400" b="1" u="sng" dirty="0">
                <a:solidFill>
                  <a:schemeClr val="bg1"/>
                </a:solidFill>
              </a:rPr>
              <a:t>顧客の声</a:t>
            </a:r>
            <a:r>
              <a:rPr lang="en-US" altLang="ja-JP" sz="2400" b="1" u="sng" dirty="0">
                <a:solidFill>
                  <a:schemeClr val="bg1"/>
                </a:solidFill>
              </a:rPr>
              <a:t>)</a:t>
            </a:r>
            <a:r>
              <a:rPr lang="ja-JP" altLang="en-US" sz="2400" b="1" dirty="0">
                <a:solidFill>
                  <a:schemeClr val="bg1"/>
                </a:solidFill>
              </a:rPr>
              <a:t>と</a:t>
            </a:r>
            <a:r>
              <a:rPr lang="ja-JP" altLang="en-US" sz="2400" b="1" u="sng" dirty="0">
                <a:solidFill>
                  <a:schemeClr val="bg1"/>
                </a:solidFill>
              </a:rPr>
              <a:t>需要データ</a:t>
            </a:r>
            <a:r>
              <a:rPr lang="ja-JP" altLang="en-US" sz="2400" b="1" dirty="0">
                <a:solidFill>
                  <a:schemeClr val="bg1"/>
                </a:solidFill>
              </a:rPr>
              <a:t>を活用し</a:t>
            </a:r>
            <a:br>
              <a:rPr lang="ja-JP" altLang="en-US" sz="2400" dirty="0">
                <a:solidFill>
                  <a:schemeClr val="bg1"/>
                </a:solidFill>
              </a:rPr>
            </a:br>
            <a:r>
              <a:rPr lang="ja-JP" altLang="en-US" sz="2400" b="1" dirty="0">
                <a:solidFill>
                  <a:schemeClr val="bg1"/>
                </a:solidFill>
              </a:rPr>
              <a:t>顧客満足度と利益の両立を可能にした</a:t>
            </a:r>
            <a:r>
              <a:rPr lang="ja-JP" altLang="en-US" sz="2400" b="1" u="sng" dirty="0">
                <a:solidFill>
                  <a:schemeClr val="bg1"/>
                </a:solidFill>
              </a:rPr>
              <a:t>価格最適化モデルの開発</a:t>
            </a:r>
            <a:r>
              <a:rPr lang="ja-JP" altLang="en-US" sz="2400" b="1" dirty="0">
                <a:solidFill>
                  <a:schemeClr val="bg1"/>
                </a:solidFill>
              </a:rPr>
              <a:t>を目指している</a:t>
            </a:r>
            <a:endParaRPr kumimoji="1" lang="ja-JP" altLang="en-US" sz="2400" b="1" dirty="0">
              <a:solidFill>
                <a:schemeClr val="bg1"/>
              </a:solidFill>
            </a:endParaRPr>
          </a:p>
        </p:txBody>
      </p:sp>
      <p:sp>
        <p:nvSpPr>
          <p:cNvPr id="4" name="テキスト ボックス 3">
            <a:extLst>
              <a:ext uri="{FF2B5EF4-FFF2-40B4-BE49-F238E27FC236}">
                <a16:creationId xmlns:a16="http://schemas.microsoft.com/office/drawing/2014/main" id="{D0F55D37-95D3-F30D-6706-0557EFF76CA8}"/>
              </a:ext>
            </a:extLst>
          </p:cNvPr>
          <p:cNvSpPr txBox="1"/>
          <p:nvPr/>
        </p:nvSpPr>
        <p:spPr>
          <a:xfrm>
            <a:off x="8010255" y="2376557"/>
            <a:ext cx="3203643" cy="338554"/>
          </a:xfrm>
          <a:prstGeom prst="rect">
            <a:avLst/>
          </a:prstGeom>
          <a:noFill/>
        </p:spPr>
        <p:txBody>
          <a:bodyPr wrap="square" rtlCol="0">
            <a:spAutoFit/>
          </a:bodyPr>
          <a:lstStyle/>
          <a:p>
            <a:r>
              <a:rPr lang="en-US" altLang="ja-JP" sz="1600" dirty="0"/>
              <a:t>(</a:t>
            </a:r>
            <a:r>
              <a:rPr lang="ja-JP" altLang="en-US" sz="1600" dirty="0"/>
              <a:t>価格の急変動により</a:t>
            </a:r>
            <a:r>
              <a:rPr kumimoji="1" lang="en-US" altLang="ja-JP" sz="1600" dirty="0"/>
              <a:t>)</a:t>
            </a:r>
            <a:endParaRPr kumimoji="1" lang="ja-JP" altLang="en-US" sz="1600" dirty="0"/>
          </a:p>
        </p:txBody>
      </p:sp>
      <p:sp>
        <p:nvSpPr>
          <p:cNvPr id="5" name="テキスト ボックス 4">
            <a:extLst>
              <a:ext uri="{FF2B5EF4-FFF2-40B4-BE49-F238E27FC236}">
                <a16:creationId xmlns:a16="http://schemas.microsoft.com/office/drawing/2014/main" id="{351E532A-3111-0551-89FB-91E13193724B}"/>
              </a:ext>
            </a:extLst>
          </p:cNvPr>
          <p:cNvSpPr txBox="1"/>
          <p:nvPr/>
        </p:nvSpPr>
        <p:spPr>
          <a:xfrm>
            <a:off x="5638005" y="1484974"/>
            <a:ext cx="3203643" cy="338554"/>
          </a:xfrm>
          <a:prstGeom prst="rect">
            <a:avLst/>
          </a:prstGeom>
          <a:noFill/>
        </p:spPr>
        <p:txBody>
          <a:bodyPr wrap="square" rtlCol="0">
            <a:spAutoFit/>
          </a:bodyPr>
          <a:lstStyle/>
          <a:p>
            <a:r>
              <a:rPr lang="en-US" altLang="ja-JP" sz="1600" dirty="0"/>
              <a:t>(</a:t>
            </a:r>
            <a:r>
              <a:rPr kumimoji="1" lang="en-US" altLang="ja-JP" sz="1600" dirty="0"/>
              <a:t>Dynamic Pricing)</a:t>
            </a:r>
            <a:endParaRPr kumimoji="1" lang="ja-JP" altLang="en-US" sz="1600" dirty="0"/>
          </a:p>
        </p:txBody>
      </p:sp>
    </p:spTree>
    <p:extLst>
      <p:ext uri="{BB962C8B-B14F-4D97-AF65-F5344CB8AC3E}">
        <p14:creationId xmlns:p14="http://schemas.microsoft.com/office/powerpoint/2010/main" val="897988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EC227-0761-153C-2021-B01A5B4E17C2}"/>
            </a:ext>
          </a:extLst>
        </p:cNvPr>
        <p:cNvGrpSpPr/>
        <p:nvPr/>
      </p:nvGrpSpPr>
      <p:grpSpPr>
        <a:xfrm>
          <a:off x="0" y="0"/>
          <a:ext cx="0" cy="0"/>
          <a:chOff x="0" y="0"/>
          <a:chExt cx="0" cy="0"/>
        </a:xfrm>
      </p:grpSpPr>
      <p:sp>
        <p:nvSpPr>
          <p:cNvPr id="65" name="正方形/長方形 64">
            <a:extLst>
              <a:ext uri="{FF2B5EF4-FFF2-40B4-BE49-F238E27FC236}">
                <a16:creationId xmlns:a16="http://schemas.microsoft.com/office/drawing/2014/main" id="{1AB10B89-A982-683C-CF97-170C3BA0213E}"/>
              </a:ext>
            </a:extLst>
          </p:cNvPr>
          <p:cNvSpPr/>
          <p:nvPr/>
        </p:nvSpPr>
        <p:spPr>
          <a:xfrm>
            <a:off x="97849" y="1428288"/>
            <a:ext cx="11964449" cy="4842945"/>
          </a:xfrm>
          <a:prstGeom prst="rect">
            <a:avLst/>
          </a:prstGeom>
          <a:noFill/>
          <a:ln w="12700">
            <a:solidFill>
              <a:srgbClr val="1F494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コンテンツ プレースホルダー 1">
            <a:extLst>
              <a:ext uri="{FF2B5EF4-FFF2-40B4-BE49-F238E27FC236}">
                <a16:creationId xmlns:a16="http://schemas.microsoft.com/office/drawing/2014/main" id="{40688C88-9230-D87D-1393-4E34E7666A97}"/>
              </a:ext>
            </a:extLst>
          </p:cNvPr>
          <p:cNvSpPr>
            <a:spLocks noGrp="1"/>
          </p:cNvSpPr>
          <p:nvPr>
            <p:ph idx="1"/>
          </p:nvPr>
        </p:nvSpPr>
        <p:spPr>
          <a:xfrm>
            <a:off x="260833" y="606223"/>
            <a:ext cx="11964449" cy="618573"/>
          </a:xfrm>
        </p:spPr>
        <p:txBody>
          <a:bodyPr>
            <a:normAutofit/>
          </a:bodyPr>
          <a:lstStyle/>
          <a:p>
            <a:r>
              <a:rPr lang="ja-JP" altLang="en-US" sz="2000" dirty="0"/>
              <a:t>口コミからホテルの評価を測定し、価格設定に活用するモデルの開発を目指していた </a:t>
            </a:r>
            <a:r>
              <a:rPr lang="en-US" altLang="ja-JP" sz="2000" dirty="0"/>
              <a:t>(M1</a:t>
            </a:r>
            <a:r>
              <a:rPr lang="ja-JP" altLang="en-US" sz="2000" dirty="0"/>
              <a:t>まで</a:t>
            </a:r>
            <a:r>
              <a:rPr lang="en-US" altLang="ja-JP" sz="2000" dirty="0"/>
              <a:t>)</a:t>
            </a:r>
            <a:endParaRPr lang="ja-JP" altLang="en-US" sz="2000" dirty="0"/>
          </a:p>
          <a:p>
            <a:pPr marL="0" indent="0">
              <a:buNone/>
            </a:pPr>
            <a:endParaRPr kumimoji="1" lang="ja-JP" altLang="en-US" sz="2000" dirty="0"/>
          </a:p>
        </p:txBody>
      </p:sp>
      <p:sp>
        <p:nvSpPr>
          <p:cNvPr id="14" name="矢印: 右 13">
            <a:extLst>
              <a:ext uri="{FF2B5EF4-FFF2-40B4-BE49-F238E27FC236}">
                <a16:creationId xmlns:a16="http://schemas.microsoft.com/office/drawing/2014/main" id="{07DF3B51-2522-6FF3-B5BA-D6A27E84122C}"/>
              </a:ext>
            </a:extLst>
          </p:cNvPr>
          <p:cNvSpPr/>
          <p:nvPr/>
        </p:nvSpPr>
        <p:spPr>
          <a:xfrm>
            <a:off x="2445752" y="2485732"/>
            <a:ext cx="1817336" cy="338554"/>
          </a:xfrm>
          <a:prstGeom prst="rightArrow">
            <a:avLst/>
          </a:prstGeom>
          <a:solidFill>
            <a:schemeClr val="accent4">
              <a:lumMod val="50000"/>
            </a:schemeClr>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A9F8806-3EAC-05A1-2447-A273AE605CBF}"/>
              </a:ext>
            </a:extLst>
          </p:cNvPr>
          <p:cNvSpPr txBox="1"/>
          <p:nvPr/>
        </p:nvSpPr>
        <p:spPr>
          <a:xfrm>
            <a:off x="2712855" y="3294344"/>
            <a:ext cx="1817336" cy="523220"/>
          </a:xfrm>
          <a:prstGeom prst="rect">
            <a:avLst/>
          </a:prstGeom>
          <a:noFill/>
        </p:spPr>
        <p:txBody>
          <a:bodyPr wrap="square" rtlCol="0">
            <a:spAutoFit/>
          </a:bodyPr>
          <a:lstStyle/>
          <a:p>
            <a:r>
              <a:rPr kumimoji="1" lang="ja-JP" altLang="en-US" sz="1400" b="1" dirty="0">
                <a:solidFill>
                  <a:srgbClr val="1F4944"/>
                </a:solidFill>
              </a:rPr>
              <a:t>感情分析モデル </a:t>
            </a:r>
            <a:endParaRPr lang="en-US" altLang="ja-JP" sz="1400" b="1" dirty="0">
              <a:solidFill>
                <a:srgbClr val="1F4944"/>
              </a:solidFill>
            </a:endParaRPr>
          </a:p>
          <a:p>
            <a:r>
              <a:rPr kumimoji="1" lang="ja-JP" altLang="en-US" sz="1400" b="1" dirty="0">
                <a:solidFill>
                  <a:srgbClr val="1F4944"/>
                </a:solidFill>
              </a:rPr>
              <a:t>  </a:t>
            </a:r>
            <a:r>
              <a:rPr kumimoji="1" lang="en-US" altLang="ja-JP" sz="1400" dirty="0">
                <a:solidFill>
                  <a:srgbClr val="1F4944"/>
                </a:solidFill>
              </a:rPr>
              <a:t>LLM</a:t>
            </a:r>
            <a:r>
              <a:rPr kumimoji="1" lang="ja-JP" altLang="en-US" sz="1400" dirty="0">
                <a:solidFill>
                  <a:srgbClr val="1F4944"/>
                </a:solidFill>
              </a:rPr>
              <a:t>・</a:t>
            </a:r>
            <a:r>
              <a:rPr kumimoji="1" lang="en-US" altLang="ja-JP" sz="1400" dirty="0">
                <a:solidFill>
                  <a:srgbClr val="1F4944"/>
                </a:solidFill>
              </a:rPr>
              <a:t>BERT</a:t>
            </a:r>
            <a:endParaRPr kumimoji="1" lang="ja-JP" altLang="en-US" sz="1400" dirty="0">
              <a:solidFill>
                <a:srgbClr val="1F4944"/>
              </a:solidFill>
            </a:endParaRPr>
          </a:p>
        </p:txBody>
      </p:sp>
      <p:grpSp>
        <p:nvGrpSpPr>
          <p:cNvPr id="94" name="グループ化 93">
            <a:extLst>
              <a:ext uri="{FF2B5EF4-FFF2-40B4-BE49-F238E27FC236}">
                <a16:creationId xmlns:a16="http://schemas.microsoft.com/office/drawing/2014/main" id="{60FE9BEE-8706-261F-31FB-11DFABD617CB}"/>
              </a:ext>
            </a:extLst>
          </p:cNvPr>
          <p:cNvGrpSpPr/>
          <p:nvPr/>
        </p:nvGrpSpPr>
        <p:grpSpPr>
          <a:xfrm>
            <a:off x="198905" y="1762540"/>
            <a:ext cx="2258055" cy="1192890"/>
            <a:chOff x="198905" y="1762540"/>
            <a:chExt cx="2258055" cy="1192890"/>
          </a:xfrm>
        </p:grpSpPr>
        <p:sp>
          <p:nvSpPr>
            <p:cNvPr id="8" name="テキスト ボックス 7">
              <a:extLst>
                <a:ext uri="{FF2B5EF4-FFF2-40B4-BE49-F238E27FC236}">
                  <a16:creationId xmlns:a16="http://schemas.microsoft.com/office/drawing/2014/main" id="{E9499073-BF3F-EC37-9C62-01E405EFC908}"/>
                </a:ext>
              </a:extLst>
            </p:cNvPr>
            <p:cNvSpPr txBox="1"/>
            <p:nvPr/>
          </p:nvSpPr>
          <p:spPr>
            <a:xfrm>
              <a:off x="452275" y="2616876"/>
              <a:ext cx="1725594" cy="338554"/>
            </a:xfrm>
            <a:prstGeom prst="rect">
              <a:avLst/>
            </a:prstGeom>
            <a:noFill/>
          </p:spPr>
          <p:txBody>
            <a:bodyPr wrap="square" rtlCol="0">
              <a:spAutoFit/>
            </a:bodyPr>
            <a:lstStyle/>
            <a:p>
              <a:r>
                <a:rPr lang="ja-JP" altLang="en-US" sz="1600" b="1" dirty="0"/>
                <a:t>予約サイト口コミ</a:t>
              </a:r>
              <a:endParaRPr lang="en-US" altLang="ja-JP" sz="1600" b="1" dirty="0"/>
            </a:p>
          </p:txBody>
        </p:sp>
        <p:grpSp>
          <p:nvGrpSpPr>
            <p:cNvPr id="78" name="グループ化 77">
              <a:extLst>
                <a:ext uri="{FF2B5EF4-FFF2-40B4-BE49-F238E27FC236}">
                  <a16:creationId xmlns:a16="http://schemas.microsoft.com/office/drawing/2014/main" id="{F08D47F4-6BE0-DF4C-DBA7-F0E0809138E0}"/>
                </a:ext>
              </a:extLst>
            </p:cNvPr>
            <p:cNvGrpSpPr/>
            <p:nvPr/>
          </p:nvGrpSpPr>
          <p:grpSpPr>
            <a:xfrm>
              <a:off x="198905" y="1762540"/>
              <a:ext cx="2258055" cy="848527"/>
              <a:chOff x="1104368" y="5724958"/>
              <a:chExt cx="2258055" cy="848527"/>
            </a:xfrm>
          </p:grpSpPr>
          <p:grpSp>
            <p:nvGrpSpPr>
              <p:cNvPr id="73" name="グループ化 72">
                <a:extLst>
                  <a:ext uri="{FF2B5EF4-FFF2-40B4-BE49-F238E27FC236}">
                    <a16:creationId xmlns:a16="http://schemas.microsoft.com/office/drawing/2014/main" id="{03289E19-4C12-C7D4-E0E8-2DAB188742D1}"/>
                  </a:ext>
                </a:extLst>
              </p:cNvPr>
              <p:cNvGrpSpPr/>
              <p:nvPr/>
            </p:nvGrpSpPr>
            <p:grpSpPr>
              <a:xfrm>
                <a:off x="1104368" y="5834820"/>
                <a:ext cx="2116215" cy="738665"/>
                <a:chOff x="944987" y="4747098"/>
                <a:chExt cx="2050552" cy="738665"/>
              </a:xfrm>
              <a:solidFill>
                <a:schemeClr val="accent3">
                  <a:lumMod val="20000"/>
                  <a:lumOff val="80000"/>
                </a:schemeClr>
              </a:solidFill>
            </p:grpSpPr>
            <p:sp>
              <p:nvSpPr>
                <p:cNvPr id="66" name="四角形: 角を丸くする 65">
                  <a:extLst>
                    <a:ext uri="{FF2B5EF4-FFF2-40B4-BE49-F238E27FC236}">
                      <a16:creationId xmlns:a16="http://schemas.microsoft.com/office/drawing/2014/main" id="{498E15FA-ACFC-6CE5-FBED-5AF099394605}"/>
                    </a:ext>
                  </a:extLst>
                </p:cNvPr>
                <p:cNvSpPr/>
                <p:nvPr/>
              </p:nvSpPr>
              <p:spPr>
                <a:xfrm>
                  <a:off x="944987" y="4747098"/>
                  <a:ext cx="2050552" cy="738665"/>
                </a:xfrm>
                <a:prstGeom prst="roundRect">
                  <a:avLst/>
                </a:prstGeom>
                <a:grpFill/>
              </p:spPr>
              <p:style>
                <a:lnRef idx="1">
                  <a:schemeClr val="dk1"/>
                </a:lnRef>
                <a:fillRef idx="2">
                  <a:schemeClr val="dk1"/>
                </a:fillRef>
                <a:effectRef idx="1">
                  <a:schemeClr val="dk1"/>
                </a:effectRef>
                <a:fontRef idx="minor">
                  <a:schemeClr val="dk1"/>
                </a:fontRef>
              </p:style>
              <p:txBody>
                <a:bodyPr rtlCol="0" anchor="ctr"/>
                <a:lstStyle/>
                <a:p>
                  <a:pPr algn="ctr"/>
                  <a:endParaRPr kumimoji="1" lang="ja-JP" altLang="en-US" dirty="0"/>
                </a:p>
              </p:txBody>
            </p:sp>
            <p:pic>
              <p:nvPicPr>
                <p:cNvPr id="68" name="図 67">
                  <a:extLst>
                    <a:ext uri="{FF2B5EF4-FFF2-40B4-BE49-F238E27FC236}">
                      <a16:creationId xmlns:a16="http://schemas.microsoft.com/office/drawing/2014/main" id="{39EB6C6B-0EE3-B10A-DD90-5C6440D84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887" y="4783166"/>
                  <a:ext cx="458178" cy="552577"/>
                </a:xfrm>
                <a:prstGeom prst="rect">
                  <a:avLst/>
                </a:prstGeom>
                <a:grpFill/>
              </p:spPr>
            </p:pic>
          </p:grpSp>
          <p:sp>
            <p:nvSpPr>
              <p:cNvPr id="12" name="テキスト ボックス 11">
                <a:extLst>
                  <a:ext uri="{FF2B5EF4-FFF2-40B4-BE49-F238E27FC236}">
                    <a16:creationId xmlns:a16="http://schemas.microsoft.com/office/drawing/2014/main" id="{DA0DDFC1-9EC1-4876-39C1-F4737BD6D309}"/>
                  </a:ext>
                </a:extLst>
              </p:cNvPr>
              <p:cNvSpPr txBox="1"/>
              <p:nvPr/>
            </p:nvSpPr>
            <p:spPr>
              <a:xfrm>
                <a:off x="1604776" y="5724958"/>
                <a:ext cx="1757647" cy="738664"/>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endParaRPr kumimoji="1" lang="en-US" altLang="ja-JP" sz="1400" b="1" dirty="0">
                  <a:latin typeface="+mn-ea"/>
                </a:endParaRPr>
              </a:p>
              <a:p>
                <a:r>
                  <a:rPr lang="ja-JP" altLang="en-US" sz="1400" b="1" dirty="0">
                    <a:latin typeface="+mn-ea"/>
                  </a:rPr>
                  <a:t>「部屋はきれいだが</a:t>
                </a:r>
                <a:endParaRPr lang="en-US" altLang="ja-JP" sz="1400" b="1" dirty="0">
                  <a:latin typeface="+mn-ea"/>
                </a:endParaRPr>
              </a:p>
              <a:p>
                <a:r>
                  <a:rPr lang="ja-JP" altLang="en-US" sz="1400" b="1" dirty="0">
                    <a:latin typeface="+mn-ea"/>
                  </a:rPr>
                  <a:t>食事は微妙だった」</a:t>
                </a:r>
                <a:endParaRPr lang="en-US" altLang="ja-JP" sz="1400" b="1" dirty="0">
                  <a:latin typeface="+mn-ea"/>
                </a:endParaRPr>
              </a:p>
            </p:txBody>
          </p:sp>
        </p:grpSp>
      </p:grpSp>
      <p:graphicFrame>
        <p:nvGraphicFramePr>
          <p:cNvPr id="22" name="表 21">
            <a:extLst>
              <a:ext uri="{FF2B5EF4-FFF2-40B4-BE49-F238E27FC236}">
                <a16:creationId xmlns:a16="http://schemas.microsoft.com/office/drawing/2014/main" id="{8E535822-F5F7-E8F2-9BE0-56427BE11CD4}"/>
              </a:ext>
            </a:extLst>
          </p:cNvPr>
          <p:cNvGraphicFramePr>
            <a:graphicFrameLocks noGrp="1"/>
          </p:cNvGraphicFramePr>
          <p:nvPr>
            <p:extLst>
              <p:ext uri="{D42A27DB-BD31-4B8C-83A1-F6EECF244321}">
                <p14:modId xmlns:p14="http://schemas.microsoft.com/office/powerpoint/2010/main" val="1502107276"/>
              </p:ext>
            </p:extLst>
          </p:nvPr>
        </p:nvGraphicFramePr>
        <p:xfrm>
          <a:off x="4645896" y="2206871"/>
          <a:ext cx="1817336" cy="658446"/>
        </p:xfrm>
        <a:graphic>
          <a:graphicData uri="http://schemas.openxmlformats.org/drawingml/2006/table">
            <a:tbl>
              <a:tblPr firstRow="1" bandRow="1">
                <a:tableStyleId>{D27102A9-8310-4765-A935-A1911B00CA55}</a:tableStyleId>
              </a:tblPr>
              <a:tblGrid>
                <a:gridCol w="908668">
                  <a:extLst>
                    <a:ext uri="{9D8B030D-6E8A-4147-A177-3AD203B41FA5}">
                      <a16:colId xmlns:a16="http://schemas.microsoft.com/office/drawing/2014/main" val="967022369"/>
                    </a:ext>
                  </a:extLst>
                </a:gridCol>
                <a:gridCol w="908668">
                  <a:extLst>
                    <a:ext uri="{9D8B030D-6E8A-4147-A177-3AD203B41FA5}">
                      <a16:colId xmlns:a16="http://schemas.microsoft.com/office/drawing/2014/main" val="2034414198"/>
                    </a:ext>
                  </a:extLst>
                </a:gridCol>
              </a:tblGrid>
              <a:tr h="323166">
                <a:tc>
                  <a:txBody>
                    <a:bodyPr/>
                    <a:lstStyle/>
                    <a:p>
                      <a:r>
                        <a:rPr kumimoji="1" lang="ja-JP" altLang="en-US" sz="1600" b="1" dirty="0"/>
                        <a:t>清掃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ja-JP" altLang="en-US" sz="1600" b="1" dirty="0"/>
                        <a:t>食事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8567066"/>
                  </a:ext>
                </a:extLst>
              </a:tr>
              <a:tr h="323166">
                <a:tc>
                  <a:txBody>
                    <a:bodyPr/>
                    <a:lstStyle/>
                    <a:p>
                      <a:r>
                        <a:rPr kumimoji="1" lang="en-US" altLang="ja-JP" sz="1400" b="1" dirty="0">
                          <a:solidFill>
                            <a:srgbClr val="C00000"/>
                          </a:solidFill>
                        </a:rPr>
                        <a:t>Positive</a:t>
                      </a:r>
                      <a:endParaRPr kumimoji="1" lang="ja-JP" altLang="en-US" sz="1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kumimoji="1" lang="en-US" altLang="ja-JP" sz="1400" b="1" dirty="0">
                          <a:solidFill>
                            <a:schemeClr val="accent1">
                              <a:lumMod val="75000"/>
                            </a:schemeClr>
                          </a:solidFill>
                        </a:rPr>
                        <a:t>Negative</a:t>
                      </a:r>
                      <a:endParaRPr kumimoji="1" lang="ja-JP" altLang="en-US" sz="1400" b="1" dirty="0">
                        <a:solidFill>
                          <a:schemeClr val="accent1">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107240"/>
                  </a:ext>
                </a:extLst>
              </a:tr>
            </a:tbl>
          </a:graphicData>
        </a:graphic>
      </p:graphicFrame>
      <p:sp>
        <p:nvSpPr>
          <p:cNvPr id="23" name="テキスト ボックス 22">
            <a:extLst>
              <a:ext uri="{FF2B5EF4-FFF2-40B4-BE49-F238E27FC236}">
                <a16:creationId xmlns:a16="http://schemas.microsoft.com/office/drawing/2014/main" id="{4C717364-0C2C-ABC8-5729-60DCE685B03D}"/>
              </a:ext>
            </a:extLst>
          </p:cNvPr>
          <p:cNvSpPr txBox="1"/>
          <p:nvPr/>
        </p:nvSpPr>
        <p:spPr>
          <a:xfrm>
            <a:off x="2520637" y="2075659"/>
            <a:ext cx="1698851"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観点別に定量化</a:t>
            </a:r>
            <a:endParaRPr kumimoji="1" lang="ja-JP" altLang="en-US" sz="1600" b="1" dirty="0"/>
          </a:p>
        </p:txBody>
      </p:sp>
      <p:sp>
        <p:nvSpPr>
          <p:cNvPr id="37" name="テキスト ボックス 36">
            <a:extLst>
              <a:ext uri="{FF2B5EF4-FFF2-40B4-BE49-F238E27FC236}">
                <a16:creationId xmlns:a16="http://schemas.microsoft.com/office/drawing/2014/main" id="{646F0221-2DD9-3A91-9A44-8F11DCE3A3A5}"/>
              </a:ext>
            </a:extLst>
          </p:cNvPr>
          <p:cNvSpPr txBox="1"/>
          <p:nvPr/>
        </p:nvSpPr>
        <p:spPr>
          <a:xfrm>
            <a:off x="3849317" y="4198123"/>
            <a:ext cx="1967980"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将来の稼働率を予測</a:t>
            </a:r>
            <a:endParaRPr kumimoji="1" lang="ja-JP" altLang="en-US" sz="1600" b="1" dirty="0"/>
          </a:p>
        </p:txBody>
      </p:sp>
      <p:grpSp>
        <p:nvGrpSpPr>
          <p:cNvPr id="55" name="グループ化 54">
            <a:extLst>
              <a:ext uri="{FF2B5EF4-FFF2-40B4-BE49-F238E27FC236}">
                <a16:creationId xmlns:a16="http://schemas.microsoft.com/office/drawing/2014/main" id="{064A5F3B-5BDE-C174-C4D7-0321CC43DF42}"/>
              </a:ext>
            </a:extLst>
          </p:cNvPr>
          <p:cNvGrpSpPr/>
          <p:nvPr/>
        </p:nvGrpSpPr>
        <p:grpSpPr>
          <a:xfrm>
            <a:off x="9966603" y="2761661"/>
            <a:ext cx="1941162" cy="1685556"/>
            <a:chOff x="9062645" y="2023293"/>
            <a:chExt cx="1941162" cy="1685556"/>
          </a:xfrm>
        </p:grpSpPr>
        <p:pic>
          <p:nvPicPr>
            <p:cNvPr id="56" name="図 55" descr="アイコン&#10;&#10;AI 生成コンテンツは誤りを含む可能性があります。">
              <a:extLst>
                <a:ext uri="{FF2B5EF4-FFF2-40B4-BE49-F238E27FC236}">
                  <a16:creationId xmlns:a16="http://schemas.microsoft.com/office/drawing/2014/main" id="{BBAC40CC-788F-FA62-1562-6A7258E584D1}"/>
                </a:ext>
              </a:extLst>
            </p:cNvPr>
            <p:cNvPicPr>
              <a:picLocks noChangeAspect="1"/>
            </p:cNvPicPr>
            <p:nvPr/>
          </p:nvPicPr>
          <p:blipFill>
            <a:blip r:embed="rId4" cstate="print">
              <a:extLst>
                <a:ext uri="{28A0092B-C50C-407E-A947-70E740481C1C}">
                  <a14:useLocalDpi xmlns:a14="http://schemas.microsoft.com/office/drawing/2010/main" val="0"/>
                </a:ext>
              </a:extLst>
            </a:blip>
            <a:srcRect l="25864" t="51762" r="6336" b="-2321"/>
            <a:stretch>
              <a:fillRect/>
            </a:stretch>
          </p:blipFill>
          <p:spPr>
            <a:xfrm>
              <a:off x="9175266" y="2630778"/>
              <a:ext cx="1062042" cy="773173"/>
            </a:xfrm>
            <a:prstGeom prst="rect">
              <a:avLst/>
            </a:prstGeom>
          </p:spPr>
        </p:pic>
        <p:sp>
          <p:nvSpPr>
            <p:cNvPr id="57" name="吹き出し: 四角形 56">
              <a:extLst>
                <a:ext uri="{FF2B5EF4-FFF2-40B4-BE49-F238E27FC236}">
                  <a16:creationId xmlns:a16="http://schemas.microsoft.com/office/drawing/2014/main" id="{67A54E63-874A-A70A-80C8-2F2A9C9C36B3}"/>
                </a:ext>
              </a:extLst>
            </p:cNvPr>
            <p:cNvSpPr/>
            <p:nvPr/>
          </p:nvSpPr>
          <p:spPr>
            <a:xfrm>
              <a:off x="9561649" y="2023293"/>
              <a:ext cx="1407180" cy="576856"/>
            </a:xfrm>
            <a:prstGeom prst="wedgeRectCallout">
              <a:avLst>
                <a:gd name="adj1" fmla="val -26210"/>
                <a:gd name="adj2" fmla="val 78055"/>
              </a:avLst>
            </a:prstGeom>
            <a:solidFill>
              <a:schemeClr val="bg1"/>
            </a:solidFill>
            <a:ln w="28575"/>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AB4747EC-9644-C7EA-58B3-171CC87B2523}"/>
                </a:ext>
              </a:extLst>
            </p:cNvPr>
            <p:cNvSpPr txBox="1"/>
            <p:nvPr/>
          </p:nvSpPr>
          <p:spPr>
            <a:xfrm>
              <a:off x="9062645" y="3401072"/>
              <a:ext cx="1841214" cy="307777"/>
            </a:xfrm>
            <a:prstGeom prst="rect">
              <a:avLst/>
            </a:prstGeom>
            <a:noFill/>
          </p:spPr>
          <p:txBody>
            <a:bodyPr wrap="square" rtlCol="0">
              <a:spAutoFit/>
            </a:bodyPr>
            <a:lstStyle/>
            <a:p>
              <a:r>
                <a:rPr lang="ja-JP" altLang="en-US" sz="1400" b="1" dirty="0"/>
                <a:t>価格提案</a:t>
              </a:r>
              <a:r>
                <a:rPr lang="en-US" altLang="ja-JP" sz="1400" b="1" dirty="0"/>
                <a:t>AI</a:t>
              </a:r>
            </a:p>
          </p:txBody>
        </p:sp>
        <p:sp>
          <p:nvSpPr>
            <p:cNvPr id="59" name="テキスト ボックス 58">
              <a:extLst>
                <a:ext uri="{FF2B5EF4-FFF2-40B4-BE49-F238E27FC236}">
                  <a16:creationId xmlns:a16="http://schemas.microsoft.com/office/drawing/2014/main" id="{161096C0-0A90-5D4C-3DD7-9446D1C6CD33}"/>
                </a:ext>
              </a:extLst>
            </p:cNvPr>
            <p:cNvSpPr txBox="1"/>
            <p:nvPr/>
          </p:nvSpPr>
          <p:spPr>
            <a:xfrm>
              <a:off x="9596627" y="2047785"/>
              <a:ext cx="1407180" cy="523220"/>
            </a:xfrm>
            <a:prstGeom prst="rect">
              <a:avLst/>
            </a:prstGeom>
            <a:no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400" b="1" dirty="0">
                  <a:latin typeface="+mn-ea"/>
                </a:rPr>
                <a:t>部屋価格は</a:t>
              </a:r>
              <a:endParaRPr lang="en-US" altLang="ja-JP" sz="1400" b="1">
                <a:latin typeface="+mn-ea"/>
              </a:endParaRPr>
            </a:p>
            <a:p>
              <a:r>
                <a:rPr lang="en-US" altLang="ja-JP" sz="1400" b="1">
                  <a:latin typeface="+mn-ea"/>
                </a:rPr>
                <a:t>16000</a:t>
              </a:r>
              <a:r>
                <a:rPr lang="ja-JP" altLang="en-US" sz="1400" b="1">
                  <a:latin typeface="+mn-ea"/>
                </a:rPr>
                <a:t>円</a:t>
              </a:r>
              <a:r>
                <a:rPr lang="ja-JP" altLang="en-US" sz="1400" b="1" dirty="0">
                  <a:latin typeface="+mn-ea"/>
                </a:rPr>
                <a:t>を提案</a:t>
              </a:r>
              <a:endParaRPr lang="en-US" altLang="ja-JP" sz="1400" b="1" dirty="0">
                <a:latin typeface="+mn-ea"/>
              </a:endParaRPr>
            </a:p>
          </p:txBody>
        </p:sp>
      </p:grpSp>
      <p:pic>
        <p:nvPicPr>
          <p:cNvPr id="64" name="図 63">
            <a:extLst>
              <a:ext uri="{FF2B5EF4-FFF2-40B4-BE49-F238E27FC236}">
                <a16:creationId xmlns:a16="http://schemas.microsoft.com/office/drawing/2014/main" id="{5859BE34-EDD5-0368-8FE3-99E832A83F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71443" y="2766748"/>
            <a:ext cx="479884" cy="520497"/>
          </a:xfrm>
          <a:prstGeom prst="rect">
            <a:avLst/>
          </a:prstGeom>
        </p:spPr>
      </p:pic>
      <p:grpSp>
        <p:nvGrpSpPr>
          <p:cNvPr id="54" name="グループ化 53">
            <a:extLst>
              <a:ext uri="{FF2B5EF4-FFF2-40B4-BE49-F238E27FC236}">
                <a16:creationId xmlns:a16="http://schemas.microsoft.com/office/drawing/2014/main" id="{8BD133CE-E95E-1267-483E-F3D0D6743CFE}"/>
              </a:ext>
            </a:extLst>
          </p:cNvPr>
          <p:cNvGrpSpPr/>
          <p:nvPr/>
        </p:nvGrpSpPr>
        <p:grpSpPr>
          <a:xfrm>
            <a:off x="9454539" y="5101935"/>
            <a:ext cx="2155612" cy="886522"/>
            <a:chOff x="3566159" y="5151120"/>
            <a:chExt cx="2155612" cy="978785"/>
          </a:xfrm>
          <a:noFill/>
        </p:grpSpPr>
        <p:sp>
          <p:nvSpPr>
            <p:cNvPr id="52" name="四角形: 角を丸くする 51">
              <a:extLst>
                <a:ext uri="{FF2B5EF4-FFF2-40B4-BE49-F238E27FC236}">
                  <a16:creationId xmlns:a16="http://schemas.microsoft.com/office/drawing/2014/main" id="{16475C94-301F-4928-B47C-A91446F3E740}"/>
                </a:ext>
              </a:extLst>
            </p:cNvPr>
            <p:cNvSpPr/>
            <p:nvPr/>
          </p:nvSpPr>
          <p:spPr>
            <a:xfrm>
              <a:off x="3566159" y="5151120"/>
              <a:ext cx="2155611" cy="978785"/>
            </a:xfrm>
            <a:prstGeom prst="wedgeRectCallout">
              <a:avLst>
                <a:gd name="adj1" fmla="val -27897"/>
                <a:gd name="adj2" fmla="val 62500"/>
              </a:avLst>
            </a:prstGeom>
            <a:grpFill/>
            <a:ln w="19050"/>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dirty="0"/>
            </a:p>
          </p:txBody>
        </p:sp>
        <p:sp>
          <p:nvSpPr>
            <p:cNvPr id="71" name="テキスト ボックス 70">
              <a:extLst>
                <a:ext uri="{FF2B5EF4-FFF2-40B4-BE49-F238E27FC236}">
                  <a16:creationId xmlns:a16="http://schemas.microsoft.com/office/drawing/2014/main" id="{B01CC1CD-E53A-F7C3-B894-721B3036FC56}"/>
                </a:ext>
              </a:extLst>
            </p:cNvPr>
            <p:cNvSpPr txBox="1"/>
            <p:nvPr/>
          </p:nvSpPr>
          <p:spPr>
            <a:xfrm>
              <a:off x="3729528" y="5207263"/>
              <a:ext cx="1992243" cy="917481"/>
            </a:xfrm>
            <a:prstGeom prst="wedgeRectCallout">
              <a:avLst/>
            </a:prstGeom>
            <a:grpFill/>
            <a:ln w="28575">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latin typeface="+mn-ea"/>
                </a:rPr>
                <a:t>顧客の評価と</a:t>
              </a:r>
              <a:endParaRPr lang="en-US" altLang="ja-JP" sz="1600" b="1" dirty="0">
                <a:latin typeface="+mn-ea"/>
              </a:endParaRPr>
            </a:p>
            <a:p>
              <a:r>
                <a:rPr lang="ja-JP" altLang="en-US" sz="1600" b="1" dirty="0">
                  <a:latin typeface="+mn-ea"/>
                </a:rPr>
                <a:t>需要を考慮した</a:t>
              </a:r>
              <a:endParaRPr lang="en-US" altLang="ja-JP" sz="1600" b="1" dirty="0">
                <a:latin typeface="+mn-ea"/>
              </a:endParaRPr>
            </a:p>
            <a:p>
              <a:r>
                <a:rPr lang="ja-JP" altLang="en-US" sz="1600" b="1" dirty="0">
                  <a:latin typeface="+mn-ea"/>
                </a:rPr>
                <a:t>価格設定が可能に！</a:t>
              </a:r>
              <a:endParaRPr lang="en-US" altLang="ja-JP" sz="1600" b="1" dirty="0">
                <a:latin typeface="+mn-ea"/>
              </a:endParaRPr>
            </a:p>
          </p:txBody>
        </p:sp>
      </p:grpSp>
      <p:grpSp>
        <p:nvGrpSpPr>
          <p:cNvPr id="6" name="グループ化 5">
            <a:extLst>
              <a:ext uri="{FF2B5EF4-FFF2-40B4-BE49-F238E27FC236}">
                <a16:creationId xmlns:a16="http://schemas.microsoft.com/office/drawing/2014/main" id="{736FAF31-A821-8432-44DA-44207BE42439}"/>
              </a:ext>
            </a:extLst>
          </p:cNvPr>
          <p:cNvGrpSpPr/>
          <p:nvPr/>
        </p:nvGrpSpPr>
        <p:grpSpPr>
          <a:xfrm>
            <a:off x="5713616" y="4982661"/>
            <a:ext cx="1367806" cy="1143619"/>
            <a:chOff x="9277860" y="2602440"/>
            <a:chExt cx="1212105" cy="1016679"/>
          </a:xfrm>
        </p:grpSpPr>
        <p:sp>
          <p:nvSpPr>
            <p:cNvPr id="48" name="テキスト ボックス 47">
              <a:extLst>
                <a:ext uri="{FF2B5EF4-FFF2-40B4-BE49-F238E27FC236}">
                  <a16:creationId xmlns:a16="http://schemas.microsoft.com/office/drawing/2014/main" id="{1ACCBD78-6993-43E1-DA5D-94762E14B986}"/>
                </a:ext>
              </a:extLst>
            </p:cNvPr>
            <p:cNvSpPr txBox="1"/>
            <p:nvPr/>
          </p:nvSpPr>
          <p:spPr>
            <a:xfrm>
              <a:off x="9277860" y="3126614"/>
              <a:ext cx="1212105" cy="492505"/>
            </a:xfrm>
            <a:prstGeom prst="rect">
              <a:avLst/>
            </a:prstGeom>
            <a:noFill/>
          </p:spPr>
          <p:txBody>
            <a:bodyPr wrap="square" rtlCol="0">
              <a:spAutoFit/>
            </a:bodyPr>
            <a:lstStyle/>
            <a:p>
              <a:r>
                <a:rPr lang="ja-JP" altLang="en-US" sz="1600" b="1" dirty="0">
                  <a:latin typeface="+mn-ea"/>
                </a:rPr>
                <a:t> </a:t>
              </a:r>
              <a:r>
                <a:rPr lang="ja-JP" altLang="en-US" sz="1400" b="1" dirty="0">
                  <a:latin typeface="+mn-ea"/>
                </a:rPr>
                <a:t>稼働率</a:t>
              </a:r>
              <a:br>
                <a:rPr lang="en-US" altLang="ja-JP" sz="1400" b="1" dirty="0">
                  <a:latin typeface="+mn-ea"/>
                </a:rPr>
              </a:br>
              <a:r>
                <a:rPr lang="ja-JP" altLang="en-US" sz="1400" b="1" dirty="0">
                  <a:latin typeface="+mn-ea"/>
                </a:rPr>
                <a:t>予測結果</a:t>
              </a:r>
              <a:endParaRPr lang="en-US" altLang="ja-JP" sz="1400" b="1" dirty="0">
                <a:latin typeface="+mn-ea"/>
              </a:endParaRPr>
            </a:p>
          </p:txBody>
        </p:sp>
        <p:pic>
          <p:nvPicPr>
            <p:cNvPr id="76" name="図 75">
              <a:extLst>
                <a:ext uri="{FF2B5EF4-FFF2-40B4-BE49-F238E27FC236}">
                  <a16:creationId xmlns:a16="http://schemas.microsoft.com/office/drawing/2014/main" id="{D9C0FD5E-6216-BCEC-9D6B-D3426EC6D634}"/>
                </a:ext>
              </a:extLst>
            </p:cNvPr>
            <p:cNvPicPr>
              <a:picLocks noChangeAspect="1"/>
            </p:cNvPicPr>
            <p:nvPr/>
          </p:nvPicPr>
          <p:blipFill>
            <a:blip r:embed="rId6" cstate="print">
              <a:extLst>
                <a:ext uri="{28A0092B-C50C-407E-A947-70E740481C1C}">
                  <a14:useLocalDpi xmlns:a14="http://schemas.microsoft.com/office/drawing/2010/main" val="0"/>
                </a:ext>
              </a:extLst>
            </a:blip>
            <a:srcRect l="-1755" t="65812" r="60843" b="-516"/>
            <a:stretch>
              <a:fillRect/>
            </a:stretch>
          </p:blipFill>
          <p:spPr>
            <a:xfrm>
              <a:off x="9305384" y="2602440"/>
              <a:ext cx="726022" cy="582314"/>
            </a:xfrm>
            <a:prstGeom prst="rect">
              <a:avLst/>
            </a:prstGeom>
          </p:spPr>
        </p:pic>
      </p:grpSp>
      <p:cxnSp>
        <p:nvCxnSpPr>
          <p:cNvPr id="105" name="コネクタ: カギ線 104">
            <a:extLst>
              <a:ext uri="{FF2B5EF4-FFF2-40B4-BE49-F238E27FC236}">
                <a16:creationId xmlns:a16="http://schemas.microsoft.com/office/drawing/2014/main" id="{BCFD69B9-5A10-2CB5-10BE-3C20E7CCDD85}"/>
              </a:ext>
            </a:extLst>
          </p:cNvPr>
          <p:cNvCxnSpPr>
            <a:cxnSpLocks/>
            <a:stCxn id="13" idx="3"/>
            <a:endCxn id="56" idx="1"/>
          </p:cNvCxnSpPr>
          <p:nvPr/>
        </p:nvCxnSpPr>
        <p:spPr>
          <a:xfrm>
            <a:off x="7641978" y="2658701"/>
            <a:ext cx="2437246" cy="1097032"/>
          </a:xfrm>
          <a:prstGeom prst="bentConnector3">
            <a:avLst>
              <a:gd name="adj1" fmla="val 12333"/>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sp>
        <p:nvSpPr>
          <p:cNvPr id="136" name="テキスト ボックス 135">
            <a:extLst>
              <a:ext uri="{FF2B5EF4-FFF2-40B4-BE49-F238E27FC236}">
                <a16:creationId xmlns:a16="http://schemas.microsoft.com/office/drawing/2014/main" id="{7880238A-2E88-6708-08C6-D59FF099D1D7}"/>
              </a:ext>
            </a:extLst>
          </p:cNvPr>
          <p:cNvSpPr txBox="1"/>
          <p:nvPr/>
        </p:nvSpPr>
        <p:spPr>
          <a:xfrm>
            <a:off x="8542024" y="4410451"/>
            <a:ext cx="1350122" cy="307777"/>
          </a:xfrm>
          <a:prstGeom prst="rect">
            <a:avLst/>
          </a:prstGeom>
          <a:noFill/>
        </p:spPr>
        <p:txBody>
          <a:bodyPr wrap="square" rtlCol="0">
            <a:spAutoFit/>
          </a:bodyPr>
          <a:lstStyle/>
          <a:p>
            <a:r>
              <a:rPr lang="ja-JP" altLang="en-US" sz="1400" b="1" dirty="0">
                <a:solidFill>
                  <a:srgbClr val="882312"/>
                </a:solidFill>
              </a:rPr>
              <a:t>価格提案モデル</a:t>
            </a:r>
          </a:p>
        </p:txBody>
      </p:sp>
      <p:pic>
        <p:nvPicPr>
          <p:cNvPr id="137" name="図 136">
            <a:extLst>
              <a:ext uri="{FF2B5EF4-FFF2-40B4-BE49-F238E27FC236}">
                <a16:creationId xmlns:a16="http://schemas.microsoft.com/office/drawing/2014/main" id="{D074184F-44ED-D7E5-EDB5-210A98B6D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86541" y="3944954"/>
            <a:ext cx="413511" cy="467829"/>
          </a:xfrm>
          <a:prstGeom prst="rect">
            <a:avLst/>
          </a:prstGeom>
        </p:spPr>
      </p:pic>
      <p:sp>
        <p:nvSpPr>
          <p:cNvPr id="150" name="テキスト ボックス 149">
            <a:extLst>
              <a:ext uri="{FF2B5EF4-FFF2-40B4-BE49-F238E27FC236}">
                <a16:creationId xmlns:a16="http://schemas.microsoft.com/office/drawing/2014/main" id="{3DADBE0C-D87F-4A71-2CA0-865789431B88}"/>
              </a:ext>
            </a:extLst>
          </p:cNvPr>
          <p:cNvSpPr txBox="1"/>
          <p:nvPr/>
        </p:nvSpPr>
        <p:spPr>
          <a:xfrm>
            <a:off x="2508612" y="1790437"/>
            <a:ext cx="734400"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STEP1</a:t>
            </a:r>
            <a:endParaRPr kumimoji="1" lang="ja-JP" altLang="en-US" sz="1600" b="1" dirty="0">
              <a:solidFill>
                <a:schemeClr val="bg1"/>
              </a:solidFill>
            </a:endParaRPr>
          </a:p>
        </p:txBody>
      </p:sp>
      <p:sp>
        <p:nvSpPr>
          <p:cNvPr id="151" name="テキスト ボックス 150">
            <a:extLst>
              <a:ext uri="{FF2B5EF4-FFF2-40B4-BE49-F238E27FC236}">
                <a16:creationId xmlns:a16="http://schemas.microsoft.com/office/drawing/2014/main" id="{69941855-1326-EF17-4DF3-D67716B4880D}"/>
              </a:ext>
            </a:extLst>
          </p:cNvPr>
          <p:cNvSpPr txBox="1"/>
          <p:nvPr/>
        </p:nvSpPr>
        <p:spPr>
          <a:xfrm>
            <a:off x="3835339" y="3905056"/>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STEP2</a:t>
            </a:r>
            <a:endParaRPr kumimoji="1" lang="ja-JP" altLang="en-US" sz="1600" b="1" dirty="0">
              <a:solidFill>
                <a:schemeClr val="bg1"/>
              </a:solidFill>
            </a:endParaRPr>
          </a:p>
        </p:txBody>
      </p:sp>
      <p:grpSp>
        <p:nvGrpSpPr>
          <p:cNvPr id="35" name="グループ化 34">
            <a:extLst>
              <a:ext uri="{FF2B5EF4-FFF2-40B4-BE49-F238E27FC236}">
                <a16:creationId xmlns:a16="http://schemas.microsoft.com/office/drawing/2014/main" id="{44FCF445-B77B-B578-A2FB-32522AA8A413}"/>
              </a:ext>
            </a:extLst>
          </p:cNvPr>
          <p:cNvGrpSpPr/>
          <p:nvPr/>
        </p:nvGrpSpPr>
        <p:grpSpPr>
          <a:xfrm>
            <a:off x="8191170" y="2965014"/>
            <a:ext cx="1771701" cy="626309"/>
            <a:chOff x="7621355" y="2997247"/>
            <a:chExt cx="1771701" cy="626309"/>
          </a:xfrm>
        </p:grpSpPr>
        <p:sp>
          <p:nvSpPr>
            <p:cNvPr id="62" name="テキスト ボックス 61">
              <a:extLst>
                <a:ext uri="{FF2B5EF4-FFF2-40B4-BE49-F238E27FC236}">
                  <a16:creationId xmlns:a16="http://schemas.microsoft.com/office/drawing/2014/main" id="{28AEB102-499D-56F6-4357-AE0A0D82FF42}"/>
                </a:ext>
              </a:extLst>
            </p:cNvPr>
            <p:cNvSpPr txBox="1"/>
            <p:nvPr/>
          </p:nvSpPr>
          <p:spPr>
            <a:xfrm>
              <a:off x="7635060" y="3285002"/>
              <a:ext cx="1757996" cy="338554"/>
            </a:xfrm>
            <a:prstGeom prst="rect">
              <a:avLst/>
            </a:prstGeom>
            <a:ln w="19050">
              <a:prstDash val="lgDash"/>
            </a:ln>
          </p:spPr>
          <p:style>
            <a:lnRef idx="2">
              <a:schemeClr val="dk1"/>
            </a:lnRef>
            <a:fillRef idx="1">
              <a:schemeClr val="lt1"/>
            </a:fillRef>
            <a:effectRef idx="0">
              <a:schemeClr val="dk1"/>
            </a:effectRef>
            <a:fontRef idx="minor">
              <a:schemeClr val="dk1"/>
            </a:fontRef>
          </p:style>
          <p:txBody>
            <a:bodyPr wrap="square" rtlCol="0">
              <a:spAutoFit/>
            </a:bodyPr>
            <a:lstStyle/>
            <a:p>
              <a:r>
                <a:rPr lang="ja-JP" altLang="en-US" sz="1600" b="1" dirty="0"/>
                <a:t>適切な価格を提案</a:t>
              </a:r>
              <a:endParaRPr kumimoji="1" lang="en-US" altLang="ja-JP" sz="1600" b="1" dirty="0"/>
            </a:p>
          </p:txBody>
        </p:sp>
        <p:sp>
          <p:nvSpPr>
            <p:cNvPr id="152" name="テキスト ボックス 151">
              <a:extLst>
                <a:ext uri="{FF2B5EF4-FFF2-40B4-BE49-F238E27FC236}">
                  <a16:creationId xmlns:a16="http://schemas.microsoft.com/office/drawing/2014/main" id="{93ECE577-5F53-EFC5-CB61-C9814A096FB0}"/>
                </a:ext>
              </a:extLst>
            </p:cNvPr>
            <p:cNvSpPr txBox="1"/>
            <p:nvPr/>
          </p:nvSpPr>
          <p:spPr>
            <a:xfrm>
              <a:off x="7621355" y="2997247"/>
              <a:ext cx="753072" cy="302400"/>
            </a:xfrm>
            <a:prstGeom prst="rect">
              <a:avLst/>
            </a:prstGeom>
            <a:solidFill>
              <a:srgbClr val="882312"/>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en-US" altLang="ja-JP" sz="1600" b="1" dirty="0">
                  <a:solidFill>
                    <a:schemeClr val="bg1"/>
                  </a:solidFill>
                </a:rPr>
                <a:t>STEP3</a:t>
              </a:r>
              <a:endParaRPr kumimoji="1" lang="ja-JP" altLang="en-US" sz="1600" b="1" dirty="0">
                <a:solidFill>
                  <a:schemeClr val="bg1"/>
                </a:solidFill>
              </a:endParaRPr>
            </a:p>
          </p:txBody>
        </p:sp>
      </p:grpSp>
      <p:grpSp>
        <p:nvGrpSpPr>
          <p:cNvPr id="81" name="グループ化 80">
            <a:extLst>
              <a:ext uri="{FF2B5EF4-FFF2-40B4-BE49-F238E27FC236}">
                <a16:creationId xmlns:a16="http://schemas.microsoft.com/office/drawing/2014/main" id="{93934ABA-13CF-3100-63C9-EFC9160C99B2}"/>
              </a:ext>
            </a:extLst>
          </p:cNvPr>
          <p:cNvGrpSpPr/>
          <p:nvPr/>
        </p:nvGrpSpPr>
        <p:grpSpPr>
          <a:xfrm>
            <a:off x="4484597" y="1598819"/>
            <a:ext cx="3503000" cy="1792524"/>
            <a:chOff x="4620787" y="1598819"/>
            <a:chExt cx="3503000" cy="1792524"/>
          </a:xfrm>
        </p:grpSpPr>
        <p:sp>
          <p:nvSpPr>
            <p:cNvPr id="29" name="テキスト ボックス 28">
              <a:extLst>
                <a:ext uri="{FF2B5EF4-FFF2-40B4-BE49-F238E27FC236}">
                  <a16:creationId xmlns:a16="http://schemas.microsoft.com/office/drawing/2014/main" id="{CF21DB26-831A-20B9-7DD0-382ABF9E49BA}"/>
                </a:ext>
              </a:extLst>
            </p:cNvPr>
            <p:cNvSpPr txBox="1"/>
            <p:nvPr/>
          </p:nvSpPr>
          <p:spPr>
            <a:xfrm>
              <a:off x="6664880" y="2880516"/>
              <a:ext cx="1458907" cy="307777"/>
            </a:xfrm>
            <a:prstGeom prst="rect">
              <a:avLst/>
            </a:prstGeom>
            <a:noFill/>
          </p:spPr>
          <p:txBody>
            <a:bodyPr wrap="square" rtlCol="0">
              <a:spAutoFit/>
            </a:bodyPr>
            <a:lstStyle/>
            <a:p>
              <a:r>
                <a:rPr lang="ja-JP" altLang="en-US" sz="1400" b="1" dirty="0"/>
                <a:t>経営データ</a:t>
              </a:r>
              <a:endParaRPr lang="en-US" altLang="ja-JP" sz="1400" b="1" dirty="0"/>
            </a:p>
          </p:txBody>
        </p:sp>
        <p:pic>
          <p:nvPicPr>
            <p:cNvPr id="74" name="図 73">
              <a:extLst>
                <a:ext uri="{FF2B5EF4-FFF2-40B4-BE49-F238E27FC236}">
                  <a16:creationId xmlns:a16="http://schemas.microsoft.com/office/drawing/2014/main" id="{D28A3332-868C-2F6A-0502-A859804100C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844646" y="2267831"/>
              <a:ext cx="583032" cy="599106"/>
            </a:xfrm>
            <a:prstGeom prst="rect">
              <a:avLst/>
            </a:prstGeom>
          </p:spPr>
        </p:pic>
        <p:sp>
          <p:nvSpPr>
            <p:cNvPr id="11" name="テキスト ボックス 10">
              <a:extLst>
                <a:ext uri="{FF2B5EF4-FFF2-40B4-BE49-F238E27FC236}">
                  <a16:creationId xmlns:a16="http://schemas.microsoft.com/office/drawing/2014/main" id="{4412AAE8-95CC-3766-4DD8-44DE4E22C5FA}"/>
                </a:ext>
              </a:extLst>
            </p:cNvPr>
            <p:cNvSpPr txBox="1"/>
            <p:nvPr/>
          </p:nvSpPr>
          <p:spPr>
            <a:xfrm>
              <a:off x="4751306" y="2872223"/>
              <a:ext cx="1674678" cy="307777"/>
            </a:xfrm>
            <a:prstGeom prst="rect">
              <a:avLst/>
            </a:prstGeom>
            <a:noFill/>
          </p:spPr>
          <p:txBody>
            <a:bodyPr wrap="square" rtlCol="0">
              <a:spAutoFit/>
            </a:bodyPr>
            <a:lstStyle/>
            <a:p>
              <a:r>
                <a:rPr lang="ja-JP" altLang="en-US" sz="1400" b="1" dirty="0"/>
                <a:t>    口コミ感情データ</a:t>
              </a:r>
              <a:endParaRPr lang="en-US" altLang="ja-JP" sz="1400" b="1" dirty="0"/>
            </a:p>
          </p:txBody>
        </p:sp>
        <p:sp>
          <p:nvSpPr>
            <p:cNvPr id="13" name="四角形: 角を丸くする 12">
              <a:extLst>
                <a:ext uri="{FF2B5EF4-FFF2-40B4-BE49-F238E27FC236}">
                  <a16:creationId xmlns:a16="http://schemas.microsoft.com/office/drawing/2014/main" id="{3878D335-BF78-F8FE-DCCD-B63E94E78128}"/>
                </a:ext>
              </a:extLst>
            </p:cNvPr>
            <p:cNvSpPr/>
            <p:nvPr/>
          </p:nvSpPr>
          <p:spPr>
            <a:xfrm>
              <a:off x="4620787" y="1926058"/>
              <a:ext cx="3157381" cy="1465285"/>
            </a:xfrm>
            <a:prstGeom prst="roundRect">
              <a:avLst/>
            </a:prstGeom>
            <a:noFill/>
            <a:ln w="19050" cap="flat" cmpd="sng" algn="ctr">
              <a:solidFill>
                <a:schemeClr val="accent4">
                  <a:lumMod val="75000"/>
                </a:schemeClr>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2B016788-0472-58C8-95F4-A7FC5BC26CCA}"/>
                </a:ext>
              </a:extLst>
            </p:cNvPr>
            <p:cNvSpPr txBox="1"/>
            <p:nvPr/>
          </p:nvSpPr>
          <p:spPr>
            <a:xfrm>
              <a:off x="5524020" y="1598819"/>
              <a:ext cx="1303508" cy="338554"/>
            </a:xfrm>
            <a:prstGeom prst="rect">
              <a:avLst/>
            </a:prstGeom>
            <a:solidFill>
              <a:schemeClr val="accent4">
                <a:lumMod val="75000"/>
              </a:schemeClr>
            </a:solid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kumimoji="1" lang="ja-JP" altLang="en-US" sz="1600" b="1" dirty="0">
                  <a:solidFill>
                    <a:schemeClr val="bg1"/>
                  </a:solidFill>
                </a:rPr>
                <a:t>宿泊施設</a:t>
              </a:r>
              <a:r>
                <a:rPr kumimoji="1" lang="en-US" altLang="ja-JP" sz="1600" b="1" dirty="0">
                  <a:solidFill>
                    <a:schemeClr val="bg1"/>
                  </a:solidFill>
                </a:rPr>
                <a:t>DB</a:t>
              </a:r>
              <a:endParaRPr kumimoji="1" lang="ja-JP" altLang="en-US" sz="1600" b="1" dirty="0">
                <a:solidFill>
                  <a:schemeClr val="bg1"/>
                </a:solidFill>
              </a:endParaRPr>
            </a:p>
          </p:txBody>
        </p:sp>
      </p:grpSp>
      <p:sp>
        <p:nvSpPr>
          <p:cNvPr id="26" name="矢印: 右 25">
            <a:extLst>
              <a:ext uri="{FF2B5EF4-FFF2-40B4-BE49-F238E27FC236}">
                <a16:creationId xmlns:a16="http://schemas.microsoft.com/office/drawing/2014/main" id="{AE57E9BE-137E-16FB-48DA-37AD885BF319}"/>
              </a:ext>
            </a:extLst>
          </p:cNvPr>
          <p:cNvSpPr/>
          <p:nvPr/>
        </p:nvSpPr>
        <p:spPr>
          <a:xfrm rot="5400000">
            <a:off x="5421917" y="4076563"/>
            <a:ext cx="1394774" cy="338554"/>
          </a:xfrm>
          <a:prstGeom prst="rightArrow">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6CD70A1B-E54F-BDB3-E8E9-FFBE26766090}"/>
              </a:ext>
            </a:extLst>
          </p:cNvPr>
          <p:cNvGrpSpPr/>
          <p:nvPr/>
        </p:nvGrpSpPr>
        <p:grpSpPr>
          <a:xfrm>
            <a:off x="6319727" y="3629943"/>
            <a:ext cx="1523390" cy="1018993"/>
            <a:chOff x="6355405" y="3486074"/>
            <a:chExt cx="1523390" cy="1018993"/>
          </a:xfrm>
        </p:grpSpPr>
        <p:sp>
          <p:nvSpPr>
            <p:cNvPr id="38" name="テキスト ボックス 37">
              <a:extLst>
                <a:ext uri="{FF2B5EF4-FFF2-40B4-BE49-F238E27FC236}">
                  <a16:creationId xmlns:a16="http://schemas.microsoft.com/office/drawing/2014/main" id="{F4AA34A4-9080-C94B-E004-5BEA893F0097}"/>
                </a:ext>
              </a:extLst>
            </p:cNvPr>
            <p:cNvSpPr txBox="1"/>
            <p:nvPr/>
          </p:nvSpPr>
          <p:spPr>
            <a:xfrm>
              <a:off x="6355405" y="3981847"/>
              <a:ext cx="1523390" cy="523220"/>
            </a:xfrm>
            <a:prstGeom prst="rect">
              <a:avLst/>
            </a:prstGeom>
            <a:noFill/>
          </p:spPr>
          <p:txBody>
            <a:bodyPr wrap="square" rtlCol="0">
              <a:spAutoFit/>
            </a:bodyPr>
            <a:lstStyle/>
            <a:p>
              <a:r>
                <a:rPr lang="ja-JP" altLang="en-US" sz="1400" b="1" dirty="0">
                  <a:solidFill>
                    <a:srgbClr val="002060"/>
                  </a:solidFill>
                </a:rPr>
                <a:t>需要予測モデル</a:t>
              </a:r>
              <a:endParaRPr lang="en-US" altLang="ja-JP" sz="1400" b="1" dirty="0">
                <a:solidFill>
                  <a:srgbClr val="002060"/>
                </a:solidFill>
              </a:endParaRPr>
            </a:p>
            <a:p>
              <a:r>
                <a:rPr kumimoji="1" lang="en-US" altLang="ja-JP" sz="1400" dirty="0">
                  <a:solidFill>
                    <a:srgbClr val="002060"/>
                  </a:solidFill>
                </a:rPr>
                <a:t>    </a:t>
              </a:r>
              <a:r>
                <a:rPr kumimoji="1" lang="en-US" altLang="ja-JP" sz="1400" dirty="0" err="1">
                  <a:solidFill>
                    <a:srgbClr val="002060"/>
                  </a:solidFill>
                </a:rPr>
                <a:t>Catboost</a:t>
              </a:r>
              <a:endParaRPr kumimoji="1" lang="ja-JP" altLang="en-US" sz="1400" dirty="0">
                <a:solidFill>
                  <a:srgbClr val="002060"/>
                </a:solidFill>
              </a:endParaRPr>
            </a:p>
          </p:txBody>
        </p:sp>
        <p:pic>
          <p:nvPicPr>
            <p:cNvPr id="77" name="グラフィックス 76" descr="統計 枠線">
              <a:extLst>
                <a:ext uri="{FF2B5EF4-FFF2-40B4-BE49-F238E27FC236}">
                  <a16:creationId xmlns:a16="http://schemas.microsoft.com/office/drawing/2014/main" id="{22B0D242-11C1-AC1C-6FD9-1884B733D29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618427" y="3486074"/>
              <a:ext cx="605454" cy="524735"/>
            </a:xfrm>
            <a:prstGeom prst="rect">
              <a:avLst/>
            </a:prstGeom>
          </p:spPr>
        </p:pic>
      </p:grpSp>
      <p:cxnSp>
        <p:nvCxnSpPr>
          <p:cNvPr id="30" name="コネクタ: カギ線 29">
            <a:extLst>
              <a:ext uri="{FF2B5EF4-FFF2-40B4-BE49-F238E27FC236}">
                <a16:creationId xmlns:a16="http://schemas.microsoft.com/office/drawing/2014/main" id="{1F6AE1E7-A17D-69D0-A836-37D475B3F1B9}"/>
              </a:ext>
            </a:extLst>
          </p:cNvPr>
          <p:cNvCxnSpPr>
            <a:cxnSpLocks/>
            <a:stCxn id="76" idx="3"/>
            <a:endCxn id="56" idx="1"/>
          </p:cNvCxnSpPr>
          <p:nvPr/>
        </p:nvCxnSpPr>
        <p:spPr>
          <a:xfrm flipV="1">
            <a:off x="6563959" y="3755733"/>
            <a:ext cx="3515265" cy="1554438"/>
          </a:xfrm>
          <a:prstGeom prst="bentConnector3">
            <a:avLst>
              <a:gd name="adj1" fmla="val 39208"/>
            </a:avLst>
          </a:prstGeom>
          <a:ln w="28575" cap="flat" cmpd="sng" algn="ctr">
            <a:solidFill>
              <a:srgbClr val="882312"/>
            </a:solidFill>
            <a:prstDash val="solid"/>
            <a:round/>
            <a:headEnd type="oval" w="med" len="med"/>
            <a:tailEnd type="triangle" w="med" len="med"/>
          </a:ln>
        </p:spPr>
        <p:style>
          <a:lnRef idx="0">
            <a:scrgbClr r="0" g="0" b="0"/>
          </a:lnRef>
          <a:fillRef idx="0">
            <a:scrgbClr r="0" g="0" b="0"/>
          </a:fillRef>
          <a:effectRef idx="0">
            <a:scrgbClr r="0" g="0" b="0"/>
          </a:effectRef>
          <a:fontRef idx="minor">
            <a:schemeClr val="tx1"/>
          </a:fontRef>
        </p:style>
      </p:cxnSp>
      <p:grpSp>
        <p:nvGrpSpPr>
          <p:cNvPr id="63" name="グループ化 62">
            <a:extLst>
              <a:ext uri="{FF2B5EF4-FFF2-40B4-BE49-F238E27FC236}">
                <a16:creationId xmlns:a16="http://schemas.microsoft.com/office/drawing/2014/main" id="{822447DD-8B2F-3829-91E2-08F9C357E2B6}"/>
              </a:ext>
            </a:extLst>
          </p:cNvPr>
          <p:cNvGrpSpPr/>
          <p:nvPr/>
        </p:nvGrpSpPr>
        <p:grpSpPr>
          <a:xfrm>
            <a:off x="8306319" y="5251926"/>
            <a:ext cx="1296396" cy="1535621"/>
            <a:chOff x="8213364" y="5125466"/>
            <a:chExt cx="1296396" cy="1535621"/>
          </a:xfrm>
        </p:grpSpPr>
        <p:sp>
          <p:nvSpPr>
            <p:cNvPr id="72" name="テキスト ボックス 71">
              <a:extLst>
                <a:ext uri="{FF2B5EF4-FFF2-40B4-BE49-F238E27FC236}">
                  <a16:creationId xmlns:a16="http://schemas.microsoft.com/office/drawing/2014/main" id="{4388C681-06F0-A579-4242-69EACC469909}"/>
                </a:ext>
              </a:extLst>
            </p:cNvPr>
            <p:cNvSpPr txBox="1"/>
            <p:nvPr/>
          </p:nvSpPr>
          <p:spPr>
            <a:xfrm>
              <a:off x="8213364" y="6322533"/>
              <a:ext cx="1296396" cy="338554"/>
            </a:xfrm>
            <a:prstGeom prst="rect">
              <a:avLst/>
            </a:prstGeom>
            <a:noFill/>
          </p:spPr>
          <p:txBody>
            <a:bodyPr wrap="square" rtlCol="0">
              <a:spAutoFit/>
            </a:bodyPr>
            <a:lstStyle/>
            <a:p>
              <a:r>
                <a:rPr lang="ja-JP" altLang="en-US" sz="1600" b="1" dirty="0"/>
                <a:t>ホテル運営者</a:t>
              </a:r>
              <a:endParaRPr lang="en-US" altLang="ja-JP" sz="1600" b="1" dirty="0"/>
            </a:p>
          </p:txBody>
        </p:sp>
        <p:pic>
          <p:nvPicPr>
            <p:cNvPr id="50" name="図 49" descr="アイコン&#10;&#10;AI 生成コンテンツは誤りを含む可能性があります。">
              <a:extLst>
                <a:ext uri="{FF2B5EF4-FFF2-40B4-BE49-F238E27FC236}">
                  <a16:creationId xmlns:a16="http://schemas.microsoft.com/office/drawing/2014/main" id="{007F5FCA-6FD1-10EC-2A0E-79A15B33765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10755" y="5125466"/>
              <a:ext cx="819283" cy="1200346"/>
            </a:xfrm>
            <a:prstGeom prst="rect">
              <a:avLst/>
            </a:prstGeom>
          </p:spPr>
        </p:pic>
      </p:grpSp>
      <p:sp>
        <p:nvSpPr>
          <p:cNvPr id="9" name="テキスト プレースホルダー 2">
            <a:extLst>
              <a:ext uri="{FF2B5EF4-FFF2-40B4-BE49-F238E27FC236}">
                <a16:creationId xmlns:a16="http://schemas.microsoft.com/office/drawing/2014/main" id="{1C69F50C-AE46-CCC7-2910-B20D1077BE76}"/>
              </a:ext>
            </a:extLst>
          </p:cNvPr>
          <p:cNvSpPr>
            <a:spLocks noGrp="1"/>
          </p:cNvSpPr>
          <p:nvPr>
            <p:ph type="body" sz="quarter" idx="11"/>
          </p:nvPr>
        </p:nvSpPr>
        <p:spPr>
          <a:xfrm>
            <a:off x="289826" y="85437"/>
            <a:ext cx="12271604" cy="550531"/>
          </a:xfrm>
        </p:spPr>
        <p:txBody>
          <a:bodyPr>
            <a:normAutofit/>
          </a:bodyPr>
          <a:lstStyle/>
          <a:p>
            <a:r>
              <a:rPr lang="ja-JP" altLang="en-US" sz="2300" b="1" dirty="0"/>
              <a:t>「価格設定支援」をテーマに長野市内のホテルと共同研究に取り組んでいる</a:t>
            </a:r>
            <a:endParaRPr lang="en-US" altLang="ja-JP" sz="2300" b="1" dirty="0"/>
          </a:p>
        </p:txBody>
      </p:sp>
    </p:spTree>
    <p:extLst>
      <p:ext uri="{BB962C8B-B14F-4D97-AF65-F5344CB8AC3E}">
        <p14:creationId xmlns:p14="http://schemas.microsoft.com/office/powerpoint/2010/main" val="1111083016"/>
      </p:ext>
    </p:extLst>
  </p:cSld>
  <p:clrMapOvr>
    <a:masterClrMapping/>
  </p:clrMapOvr>
</p:sld>
</file>

<file path=ppt/theme/theme1.xml><?xml version="1.0" encoding="utf-8"?>
<a:theme xmlns:a="http://schemas.openxmlformats.org/drawingml/2006/main" name="研究発表スライドマスタ">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yu">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研究発表用テンプレート2022版.potx" id="{6306135A-614C-4776-A803-91994B10B76C}" vid="{3B8C9F31-E626-4709-A765-E9EDF381CB24}"/>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33ED81-A378-482E-B710-0D21A32023B2}">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42311</TotalTime>
  <Words>675</Words>
  <Application>Microsoft Office PowerPoint</Application>
  <PresentationFormat>ワイド画面</PresentationFormat>
  <Paragraphs>66</Paragraphs>
  <Slides>2</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vt:i4>
      </vt:variant>
    </vt:vector>
  </HeadingPairs>
  <TitlesOfParts>
    <vt:vector size="9" baseType="lpstr">
      <vt:lpstr>MS PGothic</vt:lpstr>
      <vt:lpstr>Yu Gothic UI</vt:lpstr>
      <vt:lpstr>游ゴシック</vt:lpstr>
      <vt:lpstr>游ゴシック Medium</vt:lpstr>
      <vt:lpstr>Arial</vt:lpstr>
      <vt:lpstr>Wingdings</vt:lpstr>
      <vt:lpstr>研究発表スライドマスタ</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石渡　将伍</dc:creator>
  <cp:lastModifiedBy>Shougo Ishiwata</cp:lastModifiedBy>
  <cp:revision>116</cp:revision>
  <dcterms:created xsi:type="dcterms:W3CDTF">2025-09-07T02:48:27Z</dcterms:created>
  <dcterms:modified xsi:type="dcterms:W3CDTF">2026-04-04T00:29:22Z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